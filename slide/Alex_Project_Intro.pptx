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1"/>
  </p:sldMasterIdLst>
  <p:notesMasterIdLst>
    <p:notesMasterId r:id="rId6"/>
  </p:notesMasterIdLst>
  <p:sldIdLst>
    <p:sldId id="256" r:id="rId2"/>
    <p:sldId id="257" r:id="rId3"/>
    <p:sldId id="258" r:id="rId4"/>
    <p:sldId id="259" r:id="rId5"/>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宋体" charset="-122"/>
        <a:cs typeface="+mn-cs"/>
      </a:defRPr>
    </a:lvl1pPr>
    <a:lvl2pPr marL="457200" algn="l" defTabSz="457200" rtl="0" fontAlgn="base">
      <a:spcBef>
        <a:spcPct val="0"/>
      </a:spcBef>
      <a:spcAft>
        <a:spcPct val="0"/>
      </a:spcAft>
      <a:defRPr kern="1200">
        <a:solidFill>
          <a:schemeClr val="tx1"/>
        </a:solidFill>
        <a:latin typeface="Arial" charset="0"/>
        <a:ea typeface="宋体" charset="-122"/>
        <a:cs typeface="+mn-cs"/>
      </a:defRPr>
    </a:lvl2pPr>
    <a:lvl3pPr marL="914400" algn="l" defTabSz="457200" rtl="0" fontAlgn="base">
      <a:spcBef>
        <a:spcPct val="0"/>
      </a:spcBef>
      <a:spcAft>
        <a:spcPct val="0"/>
      </a:spcAft>
      <a:defRPr kern="1200">
        <a:solidFill>
          <a:schemeClr val="tx1"/>
        </a:solidFill>
        <a:latin typeface="Arial" charset="0"/>
        <a:ea typeface="宋体" charset="-122"/>
        <a:cs typeface="+mn-cs"/>
      </a:defRPr>
    </a:lvl3pPr>
    <a:lvl4pPr marL="1371600" algn="l" defTabSz="457200" rtl="0" fontAlgn="base">
      <a:spcBef>
        <a:spcPct val="0"/>
      </a:spcBef>
      <a:spcAft>
        <a:spcPct val="0"/>
      </a:spcAft>
      <a:defRPr kern="1200">
        <a:solidFill>
          <a:schemeClr val="tx1"/>
        </a:solidFill>
        <a:latin typeface="Arial" charset="0"/>
        <a:ea typeface="宋体" charset="-122"/>
        <a:cs typeface="+mn-cs"/>
      </a:defRPr>
    </a:lvl4pPr>
    <a:lvl5pPr marL="1828800" algn="l" defTabSz="457200"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111"/>
    <a:srgbClr val="110F0E"/>
    <a:srgbClr val="0F0F0F"/>
    <a:srgbClr val="D92A40"/>
    <a:srgbClr val="49161A"/>
    <a:srgbClr val="D928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14C0CE-1768-F441-A0ED-D61D6CFA48AB}" v="2" dt="2025-11-27T16:26:27.6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602" autoAdjust="0"/>
    <p:restoredTop sz="89247" autoAdjust="0"/>
  </p:normalViewPr>
  <p:slideViewPr>
    <p:cSldViewPr snapToGrid="0" snapToObjects="1">
      <p:cViewPr>
        <p:scale>
          <a:sx n="150" d="100"/>
          <a:sy n="150" d="100"/>
        </p:scale>
        <p:origin x="264" y="168"/>
      </p:cViewPr>
      <p:guideLst>
        <p:guide orient="horz" pos="1620"/>
        <p:guide pos="2880"/>
      </p:guideLst>
    </p:cSldViewPr>
  </p:slideViewPr>
  <p:notesTextViewPr>
    <p:cViewPr>
      <p:scale>
        <a:sx n="100" d="100"/>
        <a:sy n="100" d="100"/>
      </p:scale>
      <p:origin x="0" y="-512"/>
    </p:cViewPr>
  </p:notesTextViewPr>
  <p:sorterViewPr>
    <p:cViewPr>
      <p:scale>
        <a:sx n="149" d="100"/>
        <a:sy n="149"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ngrui Yang" userId="d312c08eebbe2f44" providerId="LiveId" clId="{2EA71D12-294D-5DE0-B6D8-57CFD0404595}"/>
    <pc:docChg chg="undo custSel modSld">
      <pc:chgData name="Yingrui Yang" userId="d312c08eebbe2f44" providerId="LiveId" clId="{2EA71D12-294D-5DE0-B6D8-57CFD0404595}" dt="2025-11-27T16:26:34.180" v="125" actId="20577"/>
      <pc:docMkLst>
        <pc:docMk/>
      </pc:docMkLst>
      <pc:sldChg chg="addSp modSp mod">
        <pc:chgData name="Yingrui Yang" userId="d312c08eebbe2f44" providerId="LiveId" clId="{2EA71D12-294D-5DE0-B6D8-57CFD0404595}" dt="2025-11-27T16:02:25.171" v="120" actId="20577"/>
        <pc:sldMkLst>
          <pc:docMk/>
          <pc:sldMk cId="0" sldId="256"/>
        </pc:sldMkLst>
        <pc:spChg chg="add mod">
          <ac:chgData name="Yingrui Yang" userId="d312c08eebbe2f44" providerId="LiveId" clId="{2EA71D12-294D-5DE0-B6D8-57CFD0404595}" dt="2025-11-27T16:02:25.171" v="120" actId="20577"/>
          <ac:spMkLst>
            <pc:docMk/>
            <pc:sldMk cId="0" sldId="256"/>
            <ac:spMk id="2" creationId="{04FCC63C-973D-8350-A543-3084BE6089A9}"/>
          </ac:spMkLst>
        </pc:spChg>
        <pc:spChg chg="mod">
          <ac:chgData name="Yingrui Yang" userId="d312c08eebbe2f44" providerId="LiveId" clId="{2EA71D12-294D-5DE0-B6D8-57CFD0404595}" dt="2025-11-27T15:44:05.714" v="0" actId="1076"/>
          <ac:spMkLst>
            <pc:docMk/>
            <pc:sldMk cId="0" sldId="256"/>
            <ac:spMk id="16387" creationId="{00000000-0000-0000-0000-000000000000}"/>
          </ac:spMkLst>
        </pc:spChg>
      </pc:sldChg>
      <pc:sldChg chg="modNotesTx">
        <pc:chgData name="Yingrui Yang" userId="d312c08eebbe2f44" providerId="LiveId" clId="{2EA71D12-294D-5DE0-B6D8-57CFD0404595}" dt="2025-11-27T16:26:34.180" v="125" actId="20577"/>
        <pc:sldMkLst>
          <pc:docMk/>
          <pc:sldMk cId="0"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386E86-6C6B-4ADB-9B6D-1D3DA1397FA0}" type="datetimeFigureOut">
              <a:rPr lang="zh-CN" altLang="en-US" smtClean="0"/>
              <a:t>2025/11/27</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1C39A1-13A6-4410-A5B7-CCBFCEA99F16}" type="slidenum">
              <a:rPr lang="zh-CN" altLang="en-US" smtClean="0"/>
              <a:t>‹#›</a:t>
            </a:fld>
            <a:endParaRPr lang="zh-CN" altLang="en-US"/>
          </a:p>
        </p:txBody>
      </p:sp>
    </p:spTree>
    <p:extLst>
      <p:ext uri="{BB962C8B-B14F-4D97-AF65-F5344CB8AC3E}">
        <p14:creationId xmlns:p14="http://schemas.microsoft.com/office/powerpoint/2010/main" val="35268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www.annualreviews.org/content/journals/10.1146/annurev-genet-040620-022145#right-ref-B49" TargetMode="External"/><Relationship Id="rId3" Type="http://schemas.openxmlformats.org/officeDocument/2006/relationships/hyperlink" Target="https://www.annualreviews.org/content/journals/10.1146/annurev-genet-040620-022145#right-ref-B51" TargetMode="External"/><Relationship Id="rId7" Type="http://schemas.openxmlformats.org/officeDocument/2006/relationships/hyperlink" Target="https://www.annualreviews.org/content/journals/10.1146/annurev-genet-040620-022145#right-ref-B35"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www.annualreviews.org/content/journals/10.1146/annurev-genet-040620-022145#right-ref-B4" TargetMode="External"/><Relationship Id="rId5" Type="http://schemas.openxmlformats.org/officeDocument/2006/relationships/hyperlink" Target="https://www.annualreviews.org/content/journals/10.1146/annurev-genet-040620-022145#f1" TargetMode="External"/><Relationship Id="rId4" Type="http://schemas.openxmlformats.org/officeDocument/2006/relationships/hyperlink" Target="https://www.annualreviews.org/content/journals/10.1146/annurev-genet-040620-022145#right-ref-B162" TargetMode="External"/><Relationship Id="rId9" Type="http://schemas.openxmlformats.org/officeDocument/2006/relationships/hyperlink" Target="https://www.annualreviews.org/content/journals/10.1146/annurev-genet-040620-022145#right-ref-B169"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Transposable elements (TEs) are kilobase-scale segments of DNA that insert new copies of themselves in the genome, generating over time large families of interspersed repeats (ref 1). Some of these are autonomous, themselves encoding the proteins needed to </a:t>
            </a:r>
            <a:r>
              <a:rPr lang="en-US" altLang="zh-CN" dirty="0" err="1"/>
              <a:t>mobilise</a:t>
            </a:r>
            <a:r>
              <a:rPr lang="en-US" altLang="zh-CN" dirty="0"/>
              <a:t> themselves, but others are non-autonomous, needing an active autonomous element to move</a:t>
            </a:r>
            <a:r>
              <a:rPr lang="en-US" altLang="zh-CN"/>
              <a:t>. </a:t>
            </a:r>
          </a:p>
          <a:p>
            <a:endParaRPr lang="en-US" altLang="zh-CN" dirty="0"/>
          </a:p>
          <a:p>
            <a:r>
              <a:rPr lang="en-GB" sz="1200" b="0" i="0" kern="1200" dirty="0">
                <a:solidFill>
                  <a:schemeClr val="tx1"/>
                </a:solidFill>
                <a:effectLst/>
                <a:latin typeface="+mn-lt"/>
                <a:ea typeface="+mn-ea"/>
                <a:cs typeface="+mn-cs"/>
              </a:rPr>
              <a:t>The most fundamental division of eukaryotic TEs, introduced by David Finnegan (</a:t>
            </a:r>
            <a:r>
              <a:rPr lang="en-GB" sz="1200" b="1" i="0" u="sng" kern="1200" dirty="0">
                <a:solidFill>
                  <a:schemeClr val="tx1"/>
                </a:solidFill>
                <a:effectLst/>
                <a:latin typeface="+mn-lt"/>
                <a:ea typeface="+mn-ea"/>
                <a:cs typeface="+mn-cs"/>
                <a:hlinkClick r:id="rId3"/>
              </a:rPr>
              <a:t>51</a:t>
            </a:r>
            <a:r>
              <a:rPr lang="en-GB" sz="1200" b="0" i="0" kern="1200" dirty="0">
                <a:solidFill>
                  <a:schemeClr val="tx1"/>
                </a:solidFill>
                <a:effectLst/>
                <a:latin typeface="+mn-lt"/>
                <a:ea typeface="+mn-ea"/>
                <a:cs typeface="+mn-cs"/>
              </a:rPr>
              <a:t>) in 1989, distinguishes two major classes based on their transposition intermediates: class I—retrotransposons, and class II—DNA transposons. Class I elements replicate via an RNA intermediate, which is then reverse-transcribed into a DNA copy and integrated into the genome. Because the original template element remains intact, retrotransposons are commonly referred to as copy-and-paste elements. In contrast, the majority of (but not all) class II elements mobilize through a cut-and-paste mechanism, in which the transposon itself is excised and moved to a new genomic location. Both classes can be further subdivided many times, first into subclasses (or orders) (</a:t>
            </a:r>
            <a:r>
              <a:rPr lang="en-GB" sz="1200" b="1" i="0" u="sng" kern="1200" dirty="0">
                <a:solidFill>
                  <a:schemeClr val="tx1"/>
                </a:solidFill>
                <a:effectLst/>
                <a:latin typeface="+mn-lt"/>
                <a:ea typeface="+mn-ea"/>
                <a:cs typeface="+mn-cs"/>
                <a:hlinkClick r:id="rId4"/>
              </a:rPr>
              <a:t>162</a:t>
            </a:r>
            <a:r>
              <a:rPr lang="en-GB" sz="1200" b="0" i="0" kern="1200" dirty="0">
                <a:solidFill>
                  <a:schemeClr val="tx1"/>
                </a:solidFill>
                <a:effectLst/>
                <a:latin typeface="+mn-lt"/>
                <a:ea typeface="+mn-ea"/>
                <a:cs typeface="+mn-cs"/>
              </a:rPr>
              <a:t>), which are primarily delineated according to their mechanisms of replication and/or chromosomal integration (</a:t>
            </a:r>
            <a:r>
              <a:rPr lang="en-GB" sz="1200" b="1" i="0" u="sng" kern="1200" dirty="0">
                <a:solidFill>
                  <a:schemeClr val="tx1"/>
                </a:solidFill>
                <a:effectLst/>
                <a:latin typeface="+mn-lt"/>
                <a:ea typeface="+mn-ea"/>
                <a:cs typeface="+mn-cs"/>
                <a:hlinkClick r:id="rId5"/>
              </a:rPr>
              <a:t> Figure 1 </a:t>
            </a:r>
            <a:r>
              <a:rPr lang="en-GB" sz="1200" b="0" i="0" kern="1200" dirty="0">
                <a:solidFill>
                  <a:schemeClr val="tx1"/>
                </a:solidFill>
                <a:effectLst/>
                <a:latin typeface="+mn-lt"/>
                <a:ea typeface="+mn-ea"/>
                <a:cs typeface="+mn-cs"/>
              </a:rPr>
              <a:t>), and then into superfamilies and families, which are more accurately characterized in terms of phylogenetic relationships (</a:t>
            </a:r>
            <a:r>
              <a:rPr lang="en-GB" sz="1200" b="1" i="0" u="sng" kern="1200" dirty="0">
                <a:solidFill>
                  <a:schemeClr val="tx1"/>
                </a:solidFill>
                <a:effectLst/>
                <a:latin typeface="+mn-lt"/>
                <a:ea typeface="+mn-ea"/>
                <a:cs typeface="+mn-cs"/>
                <a:hlinkClick r:id="rId6"/>
              </a:rPr>
              <a:t>4</a:t>
            </a:r>
            <a:r>
              <a:rPr lang="en-GB" sz="1200" b="0" i="0" kern="1200" dirty="0">
                <a:solidFill>
                  <a:schemeClr val="tx1"/>
                </a:solidFill>
                <a:effectLst/>
                <a:latin typeface="+mn-lt"/>
                <a:ea typeface="+mn-ea"/>
                <a:cs typeface="+mn-cs"/>
              </a:rPr>
              <a:t>, </a:t>
            </a:r>
            <a:r>
              <a:rPr lang="en-GB" sz="1200" b="1" i="0" u="sng" kern="1200" dirty="0">
                <a:solidFill>
                  <a:schemeClr val="tx1"/>
                </a:solidFill>
                <a:effectLst/>
                <a:latin typeface="+mn-lt"/>
                <a:ea typeface="+mn-ea"/>
                <a:cs typeface="+mn-cs"/>
                <a:hlinkClick r:id="rId7"/>
              </a:rPr>
              <a:t>35</a:t>
            </a:r>
            <a:r>
              <a:rPr lang="en-GB" sz="1200" b="0" i="0" kern="1200" dirty="0">
                <a:solidFill>
                  <a:schemeClr val="tx1"/>
                </a:solidFill>
                <a:effectLst/>
                <a:latin typeface="+mn-lt"/>
                <a:ea typeface="+mn-ea"/>
                <a:cs typeface="+mn-cs"/>
              </a:rPr>
              <a:t>, </a:t>
            </a:r>
            <a:r>
              <a:rPr lang="en-GB" sz="1200" b="1" i="0" u="sng" kern="1200" dirty="0">
                <a:solidFill>
                  <a:schemeClr val="tx1"/>
                </a:solidFill>
                <a:effectLst/>
                <a:latin typeface="+mn-lt"/>
                <a:ea typeface="+mn-ea"/>
                <a:cs typeface="+mn-cs"/>
                <a:hlinkClick r:id="rId8"/>
              </a:rPr>
              <a:t>49</a:t>
            </a:r>
            <a:r>
              <a:rPr lang="en-GB" sz="1200" b="0" i="0" kern="1200" dirty="0">
                <a:solidFill>
                  <a:schemeClr val="tx1"/>
                </a:solidFill>
                <a:effectLst/>
                <a:latin typeface="+mn-lt"/>
                <a:ea typeface="+mn-ea"/>
                <a:cs typeface="+mn-cs"/>
              </a:rPr>
              <a:t>, </a:t>
            </a:r>
            <a:r>
              <a:rPr lang="en-GB" sz="1200" b="1" i="0" u="sng" kern="1200" dirty="0">
                <a:solidFill>
                  <a:schemeClr val="tx1"/>
                </a:solidFill>
                <a:effectLst/>
                <a:latin typeface="+mn-lt"/>
                <a:ea typeface="+mn-ea"/>
                <a:cs typeface="+mn-cs"/>
                <a:hlinkClick r:id="rId4"/>
              </a:rPr>
              <a:t>162</a:t>
            </a:r>
            <a:r>
              <a:rPr lang="en-GB" sz="1200" b="0" i="0" kern="1200" dirty="0">
                <a:solidFill>
                  <a:schemeClr val="tx1"/>
                </a:solidFill>
                <a:effectLst/>
                <a:latin typeface="+mn-lt"/>
                <a:ea typeface="+mn-ea"/>
                <a:cs typeface="+mn-cs"/>
              </a:rPr>
              <a:t>, </a:t>
            </a:r>
            <a:r>
              <a:rPr lang="en-GB" sz="1200" b="1" i="0" u="sng" kern="1200" dirty="0">
                <a:solidFill>
                  <a:schemeClr val="tx1"/>
                </a:solidFill>
                <a:effectLst/>
                <a:latin typeface="+mn-lt"/>
                <a:ea typeface="+mn-ea"/>
                <a:cs typeface="+mn-cs"/>
                <a:hlinkClick r:id="rId9"/>
              </a:rPr>
              <a:t>169</a:t>
            </a:r>
            <a:r>
              <a:rPr lang="en-GB"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1E1C39A1-13A6-4410-A5B7-CCBFCEA99F16}" type="slidenum">
              <a:rPr lang="zh-CN" altLang="en-US" smtClean="0"/>
              <a:t>2</a:t>
            </a:fld>
            <a:endParaRPr lang="zh-CN" altLang="en-US"/>
          </a:p>
        </p:txBody>
      </p:sp>
    </p:spTree>
    <p:extLst>
      <p:ext uri="{BB962C8B-B14F-4D97-AF65-F5344CB8AC3E}">
        <p14:creationId xmlns:p14="http://schemas.microsoft.com/office/powerpoint/2010/main" val="734080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93465" r:id="rId1"/>
    <p:sldLayoutId id="2147493464" r:id="rId2"/>
  </p:sldLayoutIdLst>
  <p:txStyles>
    <p:titleStyle>
      <a:lvl1pPr algn="ctr" defTabSz="457200" rtl="0" fontAlgn="base">
        <a:spcBef>
          <a:spcPct val="0"/>
        </a:spcBef>
        <a:spcAft>
          <a:spcPct val="0"/>
        </a:spcAft>
        <a:defRPr sz="4400" kern="1200">
          <a:solidFill>
            <a:schemeClr val="tx1"/>
          </a:solidFill>
          <a:latin typeface="+mj-lt"/>
          <a:ea typeface="+mj-ea"/>
          <a:cs typeface="+mj-cs"/>
        </a:defRPr>
      </a:lvl1pPr>
      <a:lvl2pPr algn="ctr" defTabSz="457200" rtl="0" fontAlgn="base">
        <a:spcBef>
          <a:spcPct val="0"/>
        </a:spcBef>
        <a:spcAft>
          <a:spcPct val="0"/>
        </a:spcAft>
        <a:defRPr sz="4400">
          <a:solidFill>
            <a:schemeClr val="tx1"/>
          </a:solidFill>
          <a:latin typeface="Century Gothic"/>
        </a:defRPr>
      </a:lvl2pPr>
      <a:lvl3pPr algn="ctr" defTabSz="457200" rtl="0" fontAlgn="base">
        <a:spcBef>
          <a:spcPct val="0"/>
        </a:spcBef>
        <a:spcAft>
          <a:spcPct val="0"/>
        </a:spcAft>
        <a:defRPr sz="4400">
          <a:solidFill>
            <a:schemeClr val="tx1"/>
          </a:solidFill>
          <a:latin typeface="Century Gothic"/>
        </a:defRPr>
      </a:lvl3pPr>
      <a:lvl4pPr algn="ctr" defTabSz="457200" rtl="0" fontAlgn="base">
        <a:spcBef>
          <a:spcPct val="0"/>
        </a:spcBef>
        <a:spcAft>
          <a:spcPct val="0"/>
        </a:spcAft>
        <a:defRPr sz="4400">
          <a:solidFill>
            <a:schemeClr val="tx1"/>
          </a:solidFill>
          <a:latin typeface="Century Gothic"/>
        </a:defRPr>
      </a:lvl4pPr>
      <a:lvl5pPr algn="ctr" defTabSz="457200" rtl="0" fontAlgn="base">
        <a:spcBef>
          <a:spcPct val="0"/>
        </a:spcBef>
        <a:spcAft>
          <a:spcPct val="0"/>
        </a:spcAft>
        <a:defRPr sz="4400">
          <a:solidFill>
            <a:schemeClr val="tx1"/>
          </a:solidFill>
          <a:latin typeface="Century Gothic"/>
        </a:defRPr>
      </a:lvl5pPr>
      <a:lvl6pPr marL="457200" algn="ctr" defTabSz="457200" rtl="0" fontAlgn="base">
        <a:spcBef>
          <a:spcPct val="0"/>
        </a:spcBef>
        <a:spcAft>
          <a:spcPct val="0"/>
        </a:spcAft>
        <a:defRPr sz="4400">
          <a:solidFill>
            <a:schemeClr val="tx1"/>
          </a:solidFill>
          <a:latin typeface="Century Gothic"/>
        </a:defRPr>
      </a:lvl6pPr>
      <a:lvl7pPr marL="914400" algn="ctr" defTabSz="457200" rtl="0" fontAlgn="base">
        <a:spcBef>
          <a:spcPct val="0"/>
        </a:spcBef>
        <a:spcAft>
          <a:spcPct val="0"/>
        </a:spcAft>
        <a:defRPr sz="4400">
          <a:solidFill>
            <a:schemeClr val="tx1"/>
          </a:solidFill>
          <a:latin typeface="Century Gothic"/>
        </a:defRPr>
      </a:lvl7pPr>
      <a:lvl8pPr marL="1371600" algn="ctr" defTabSz="457200" rtl="0" fontAlgn="base">
        <a:spcBef>
          <a:spcPct val="0"/>
        </a:spcBef>
        <a:spcAft>
          <a:spcPct val="0"/>
        </a:spcAft>
        <a:defRPr sz="4400">
          <a:solidFill>
            <a:schemeClr val="tx1"/>
          </a:solidFill>
          <a:latin typeface="Century Gothic"/>
        </a:defRPr>
      </a:lvl8pPr>
      <a:lvl9pPr marL="1828800" algn="ctr" defTabSz="457200" rtl="0" fontAlgn="base">
        <a:spcBef>
          <a:spcPct val="0"/>
        </a:spcBef>
        <a:spcAft>
          <a:spcPct val="0"/>
        </a:spcAft>
        <a:defRPr sz="4400">
          <a:solidFill>
            <a:schemeClr val="tx1"/>
          </a:solidFill>
          <a:latin typeface="Century Gothic"/>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文本框 6"/>
          <p:cNvSpPr txBox="1">
            <a:spLocks noChangeArrowheads="1"/>
          </p:cNvSpPr>
          <p:nvPr/>
        </p:nvSpPr>
        <p:spPr bwMode="auto">
          <a:xfrm>
            <a:off x="936242" y="1227470"/>
            <a:ext cx="7271516" cy="1077218"/>
          </a:xfrm>
          <a:prstGeom prst="rect">
            <a:avLst/>
          </a:prstGeom>
          <a:noFill/>
          <a:ln w="9525">
            <a:noFill/>
            <a:miter lim="800000"/>
            <a:headEnd/>
            <a:tailEnd/>
          </a:ln>
        </p:spPr>
        <p:txBody>
          <a:bodyPr wrap="square">
            <a:spAutoFit/>
          </a:bodyPr>
          <a:lstStyle/>
          <a:p>
            <a:r>
              <a:rPr kumimoji="1" lang="en-CA" altLang="zh-CN" sz="3200" b="1" dirty="0">
                <a:solidFill>
                  <a:schemeClr val="bg1"/>
                </a:solidFill>
                <a:latin typeface="Century Gothic"/>
                <a:ea typeface="微软雅黑" pitchFamily="34" charset="-122"/>
              </a:rPr>
              <a:t>Machine Learning a Transposable Element Classifier</a:t>
            </a:r>
          </a:p>
        </p:txBody>
      </p:sp>
      <p:sp>
        <p:nvSpPr>
          <p:cNvPr id="2" name="TextBox 1">
            <a:extLst>
              <a:ext uri="{FF2B5EF4-FFF2-40B4-BE49-F238E27FC236}">
                <a16:creationId xmlns:a16="http://schemas.microsoft.com/office/drawing/2014/main" id="{04FCC63C-973D-8350-A543-3084BE6089A9}"/>
              </a:ext>
            </a:extLst>
          </p:cNvPr>
          <p:cNvSpPr txBox="1"/>
          <p:nvPr/>
        </p:nvSpPr>
        <p:spPr>
          <a:xfrm>
            <a:off x="1253067" y="2658533"/>
            <a:ext cx="6180666" cy="923330"/>
          </a:xfrm>
          <a:prstGeom prst="rect">
            <a:avLst/>
          </a:prstGeom>
          <a:noFill/>
        </p:spPr>
        <p:txBody>
          <a:bodyPr wrap="square" rtlCol="0">
            <a:spAutoFit/>
          </a:bodyPr>
          <a:lstStyle/>
          <a:p>
            <a:r>
              <a:rPr lang="en-US" dirty="0">
                <a:solidFill>
                  <a:schemeClr val="bg1"/>
                </a:solidFill>
              </a:rPr>
              <a:t>Supervisors: </a:t>
            </a:r>
          </a:p>
          <a:p>
            <a:r>
              <a:rPr lang="en-US" dirty="0">
                <a:solidFill>
                  <a:schemeClr val="bg1"/>
                </a:solidFill>
              </a:rPr>
              <a:t>	Prof Richard Durbin, Pio Sarra, Hadi Khan</a:t>
            </a:r>
          </a:p>
          <a:p>
            <a:r>
              <a:rPr lang="en-US" dirty="0">
                <a:solidFill>
                  <a:schemeClr val="bg1"/>
                </a:solidFill>
              </a:rPr>
              <a:t>	Department of Genetics</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56FDCBB-75C3-20F9-E2BB-344BEFDB6F8B}"/>
              </a:ext>
            </a:extLst>
          </p:cNvPr>
          <p:cNvSpPr txBox="1"/>
          <p:nvPr/>
        </p:nvSpPr>
        <p:spPr>
          <a:xfrm>
            <a:off x="868167" y="1100642"/>
            <a:ext cx="3888768" cy="2355709"/>
          </a:xfrm>
          <a:prstGeom prst="rect">
            <a:avLst/>
          </a:prstGeom>
          <a:noFill/>
        </p:spPr>
        <p:txBody>
          <a:bodyPr wrap="square">
            <a:spAutoFit/>
          </a:bodyPr>
          <a:lstStyle/>
          <a:p>
            <a:pPr>
              <a:lnSpc>
                <a:spcPct val="130000"/>
              </a:lnSpc>
            </a:pPr>
            <a:r>
              <a:rPr kumimoji="1" lang="en-US" altLang="zh-CN" sz="1000" dirty="0">
                <a:solidFill>
                  <a:srgbClr val="FFFFFF"/>
                </a:solidFill>
                <a:latin typeface="+mn-lt"/>
                <a:ea typeface="微软雅黑" pitchFamily="34" charset="-122"/>
                <a:cs typeface="Arial" charset="0"/>
              </a:rPr>
              <a:t>“Transposable elements (TEs) are mobile DNA sequences capable of independently replicating within host genomes. They typically range in length from 100 to 10,000 bp, but are sometimes far larger. Along with viruses, TEs are the most intricate selfish genetic elements. They frequently encode proteins with multiple biochemical activities as well as complex noncoding regulatory sequences that promote their transposition. “</a:t>
            </a:r>
          </a:p>
          <a:p>
            <a:pPr>
              <a:lnSpc>
                <a:spcPct val="130000"/>
              </a:lnSpc>
            </a:pPr>
            <a:endParaRPr kumimoji="1" lang="en-US" altLang="zh-CN" sz="1000" dirty="0">
              <a:solidFill>
                <a:srgbClr val="FFFFFF"/>
              </a:solidFill>
              <a:latin typeface="+mn-lt"/>
              <a:ea typeface="微软雅黑" pitchFamily="34" charset="-122"/>
              <a:cs typeface="Arial" charset="0"/>
            </a:endParaRPr>
          </a:p>
          <a:p>
            <a:pPr>
              <a:lnSpc>
                <a:spcPct val="130000"/>
              </a:lnSpc>
            </a:pPr>
            <a:r>
              <a:rPr kumimoji="1" lang="en-US" altLang="zh-CN" sz="800" dirty="0">
                <a:solidFill>
                  <a:srgbClr val="FFFFFF"/>
                </a:solidFill>
                <a:latin typeface="+mn-lt"/>
                <a:ea typeface="微软雅黑" pitchFamily="34" charset="-122"/>
                <a:cs typeface="Arial" charset="0"/>
              </a:rPr>
              <a:t>Wells JN, </a:t>
            </a:r>
            <a:r>
              <a:rPr kumimoji="1" lang="en-US" altLang="zh-CN" sz="800" dirty="0" err="1">
                <a:solidFill>
                  <a:srgbClr val="FFFFFF"/>
                </a:solidFill>
                <a:latin typeface="+mn-lt"/>
                <a:ea typeface="微软雅黑" pitchFamily="34" charset="-122"/>
                <a:cs typeface="Arial" charset="0"/>
              </a:rPr>
              <a:t>Feschotte</a:t>
            </a:r>
            <a:r>
              <a:rPr kumimoji="1" lang="en-US" altLang="zh-CN" sz="800" dirty="0">
                <a:solidFill>
                  <a:srgbClr val="FFFFFF"/>
                </a:solidFill>
                <a:latin typeface="+mn-lt"/>
                <a:ea typeface="微软雅黑" pitchFamily="34" charset="-122"/>
                <a:cs typeface="Arial" charset="0"/>
              </a:rPr>
              <a:t> C (2020) A Field Guide to Eukaryotic Transposable Elements. Annu Rev Genet. 54:539-561. https://doi.org/10.1146/annurev-genet-040620-022145 </a:t>
            </a:r>
            <a:endParaRPr kumimoji="1" lang="zh-CN" altLang="en-US" sz="800" dirty="0">
              <a:solidFill>
                <a:srgbClr val="FFFFFF"/>
              </a:solidFill>
              <a:latin typeface="+mn-lt"/>
              <a:ea typeface="微软雅黑" pitchFamily="34" charset="-122"/>
              <a:cs typeface="Arial" charset="0"/>
            </a:endParaRPr>
          </a:p>
        </p:txBody>
      </p:sp>
      <p:grpSp>
        <p:nvGrpSpPr>
          <p:cNvPr id="13" name="组 202">
            <a:extLst>
              <a:ext uri="{FF2B5EF4-FFF2-40B4-BE49-F238E27FC236}">
                <a16:creationId xmlns:a16="http://schemas.microsoft.com/office/drawing/2014/main" id="{322B3588-D462-0538-3EDF-65E618C5792B}"/>
              </a:ext>
            </a:extLst>
          </p:cNvPr>
          <p:cNvGrpSpPr>
            <a:grpSpLocks/>
          </p:cNvGrpSpPr>
          <p:nvPr/>
        </p:nvGrpSpPr>
        <p:grpSpPr bwMode="auto">
          <a:xfrm>
            <a:off x="598932" y="542159"/>
            <a:ext cx="2745306" cy="277812"/>
            <a:chOff x="500760" y="1097605"/>
            <a:chExt cx="2443665" cy="276999"/>
          </a:xfrm>
        </p:grpSpPr>
        <p:sp>
          <p:nvSpPr>
            <p:cNvPr id="14" name="五边形 200">
              <a:extLst>
                <a:ext uri="{FF2B5EF4-FFF2-40B4-BE49-F238E27FC236}">
                  <a16:creationId xmlns:a16="http://schemas.microsoft.com/office/drawing/2014/main" id="{4FB449A0-6402-DC2C-2697-FA812079B119}"/>
                </a:ext>
              </a:extLst>
            </p:cNvPr>
            <p:cNvSpPr/>
            <p:nvPr/>
          </p:nvSpPr>
          <p:spPr>
            <a:xfrm>
              <a:off x="519813" y="1097605"/>
              <a:ext cx="2306984" cy="276999"/>
            </a:xfrm>
            <a:prstGeom prst="homePlate">
              <a:avLst>
                <a:gd name="adj" fmla="val 53184"/>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1" lang="zh-CN" altLang="en-US">
                <a:cs typeface="微软雅黑"/>
              </a:endParaRPr>
            </a:p>
          </p:txBody>
        </p:sp>
        <p:sp>
          <p:nvSpPr>
            <p:cNvPr id="15" name="文本框 32">
              <a:extLst>
                <a:ext uri="{FF2B5EF4-FFF2-40B4-BE49-F238E27FC236}">
                  <a16:creationId xmlns:a16="http://schemas.microsoft.com/office/drawing/2014/main" id="{FFE2338E-2FB1-AE99-E4AE-BF458AF05750}"/>
                </a:ext>
              </a:extLst>
            </p:cNvPr>
            <p:cNvSpPr txBox="1">
              <a:spLocks noChangeArrowheads="1"/>
            </p:cNvSpPr>
            <p:nvPr/>
          </p:nvSpPr>
          <p:spPr bwMode="auto">
            <a:xfrm>
              <a:off x="500760" y="1097605"/>
              <a:ext cx="2443665" cy="276188"/>
            </a:xfrm>
            <a:prstGeom prst="rect">
              <a:avLst/>
            </a:prstGeom>
            <a:noFill/>
            <a:ln w="9525">
              <a:noFill/>
              <a:miter lim="800000"/>
              <a:headEnd/>
              <a:tailEnd/>
            </a:ln>
          </p:spPr>
          <p:txBody>
            <a:bodyPr wrap="none">
              <a:spAutoFit/>
            </a:bodyPr>
            <a:lstStyle/>
            <a:p>
              <a:r>
                <a:rPr kumimoji="1" lang="en-US" altLang="zh-CN" sz="1200" dirty="0">
                  <a:solidFill>
                    <a:srgbClr val="FFFFFF"/>
                  </a:solidFill>
                  <a:latin typeface="+mn-lt"/>
                  <a:ea typeface="微软雅黑" pitchFamily="34" charset="-122"/>
                </a:rPr>
                <a:t>What is Transposable Elements</a:t>
              </a:r>
            </a:p>
          </p:txBody>
        </p:sp>
      </p:grpSp>
      <p:pic>
        <p:nvPicPr>
          <p:cNvPr id="1028" name="Picture 4">
            <a:extLst>
              <a:ext uri="{FF2B5EF4-FFF2-40B4-BE49-F238E27FC236}">
                <a16:creationId xmlns:a16="http://schemas.microsoft.com/office/drawing/2014/main" id="{E741E5F3-207A-E1CC-EB1F-753E9AE22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6186" y="1100642"/>
            <a:ext cx="3518898" cy="24715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E0135-2B07-5015-F609-0B5D16C5635F}"/>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6C688DC1-E00B-5362-0E54-E2E3B6280C63}"/>
              </a:ext>
            </a:extLst>
          </p:cNvPr>
          <p:cNvSpPr txBox="1"/>
          <p:nvPr/>
        </p:nvSpPr>
        <p:spPr>
          <a:xfrm>
            <a:off x="868167" y="1100642"/>
            <a:ext cx="3888768" cy="3155929"/>
          </a:xfrm>
          <a:prstGeom prst="rect">
            <a:avLst/>
          </a:prstGeom>
          <a:noFill/>
        </p:spPr>
        <p:txBody>
          <a:bodyPr wrap="square">
            <a:spAutoFit/>
          </a:bodyPr>
          <a:lstStyle/>
          <a:p>
            <a:pPr>
              <a:lnSpc>
                <a:spcPct val="130000"/>
              </a:lnSpc>
            </a:pPr>
            <a:r>
              <a:rPr kumimoji="1" lang="en-US" altLang="zh-CN" sz="1000" dirty="0">
                <a:solidFill>
                  <a:srgbClr val="FFFFFF"/>
                </a:solidFill>
                <a:latin typeface="+mn-lt"/>
                <a:ea typeface="微软雅黑" pitchFamily="34" charset="-122"/>
                <a:cs typeface="Arial" charset="0"/>
              </a:rPr>
              <a:t>The group has developed a new pipeline named Pantera to identify TE families. The dataset contains more than 130k TE sequences. </a:t>
            </a:r>
          </a:p>
          <a:p>
            <a:pPr>
              <a:lnSpc>
                <a:spcPct val="130000"/>
              </a:lnSpc>
            </a:pPr>
            <a:endParaRPr kumimoji="1" lang="en-US" altLang="zh-CN" sz="1000" dirty="0">
              <a:solidFill>
                <a:srgbClr val="FFFFFF"/>
              </a:solidFill>
              <a:latin typeface="+mn-lt"/>
              <a:ea typeface="微软雅黑" pitchFamily="34" charset="-122"/>
              <a:cs typeface="Arial" charset="0"/>
            </a:endParaRPr>
          </a:p>
          <a:p>
            <a:pPr>
              <a:lnSpc>
                <a:spcPct val="130000"/>
              </a:lnSpc>
            </a:pPr>
            <a:r>
              <a:rPr kumimoji="1" lang="en-US" altLang="zh-CN" sz="1000" dirty="0">
                <a:solidFill>
                  <a:srgbClr val="FFFFFF"/>
                </a:solidFill>
                <a:latin typeface="+mn-lt"/>
                <a:ea typeface="微软雅黑" pitchFamily="34" charset="-122"/>
                <a:cs typeface="Arial" charset="0"/>
              </a:rPr>
              <a:t>“Our hypothesis is that most of the structural variants in the size range of hundreds to tens of thousands of bases that we detect when comparing two or more closely related genomes are caused by TE insertions or deletions, as illustrated in Fig. 1a,b. We identify candidate TE families by clustering the inserted sequences with high stringency for both sequence identity (default 95%) and full length alignment. ”</a:t>
            </a:r>
          </a:p>
          <a:p>
            <a:pPr>
              <a:lnSpc>
                <a:spcPct val="130000"/>
              </a:lnSpc>
            </a:pPr>
            <a:endParaRPr kumimoji="1" lang="en-US" altLang="zh-CN" sz="1000" dirty="0">
              <a:solidFill>
                <a:srgbClr val="FFFFFF"/>
              </a:solidFill>
              <a:latin typeface="+mn-lt"/>
              <a:ea typeface="微软雅黑" pitchFamily="34" charset="-122"/>
              <a:cs typeface="Arial" charset="0"/>
            </a:endParaRPr>
          </a:p>
          <a:p>
            <a:pPr>
              <a:lnSpc>
                <a:spcPct val="130000"/>
              </a:lnSpc>
            </a:pPr>
            <a:r>
              <a:rPr kumimoji="1" lang="en-GB" altLang="zh-CN" sz="800" dirty="0">
                <a:solidFill>
                  <a:srgbClr val="FFFFFF"/>
                </a:solidFill>
                <a:latin typeface="+mn-lt"/>
                <a:ea typeface="微软雅黑" pitchFamily="34" charset="-122"/>
                <a:cs typeface="Arial" charset="0"/>
              </a:rPr>
              <a:t>Sierra P, Durbin R (2024) Identification of transposable element families from pangenome polymorphisms. Mobile DNA. 15:13. https://doi.org/10.1186/s13100-024-00323-y </a:t>
            </a:r>
            <a:endParaRPr kumimoji="1" lang="zh-CN" altLang="en-US" sz="800" dirty="0">
              <a:solidFill>
                <a:srgbClr val="FFFFFF"/>
              </a:solidFill>
              <a:latin typeface="+mn-lt"/>
              <a:ea typeface="微软雅黑" pitchFamily="34" charset="-122"/>
              <a:cs typeface="Arial" charset="0"/>
            </a:endParaRPr>
          </a:p>
        </p:txBody>
      </p:sp>
      <p:grpSp>
        <p:nvGrpSpPr>
          <p:cNvPr id="13" name="组 202">
            <a:extLst>
              <a:ext uri="{FF2B5EF4-FFF2-40B4-BE49-F238E27FC236}">
                <a16:creationId xmlns:a16="http://schemas.microsoft.com/office/drawing/2014/main" id="{4F5FA81D-2CE4-6EAE-513D-3EB6D927A478}"/>
              </a:ext>
            </a:extLst>
          </p:cNvPr>
          <p:cNvGrpSpPr>
            <a:grpSpLocks/>
          </p:cNvGrpSpPr>
          <p:nvPr/>
        </p:nvGrpSpPr>
        <p:grpSpPr bwMode="auto">
          <a:xfrm>
            <a:off x="598932" y="542159"/>
            <a:ext cx="2293243" cy="277812"/>
            <a:chOff x="500760" y="1097605"/>
            <a:chExt cx="2326037" cy="276999"/>
          </a:xfrm>
        </p:grpSpPr>
        <p:sp>
          <p:nvSpPr>
            <p:cNvPr id="14" name="五边形 200">
              <a:extLst>
                <a:ext uri="{FF2B5EF4-FFF2-40B4-BE49-F238E27FC236}">
                  <a16:creationId xmlns:a16="http://schemas.microsoft.com/office/drawing/2014/main" id="{48FBC656-16FC-468F-3E91-9F61F8C6AE24}"/>
                </a:ext>
              </a:extLst>
            </p:cNvPr>
            <p:cNvSpPr/>
            <p:nvPr/>
          </p:nvSpPr>
          <p:spPr>
            <a:xfrm>
              <a:off x="519813" y="1097605"/>
              <a:ext cx="2306984" cy="276999"/>
            </a:xfrm>
            <a:prstGeom prst="homePlate">
              <a:avLst>
                <a:gd name="adj" fmla="val 53184"/>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1" lang="zh-CN" altLang="en-US">
                <a:cs typeface="微软雅黑"/>
              </a:endParaRPr>
            </a:p>
          </p:txBody>
        </p:sp>
        <p:sp>
          <p:nvSpPr>
            <p:cNvPr id="15" name="文本框 32">
              <a:extLst>
                <a:ext uri="{FF2B5EF4-FFF2-40B4-BE49-F238E27FC236}">
                  <a16:creationId xmlns:a16="http://schemas.microsoft.com/office/drawing/2014/main" id="{CD4797CC-DE92-741C-2574-85CAA441189E}"/>
                </a:ext>
              </a:extLst>
            </p:cNvPr>
            <p:cNvSpPr txBox="1">
              <a:spLocks noChangeArrowheads="1"/>
            </p:cNvSpPr>
            <p:nvPr/>
          </p:nvSpPr>
          <p:spPr bwMode="auto">
            <a:xfrm>
              <a:off x="500760" y="1097605"/>
              <a:ext cx="1959382" cy="276188"/>
            </a:xfrm>
            <a:prstGeom prst="rect">
              <a:avLst/>
            </a:prstGeom>
            <a:noFill/>
            <a:ln w="9525">
              <a:noFill/>
              <a:miter lim="800000"/>
              <a:headEnd/>
              <a:tailEnd/>
            </a:ln>
          </p:spPr>
          <p:txBody>
            <a:bodyPr wrap="none">
              <a:spAutoFit/>
            </a:bodyPr>
            <a:lstStyle/>
            <a:p>
              <a:r>
                <a:rPr kumimoji="1" lang="en-US" altLang="zh-CN" sz="1200" dirty="0">
                  <a:solidFill>
                    <a:srgbClr val="FFFFFF"/>
                  </a:solidFill>
                  <a:latin typeface="+mn-lt"/>
                  <a:ea typeface="微软雅黑" pitchFamily="34" charset="-122"/>
                </a:rPr>
                <a:t>What dataset are we using</a:t>
              </a:r>
            </a:p>
          </p:txBody>
        </p:sp>
      </p:grpSp>
      <p:pic>
        <p:nvPicPr>
          <p:cNvPr id="5" name="Picture 4">
            <a:extLst>
              <a:ext uri="{FF2B5EF4-FFF2-40B4-BE49-F238E27FC236}">
                <a16:creationId xmlns:a16="http://schemas.microsoft.com/office/drawing/2014/main" id="{C32E0726-5A9B-916F-2F4A-8B9BB0290BBD}"/>
              </a:ext>
            </a:extLst>
          </p:cNvPr>
          <p:cNvPicPr>
            <a:picLocks noChangeAspect="1"/>
          </p:cNvPicPr>
          <p:nvPr/>
        </p:nvPicPr>
        <p:blipFill>
          <a:blip r:embed="rId2"/>
          <a:stretch>
            <a:fillRect/>
          </a:stretch>
        </p:blipFill>
        <p:spPr>
          <a:xfrm>
            <a:off x="5119545" y="447930"/>
            <a:ext cx="3406739" cy="4127873"/>
          </a:xfrm>
          <a:prstGeom prst="rect">
            <a:avLst/>
          </a:prstGeom>
        </p:spPr>
      </p:pic>
    </p:spTree>
    <p:extLst>
      <p:ext uri="{BB962C8B-B14F-4D97-AF65-F5344CB8AC3E}">
        <p14:creationId xmlns:p14="http://schemas.microsoft.com/office/powerpoint/2010/main" val="15810614"/>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8FC36-9526-472C-0E0F-070162821A6E}"/>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4B659953-148C-B289-633F-1D9FB0FF9404}"/>
              </a:ext>
            </a:extLst>
          </p:cNvPr>
          <p:cNvSpPr txBox="1"/>
          <p:nvPr/>
        </p:nvSpPr>
        <p:spPr>
          <a:xfrm>
            <a:off x="868167" y="1100642"/>
            <a:ext cx="5946290" cy="2471382"/>
          </a:xfrm>
          <a:prstGeom prst="rect">
            <a:avLst/>
          </a:prstGeom>
          <a:noFill/>
        </p:spPr>
        <p:txBody>
          <a:bodyPr wrap="square">
            <a:spAutoFit/>
          </a:bodyPr>
          <a:lstStyle/>
          <a:p>
            <a:pPr marL="171450" indent="-171450">
              <a:lnSpc>
                <a:spcPct val="130000"/>
              </a:lnSpc>
              <a:buFontTx/>
              <a:buChar char="-"/>
            </a:pPr>
            <a:r>
              <a:rPr kumimoji="1" lang="en-US" altLang="zh-CN" sz="1000" dirty="0">
                <a:solidFill>
                  <a:srgbClr val="FFFFFF"/>
                </a:solidFill>
                <a:latin typeface="+mn-lt"/>
                <a:ea typeface="微软雅黑" pitchFamily="34" charset="-122"/>
                <a:cs typeface="Arial" charset="0"/>
              </a:rPr>
              <a:t>Build machine learning models to classify the TE sequences collected by Pantera</a:t>
            </a:r>
            <a:endParaRPr kumimoji="1" lang="en-US" altLang="zh-CN" sz="1000" dirty="0">
              <a:solidFill>
                <a:srgbClr val="FFFFFF"/>
              </a:solidFill>
              <a:ea typeface="微软雅黑" pitchFamily="34" charset="-122"/>
              <a:cs typeface="Arial" charset="0"/>
            </a:endParaRPr>
          </a:p>
          <a:p>
            <a:pPr marL="171450" indent="-171450">
              <a:lnSpc>
                <a:spcPct val="130000"/>
              </a:lnSpc>
              <a:buFontTx/>
              <a:buChar char="-"/>
            </a:pPr>
            <a:endParaRPr kumimoji="1" lang="en-US" altLang="zh-CN" sz="1000" dirty="0">
              <a:solidFill>
                <a:srgbClr val="FFFFFF"/>
              </a:solidFill>
              <a:ea typeface="微软雅黑" pitchFamily="34" charset="-122"/>
              <a:cs typeface="Arial" charset="0"/>
            </a:endParaRPr>
          </a:p>
          <a:p>
            <a:pPr marL="628650" lvl="1" indent="-171450">
              <a:lnSpc>
                <a:spcPct val="130000"/>
              </a:lnSpc>
              <a:buFontTx/>
              <a:buChar char="-"/>
            </a:pPr>
            <a:r>
              <a:rPr kumimoji="1" lang="en-US" altLang="zh-CN" sz="1000" dirty="0">
                <a:solidFill>
                  <a:srgbClr val="FFFFFF"/>
                </a:solidFill>
                <a:ea typeface="微软雅黑" pitchFamily="34" charset="-122"/>
                <a:cs typeface="Arial" charset="0"/>
              </a:rPr>
              <a:t>Implement CNN and RNN to capture local motifs with one-hot encoding and global patterns with k-</a:t>
            </a:r>
            <a:r>
              <a:rPr kumimoji="1" lang="en-US" altLang="zh-CN" sz="1000" dirty="0" err="1">
                <a:solidFill>
                  <a:srgbClr val="FFFFFF"/>
                </a:solidFill>
                <a:ea typeface="微软雅黑" pitchFamily="34" charset="-122"/>
                <a:cs typeface="Arial" charset="0"/>
              </a:rPr>
              <a:t>mer</a:t>
            </a:r>
            <a:r>
              <a:rPr kumimoji="1" lang="en-US" altLang="zh-CN" sz="1000" dirty="0">
                <a:solidFill>
                  <a:srgbClr val="FFFFFF"/>
                </a:solidFill>
                <a:ea typeface="微软雅黑" pitchFamily="34" charset="-122"/>
                <a:cs typeface="Arial" charset="0"/>
              </a:rPr>
              <a:t> features</a:t>
            </a:r>
          </a:p>
          <a:p>
            <a:pPr marL="628650" lvl="1" indent="-171450">
              <a:lnSpc>
                <a:spcPct val="130000"/>
              </a:lnSpc>
              <a:buFontTx/>
              <a:buChar char="-"/>
            </a:pPr>
            <a:r>
              <a:rPr kumimoji="1" lang="en-US" altLang="zh-CN" sz="1000" dirty="0">
                <a:solidFill>
                  <a:srgbClr val="FFFFFF"/>
                </a:solidFill>
                <a:ea typeface="微软雅黑" pitchFamily="34" charset="-122"/>
                <a:cs typeface="Arial" charset="0"/>
              </a:rPr>
              <a:t>Implement attention layer as the sequences could be very long</a:t>
            </a:r>
          </a:p>
          <a:p>
            <a:pPr>
              <a:lnSpc>
                <a:spcPct val="130000"/>
              </a:lnSpc>
            </a:pPr>
            <a:endParaRPr kumimoji="1" lang="en-US" altLang="zh-CN" sz="1000" dirty="0">
              <a:solidFill>
                <a:srgbClr val="FFFFFF"/>
              </a:solidFill>
              <a:latin typeface="+mn-lt"/>
              <a:ea typeface="微软雅黑" pitchFamily="34" charset="-122"/>
              <a:cs typeface="Arial" charset="0"/>
            </a:endParaRPr>
          </a:p>
          <a:p>
            <a:pPr marL="171450" indent="-171450">
              <a:lnSpc>
                <a:spcPct val="130000"/>
              </a:lnSpc>
              <a:buFontTx/>
              <a:buChar char="-"/>
            </a:pPr>
            <a:r>
              <a:rPr kumimoji="1" lang="en-US" altLang="zh-CN" sz="1000" dirty="0">
                <a:solidFill>
                  <a:srgbClr val="FFFFFF"/>
                </a:solidFill>
                <a:latin typeface="+mn-lt"/>
                <a:ea typeface="微软雅黑" pitchFamily="34" charset="-122"/>
                <a:cs typeface="Arial" charset="0"/>
              </a:rPr>
              <a:t>Apply unsupervised and generative models to identify novel TE families and model evolutionary relationships. </a:t>
            </a:r>
          </a:p>
          <a:p>
            <a:pPr marL="171450" indent="-171450">
              <a:lnSpc>
                <a:spcPct val="130000"/>
              </a:lnSpc>
              <a:buFontTx/>
              <a:buChar char="-"/>
            </a:pPr>
            <a:endParaRPr kumimoji="1" lang="en-US" altLang="zh-CN" sz="1000" dirty="0">
              <a:solidFill>
                <a:srgbClr val="FFFFFF"/>
              </a:solidFill>
              <a:latin typeface="+mn-lt"/>
              <a:ea typeface="微软雅黑" pitchFamily="34" charset="-122"/>
              <a:cs typeface="Arial" charset="0"/>
            </a:endParaRPr>
          </a:p>
          <a:p>
            <a:pPr marL="171450" indent="-171450">
              <a:lnSpc>
                <a:spcPct val="130000"/>
              </a:lnSpc>
              <a:buFontTx/>
              <a:buChar char="-"/>
            </a:pPr>
            <a:r>
              <a:rPr kumimoji="1" lang="en-US" altLang="zh-CN" sz="1000" dirty="0">
                <a:solidFill>
                  <a:srgbClr val="FFFFFF"/>
                </a:solidFill>
                <a:latin typeface="+mn-lt"/>
                <a:ea typeface="微软雅黑" pitchFamily="34" charset="-122"/>
                <a:cs typeface="Arial" charset="0"/>
              </a:rPr>
              <a:t>Develop frameworks linking non-autonomous sequences to their driver elements, moving beyond alignment-based methods.</a:t>
            </a:r>
          </a:p>
          <a:p>
            <a:pPr marL="171450" indent="-171450">
              <a:lnSpc>
                <a:spcPct val="130000"/>
              </a:lnSpc>
              <a:buFontTx/>
              <a:buChar char="-"/>
            </a:pPr>
            <a:endParaRPr kumimoji="1" lang="en-US" altLang="zh-CN" sz="1000" dirty="0">
              <a:solidFill>
                <a:srgbClr val="FFFFFF"/>
              </a:solidFill>
              <a:latin typeface="+mn-lt"/>
              <a:ea typeface="微软雅黑" pitchFamily="34" charset="-122"/>
              <a:cs typeface="Arial" charset="0"/>
            </a:endParaRPr>
          </a:p>
        </p:txBody>
      </p:sp>
      <p:grpSp>
        <p:nvGrpSpPr>
          <p:cNvPr id="13" name="组 202">
            <a:extLst>
              <a:ext uri="{FF2B5EF4-FFF2-40B4-BE49-F238E27FC236}">
                <a16:creationId xmlns:a16="http://schemas.microsoft.com/office/drawing/2014/main" id="{8C364E12-92E5-43B4-E977-84B486949279}"/>
              </a:ext>
            </a:extLst>
          </p:cNvPr>
          <p:cNvGrpSpPr>
            <a:grpSpLocks/>
          </p:cNvGrpSpPr>
          <p:nvPr/>
        </p:nvGrpSpPr>
        <p:grpSpPr bwMode="auto">
          <a:xfrm>
            <a:off x="598932" y="542159"/>
            <a:ext cx="1044933" cy="277812"/>
            <a:chOff x="500760" y="1097605"/>
            <a:chExt cx="2326037" cy="276999"/>
          </a:xfrm>
        </p:grpSpPr>
        <p:sp>
          <p:nvSpPr>
            <p:cNvPr id="14" name="五边形 200">
              <a:extLst>
                <a:ext uri="{FF2B5EF4-FFF2-40B4-BE49-F238E27FC236}">
                  <a16:creationId xmlns:a16="http://schemas.microsoft.com/office/drawing/2014/main" id="{9B006E11-E647-6D09-5D49-3ABA0A982F88}"/>
                </a:ext>
              </a:extLst>
            </p:cNvPr>
            <p:cNvSpPr/>
            <p:nvPr/>
          </p:nvSpPr>
          <p:spPr>
            <a:xfrm>
              <a:off x="519813" y="1097605"/>
              <a:ext cx="2306984" cy="276999"/>
            </a:xfrm>
            <a:prstGeom prst="homePlate">
              <a:avLst>
                <a:gd name="adj" fmla="val 53184"/>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1" lang="zh-CN" altLang="en-US">
                <a:cs typeface="微软雅黑"/>
              </a:endParaRPr>
            </a:p>
          </p:txBody>
        </p:sp>
        <p:sp>
          <p:nvSpPr>
            <p:cNvPr id="15" name="文本框 32">
              <a:extLst>
                <a:ext uri="{FF2B5EF4-FFF2-40B4-BE49-F238E27FC236}">
                  <a16:creationId xmlns:a16="http://schemas.microsoft.com/office/drawing/2014/main" id="{0E340E77-2E60-4782-D0D4-7B8F8A9757B6}"/>
                </a:ext>
              </a:extLst>
            </p:cNvPr>
            <p:cNvSpPr txBox="1">
              <a:spLocks noChangeArrowheads="1"/>
            </p:cNvSpPr>
            <p:nvPr/>
          </p:nvSpPr>
          <p:spPr bwMode="auto">
            <a:xfrm>
              <a:off x="500760" y="1097605"/>
              <a:ext cx="901089" cy="276188"/>
            </a:xfrm>
            <a:prstGeom prst="rect">
              <a:avLst/>
            </a:prstGeom>
            <a:noFill/>
            <a:ln w="9525">
              <a:noFill/>
              <a:miter lim="800000"/>
              <a:headEnd/>
              <a:tailEnd/>
            </a:ln>
          </p:spPr>
          <p:txBody>
            <a:bodyPr wrap="none">
              <a:spAutoFit/>
            </a:bodyPr>
            <a:lstStyle/>
            <a:p>
              <a:r>
                <a:rPr kumimoji="1" lang="en-US" altLang="zh-CN" sz="1200" dirty="0">
                  <a:solidFill>
                    <a:srgbClr val="FFFFFF"/>
                  </a:solidFill>
                  <a:latin typeface="+mn-lt"/>
                  <a:ea typeface="微软雅黑" pitchFamily="34" charset="-122"/>
                </a:rPr>
                <a:t>The goals</a:t>
              </a:r>
            </a:p>
          </p:txBody>
        </p:sp>
      </p:grpSp>
    </p:spTree>
    <p:extLst>
      <p:ext uri="{BB962C8B-B14F-4D97-AF65-F5344CB8AC3E}">
        <p14:creationId xmlns:p14="http://schemas.microsoft.com/office/powerpoint/2010/main" val="4129155148"/>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969</TotalTime>
  <Words>575</Words>
  <Application>Microsoft Macintosh PowerPoint</Application>
  <PresentationFormat>On-screen Show (16:9)</PresentationFormat>
  <Paragraphs>27</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等线</vt:lpstr>
      <vt:lpstr>微软雅黑</vt:lpstr>
      <vt:lpstr>Arial</vt:lpstr>
      <vt:lpstr>Century Gothic</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Office PLUS</dc:creator>
  <cp:keywords/>
  <dc:description/>
  <cp:lastModifiedBy>Yingrui Yang</cp:lastModifiedBy>
  <cp:revision>144</cp:revision>
  <dcterms:created xsi:type="dcterms:W3CDTF">2010-04-12T23:12:02Z</dcterms:created>
  <dcterms:modified xsi:type="dcterms:W3CDTF">2025-11-27T16:26:36Z</dcterms:modified>
  <cp:category/>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y fmtid="{D5CDD505-2E9C-101B-9397-08002B2CF9AE}" pid="3" name="_Version">
    <vt:lpwstr/>
  </property>
  <property fmtid="{D5CDD505-2E9C-101B-9397-08002B2CF9AE}" pid="4" name="_Status">
    <vt:lpwstr>Not Started</vt:lpwstr>
  </property>
</Properties>
</file>