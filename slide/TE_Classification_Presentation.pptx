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12188952"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407408"/>
            <a:ext cx="12188952" cy="73152"/>
          </a:xfrm>
          <a:prstGeom prst="rect">
            <a:avLst/>
          </a:prstGeom>
          <a:solidFill>
            <a:srgbClr val="68D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10360152" cy="1371600"/>
          </a:xfrm>
          <a:prstGeom prst="rect">
            <a:avLst/>
          </a:prstGeom>
          <a:noFill/>
        </p:spPr>
        <p:txBody>
          <a:bodyPr wrap="square">
            <a:spAutoFit/>
          </a:bodyPr>
          <a:lstStyle/>
          <a:p>
            <a:pPr algn="ctr"/>
            <a:r>
              <a:rPr sz="3600" b="1">
                <a:solidFill>
                  <a:srgbClr val="003865"/>
                </a:solidFill>
                <a:latin typeface="Calibri"/>
              </a:rPr>
              <a:t>Machine Learning a Transposable Element Classifier</a:t>
            </a:r>
          </a:p>
        </p:txBody>
      </p:sp>
      <p:sp>
        <p:nvSpPr>
          <p:cNvPr id="6" name="TextBox 5"/>
          <p:cNvSpPr txBox="1"/>
          <p:nvPr/>
        </p:nvSpPr>
        <p:spPr>
          <a:xfrm>
            <a:off x="914400" y="3310128"/>
            <a:ext cx="10360152" cy="457200"/>
          </a:xfrm>
          <a:prstGeom prst="rect">
            <a:avLst/>
          </a:prstGeom>
          <a:noFill/>
        </p:spPr>
        <p:txBody>
          <a:bodyPr wrap="square">
            <a:spAutoFit/>
          </a:bodyPr>
          <a:lstStyle/>
          <a:p>
            <a:pPr algn="ctr"/>
            <a:r>
              <a:rPr sz="1600" b="0">
                <a:solidFill>
                  <a:srgbClr val="606060"/>
                </a:solidFill>
                <a:latin typeface="Calibri"/>
              </a:rPr>
              <a:t>Deep-learning classification of TEs from the Pantera VGP catalogue</a:t>
            </a:r>
          </a:p>
        </p:txBody>
      </p:sp>
      <p:sp>
        <p:nvSpPr>
          <p:cNvPr id="7" name="TextBox 6"/>
          <p:cNvSpPr txBox="1"/>
          <p:nvPr/>
        </p:nvSpPr>
        <p:spPr>
          <a:xfrm>
            <a:off x="914400" y="4663440"/>
            <a:ext cx="10360152" cy="1463040"/>
          </a:xfrm>
          <a:prstGeom prst="rect">
            <a:avLst/>
          </a:prstGeom>
          <a:noFill/>
        </p:spPr>
        <p:txBody>
          <a:bodyPr wrap="square">
            <a:spAutoFit/>
          </a:bodyPr>
          <a:lstStyle/>
          <a:p>
            <a:pPr algn="ctr"/>
            <a:r>
              <a:rPr sz="1600" b="0">
                <a:solidFill>
                  <a:srgbClr val="FFFFFF"/>
                </a:solidFill>
                <a:latin typeface="Calibri"/>
              </a:rPr>
              <a:t>Yingrui Yang
Supervisor: Prof. Richard Durbin
Day-to-day: Pio Sierra, Hadi Khan
Department of Genetics, University of Cambridge  |  2025</a:t>
            </a:r>
          </a:p>
        </p:txBody>
      </p:sp>
      <p:sp>
        <p:nvSpPr>
          <p:cNvPr id="8" name="Rectangle 7"/>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10" name="TextBox 9"/>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Outline</a:t>
            </a:r>
          </a:p>
        </p:txBody>
      </p:sp>
      <p:sp>
        <p:nvSpPr>
          <p:cNvPr id="4" name="Rectangle 3"/>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7" name="TextBox 6"/>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2</a:t>
            </a:r>
          </a:p>
        </p:txBody>
      </p:sp>
      <p:sp>
        <p:nvSpPr>
          <p:cNvPr id="8" name="TextBox 7"/>
          <p:cNvSpPr txBox="1"/>
          <p:nvPr/>
        </p:nvSpPr>
        <p:spPr>
          <a:xfrm>
            <a:off x="320040" y="1298448"/>
            <a:ext cx="5669280" cy="5102352"/>
          </a:xfrm>
          <a:prstGeom prst="rect">
            <a:avLst/>
          </a:prstGeom>
          <a:noFill/>
        </p:spPr>
        <p:txBody>
          <a:bodyPr wrap="square">
            <a:spAutoFit/>
          </a:bodyPr>
          <a:lstStyle/>
          <a:p>
            <a:pPr algn="l">
              <a:lnSpc>
                <a:spcPct val="130000"/>
              </a:lnSpc>
              <a:spcBef>
                <a:spcPts val="80"/>
              </a:spcBef>
            </a:pPr>
            <a:r>
              <a:rPr sz="1600">
                <a:solidFill>
                  <a:srgbClr val="3F4444"/>
                </a:solidFill>
                <a:latin typeface="Calibri"/>
              </a:rPr>
              <a:t>▪ Background: What are Transposable Elements?</a:t>
            </a:r>
          </a:p>
          <a:p>
            <a:pPr algn="l">
              <a:lnSpc>
                <a:spcPct val="130000"/>
              </a:lnSpc>
              <a:spcBef>
                <a:spcPts val="80"/>
              </a:spcBef>
            </a:pPr>
            <a:r>
              <a:rPr sz="1600">
                <a:solidFill>
                  <a:srgbClr val="3F4444"/>
                </a:solidFill>
                <a:latin typeface="Calibri"/>
              </a:rPr>
              <a:t>▪ The Pantera Catalogue &amp; Dataset</a:t>
            </a:r>
          </a:p>
          <a:p>
            <a:pPr algn="l">
              <a:lnSpc>
                <a:spcPct val="130000"/>
              </a:lnSpc>
              <a:spcBef>
                <a:spcPts val="80"/>
              </a:spcBef>
            </a:pPr>
            <a:r>
              <a:rPr sz="1600">
                <a:solidFill>
                  <a:srgbClr val="3F4444"/>
                </a:solidFill>
                <a:latin typeface="Calibri"/>
              </a:rPr>
              <a:t>▪ Project Goals</a:t>
            </a:r>
          </a:p>
          <a:p>
            <a:pPr algn="l">
              <a:lnSpc>
                <a:spcPct val="130000"/>
              </a:lnSpc>
              <a:spcBef>
                <a:spcPts val="80"/>
              </a:spcBef>
            </a:pPr>
            <a:r>
              <a:rPr sz="1600">
                <a:solidFill>
                  <a:srgbClr val="3F4444"/>
                </a:solidFill>
                <a:latin typeface="Calibri"/>
              </a:rPr>
              <a:t>▪ Model Architecture: CNN + GNN Hybrid</a:t>
            </a:r>
          </a:p>
          <a:p>
            <a:pPr algn="l">
              <a:lnSpc>
                <a:spcPct val="130000"/>
              </a:lnSpc>
              <a:spcBef>
                <a:spcPts val="80"/>
              </a:spcBef>
            </a:pPr>
            <a:r>
              <a:rPr sz="1600">
                <a:solidFill>
                  <a:srgbClr val="3F4444"/>
                </a:solidFill>
                <a:latin typeface="Calibri"/>
              </a:rPr>
              <a:t>▪ Three-Stage Evaluation Protocol</a:t>
            </a:r>
          </a:p>
          <a:p>
            <a:pPr algn="l">
              <a:lnSpc>
                <a:spcPct val="130000"/>
              </a:lnSpc>
              <a:spcBef>
                <a:spcPts val="80"/>
              </a:spcBef>
            </a:pPr>
            <a:r>
              <a:rPr sz="1600">
                <a:solidFill>
                  <a:srgbClr val="3F4444"/>
                </a:solidFill>
                <a:latin typeface="Calibri"/>
              </a:rPr>
              <a:t>▪ Stage 1 — Label Validation (v3, v4, v4.1)</a:t>
            </a:r>
          </a:p>
        </p:txBody>
      </p:sp>
      <p:sp>
        <p:nvSpPr>
          <p:cNvPr id="9" name="TextBox 8"/>
          <p:cNvSpPr txBox="1"/>
          <p:nvPr/>
        </p:nvSpPr>
        <p:spPr>
          <a:xfrm>
            <a:off x="6217920" y="1298448"/>
            <a:ext cx="5669280" cy="5102352"/>
          </a:xfrm>
          <a:prstGeom prst="rect">
            <a:avLst/>
          </a:prstGeom>
          <a:noFill/>
        </p:spPr>
        <p:txBody>
          <a:bodyPr wrap="square">
            <a:spAutoFit/>
          </a:bodyPr>
          <a:lstStyle/>
          <a:p>
            <a:pPr algn="l">
              <a:lnSpc>
                <a:spcPct val="130000"/>
              </a:lnSpc>
              <a:spcBef>
                <a:spcPts val="80"/>
              </a:spcBef>
            </a:pPr>
            <a:r>
              <a:rPr sz="1600">
                <a:solidFill>
                  <a:srgbClr val="3F4444"/>
                </a:solidFill>
                <a:latin typeface="Calibri"/>
              </a:rPr>
              <a:t>▪ Stage 2 — Species-Disjoint Protocol (v4.3)</a:t>
            </a:r>
          </a:p>
          <a:p>
            <a:pPr algn="l">
              <a:lnSpc>
                <a:spcPct val="130000"/>
              </a:lnSpc>
              <a:spcBef>
                <a:spcPts val="80"/>
              </a:spcBef>
            </a:pPr>
            <a:r>
              <a:rPr sz="1600">
                <a:solidFill>
                  <a:srgbClr val="3F4444"/>
                </a:solidFill>
                <a:latin typeface="Calibri"/>
              </a:rPr>
              <a:t>▪ k-mer Baseline &amp; Attention Gating</a:t>
            </a:r>
          </a:p>
          <a:p>
            <a:pPr algn="l">
              <a:lnSpc>
                <a:spcPct val="130000"/>
              </a:lnSpc>
              <a:spcBef>
                <a:spcPts val="80"/>
              </a:spcBef>
            </a:pPr>
            <a:r>
              <a:rPr sz="1600">
                <a:solidFill>
                  <a:srgbClr val="3F4444"/>
                </a:solidFill>
                <a:latin typeface="Calibri"/>
              </a:rPr>
              <a:t>▪ Stage 3 — Single-Fold Inner Split</a:t>
            </a:r>
          </a:p>
          <a:p>
            <a:pPr algn="l">
              <a:lnSpc>
                <a:spcPct val="130000"/>
              </a:lnSpc>
              <a:spcBef>
                <a:spcPts val="80"/>
              </a:spcBef>
            </a:pPr>
            <a:r>
              <a:rPr sz="1600">
                <a:solidFill>
                  <a:srgbClr val="3F4444"/>
                </a:solidFill>
                <a:latin typeface="Calibri"/>
              </a:rPr>
              <a:t>▪ Mini-Benchmark: Cross-Species Transfer</a:t>
            </a:r>
          </a:p>
          <a:p>
            <a:pPr algn="l">
              <a:lnSpc>
                <a:spcPct val="130000"/>
              </a:lnSpc>
              <a:spcBef>
                <a:spcPts val="80"/>
              </a:spcBef>
            </a:pPr>
            <a:r>
              <a:rPr sz="1600">
                <a:solidFill>
                  <a:srgbClr val="3F4444"/>
                </a:solidFill>
                <a:latin typeface="Calibri"/>
              </a:rPr>
              <a:t>▪ Interpretability: Saliency &amp; Clustering (v5)</a:t>
            </a:r>
          </a:p>
          <a:p>
            <a:pPr algn="l">
              <a:lnSpc>
                <a:spcPct val="130000"/>
              </a:lnSpc>
              <a:spcBef>
                <a:spcPts val="80"/>
              </a:spcBef>
            </a:pPr>
            <a:r>
              <a:rPr sz="1600">
                <a:solidFill>
                  <a:srgbClr val="3F4444"/>
                </a:solidFill>
                <a:latin typeface="Calibri"/>
              </a:rPr>
              <a:t>▪ Summary, Limitations &amp; Future Directions</a:t>
            </a:r>
          </a:p>
        </p:txBody>
      </p:sp>
      <p:sp>
        <p:nvSpPr>
          <p:cNvPr id="10" name="Rectangle 9"/>
          <p:cNvSpPr/>
          <p:nvPr/>
        </p:nvSpPr>
        <p:spPr>
          <a:xfrm>
            <a:off x="6080760" y="1298448"/>
            <a:ext cx="27432" cy="5102352"/>
          </a:xfrm>
          <a:prstGeom prst="rect">
            <a:avLst/>
          </a:prstGeom>
          <a:solidFill>
            <a:srgbClr val="68D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Background: What Are Transposable Elements?</a:t>
            </a:r>
          </a:p>
        </p:txBody>
      </p:sp>
      <p:sp>
        <p:nvSpPr>
          <p:cNvPr id="4" name="TextBox 3"/>
          <p:cNvSpPr txBox="1"/>
          <p:nvPr/>
        </p:nvSpPr>
        <p:spPr>
          <a:xfrm>
            <a:off x="320040" y="804672"/>
            <a:ext cx="11430000" cy="329184"/>
          </a:xfrm>
          <a:prstGeom prst="rect">
            <a:avLst/>
          </a:prstGeom>
          <a:noFill/>
        </p:spPr>
        <p:txBody>
          <a:bodyPr wrap="square">
            <a:spAutoFit/>
          </a:bodyPr>
          <a:lstStyle/>
          <a:p>
            <a:pPr algn="l"/>
            <a:r>
              <a:rPr sz="1300" b="0">
                <a:solidFill>
                  <a:srgbClr val="68D2DF"/>
                </a:solidFill>
                <a:latin typeface="Calibri"/>
              </a:rPr>
              <a:t>Mobile DNA sequences that propagate within host genomes</a:t>
            </a:r>
          </a:p>
        </p:txBody>
      </p:sp>
      <p:sp>
        <p:nvSpPr>
          <p:cNvPr id="5" name="Rectangle 4"/>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8" name="TextBox 7"/>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3</a:t>
            </a:r>
          </a:p>
        </p:txBody>
      </p:sp>
      <p:sp>
        <p:nvSpPr>
          <p:cNvPr id="9" name="TextBox 8"/>
          <p:cNvSpPr txBox="1"/>
          <p:nvPr/>
        </p:nvSpPr>
        <p:spPr>
          <a:xfrm>
            <a:off x="320040" y="1298448"/>
            <a:ext cx="7132320" cy="1097280"/>
          </a:xfrm>
          <a:prstGeom prst="rect">
            <a:avLst/>
          </a:prstGeom>
          <a:noFill/>
        </p:spPr>
        <p:txBody>
          <a:bodyPr wrap="square">
            <a:spAutoFit/>
          </a:bodyPr>
          <a:lstStyle/>
          <a:p>
            <a:pPr algn="l"/>
            <a:r>
              <a:rPr sz="1300" b="0">
                <a:solidFill>
                  <a:srgbClr val="555555"/>
                </a:solidFill>
                <a:latin typeface="Calibri"/>
              </a:rPr>
              <a:t>"TEs are mobile DNA sequences capable of independently replicating within host genomes. They typically range in length from 100 to 10,000 bp. Along with viruses, TEs are the most intricate selfish genetic elements."</a:t>
            </a:r>
          </a:p>
        </p:txBody>
      </p:sp>
      <p:sp>
        <p:nvSpPr>
          <p:cNvPr id="10" name="TextBox 9"/>
          <p:cNvSpPr txBox="1"/>
          <p:nvPr/>
        </p:nvSpPr>
        <p:spPr>
          <a:xfrm>
            <a:off x="320040" y="2414016"/>
            <a:ext cx="7132320" cy="256032"/>
          </a:xfrm>
          <a:prstGeom prst="rect">
            <a:avLst/>
          </a:prstGeom>
          <a:noFill/>
        </p:spPr>
        <p:txBody>
          <a:bodyPr wrap="square">
            <a:spAutoFit/>
          </a:bodyPr>
          <a:lstStyle/>
          <a:p>
            <a:pPr algn="l"/>
            <a:r>
              <a:rPr sz="1100" b="1">
                <a:solidFill>
                  <a:srgbClr val="D0006F"/>
                </a:solidFill>
                <a:latin typeface="Calibri"/>
              </a:rPr>
              <a:t>— Wells &amp; Feschotte (2020) Annu Rev Genet</a:t>
            </a:r>
          </a:p>
        </p:txBody>
      </p:sp>
      <p:sp>
        <p:nvSpPr>
          <p:cNvPr id="11" name="TextBox 10"/>
          <p:cNvSpPr txBox="1"/>
          <p:nvPr/>
        </p:nvSpPr>
        <p:spPr>
          <a:xfrm>
            <a:off x="320040" y="2779776"/>
            <a:ext cx="7132320" cy="1463040"/>
          </a:xfrm>
          <a:prstGeom prst="rect">
            <a:avLst/>
          </a:prstGeom>
          <a:noFill/>
        </p:spPr>
        <p:txBody>
          <a:bodyPr wrap="square">
            <a:spAutoFit/>
          </a:bodyPr>
          <a:lstStyle/>
          <a:p>
            <a:pPr algn="l">
              <a:lnSpc>
                <a:spcPct val="128000"/>
              </a:lnSpc>
              <a:spcBef>
                <a:spcPts val="90"/>
              </a:spcBef>
            </a:pPr>
            <a:r>
              <a:rPr sz="1500">
                <a:solidFill>
                  <a:srgbClr val="3F4444"/>
                </a:solidFill>
                <a:latin typeface="Calibri"/>
              </a:rPr>
              <a:t>▪ ~50% of the human genome; 10–80%+ across vertebrates</a:t>
            </a:r>
          </a:p>
          <a:p>
            <a:pPr algn="l">
              <a:lnSpc>
                <a:spcPct val="128000"/>
              </a:lnSpc>
              <a:spcBef>
                <a:spcPts val="90"/>
              </a:spcBef>
            </a:pPr>
            <a:r>
              <a:rPr sz="1500">
                <a:solidFill>
                  <a:srgbClr val="3F4444"/>
                </a:solidFill>
                <a:latin typeface="Calibri"/>
              </a:rPr>
              <a:t>▪ Autonomous elements encode mobilisation enzymes (transposase / reverse transcriptase)</a:t>
            </a:r>
          </a:p>
          <a:p>
            <a:pPr algn="l">
              <a:lnSpc>
                <a:spcPct val="128000"/>
              </a:lnSpc>
              <a:spcBef>
                <a:spcPts val="90"/>
              </a:spcBef>
            </a:pPr>
            <a:r>
              <a:rPr sz="1500">
                <a:solidFill>
                  <a:srgbClr val="3F4444"/>
                </a:solidFill>
                <a:latin typeface="Calibri"/>
              </a:rPr>
              <a:t>▪ Non-autonomous elements parasitise the machinery of an active driver element</a:t>
            </a:r>
          </a:p>
        </p:txBody>
      </p:sp>
      <p:sp>
        <p:nvSpPr>
          <p:cNvPr id="12" name="TextBox 11"/>
          <p:cNvSpPr txBox="1"/>
          <p:nvPr/>
        </p:nvSpPr>
        <p:spPr>
          <a:xfrm>
            <a:off x="320040" y="4361688"/>
            <a:ext cx="7132320" cy="320040"/>
          </a:xfrm>
          <a:prstGeom prst="rect">
            <a:avLst/>
          </a:prstGeom>
          <a:noFill/>
        </p:spPr>
        <p:txBody>
          <a:bodyPr wrap="square">
            <a:spAutoFit/>
          </a:bodyPr>
          <a:lstStyle/>
          <a:p>
            <a:pPr algn="l"/>
            <a:r>
              <a:rPr sz="1500" b="1">
                <a:solidFill>
                  <a:srgbClr val="003865"/>
                </a:solidFill>
                <a:latin typeface="Calibri"/>
              </a:rPr>
              <a:t>Hallmark sequence features by class:</a:t>
            </a:r>
          </a:p>
        </p:txBody>
      </p:sp>
      <p:sp>
        <p:nvSpPr>
          <p:cNvPr id="13" name="TextBox 12"/>
          <p:cNvSpPr txBox="1"/>
          <p:nvPr/>
        </p:nvSpPr>
        <p:spPr>
          <a:xfrm>
            <a:off x="320040" y="4700016"/>
            <a:ext cx="7132320" cy="1645920"/>
          </a:xfrm>
          <a:prstGeom prst="rect">
            <a:avLst/>
          </a:prstGeom>
          <a:noFill/>
        </p:spPr>
        <p:txBody>
          <a:bodyPr wrap="square">
            <a:spAutoFit/>
          </a:bodyPr>
          <a:lstStyle/>
          <a:p>
            <a:pPr algn="l">
              <a:lnSpc>
                <a:spcPct val="120000"/>
              </a:lnSpc>
              <a:spcBef>
                <a:spcPts val="60"/>
              </a:spcBef>
            </a:pPr>
            <a:r>
              <a:rPr sz="1400">
                <a:solidFill>
                  <a:srgbClr val="3F4444"/>
                </a:solidFill>
                <a:latin typeface="Calibri"/>
              </a:rPr>
              <a:t>  Class I (Retrotransposons)  ·  LTR: flanked by Long Terminal Repeats (200–600 bp)</a:t>
            </a:r>
          </a:p>
          <a:p>
            <a:pPr algn="l">
              <a:lnSpc>
                <a:spcPct val="120000"/>
              </a:lnSpc>
              <a:spcBef>
                <a:spcPts val="60"/>
              </a:spcBef>
            </a:pPr>
            <a:r>
              <a:rPr sz="1400">
                <a:solidFill>
                  <a:srgbClr val="3F4444"/>
                </a:solidFill>
                <a:latin typeface="Calibri"/>
              </a:rPr>
              <a:t>  Class I (Retrotransposons)  ·  LINEs: poly-A tail, target-primed reverse transcription</a:t>
            </a:r>
          </a:p>
          <a:p>
            <a:pPr algn="l">
              <a:lnSpc>
                <a:spcPct val="120000"/>
              </a:lnSpc>
              <a:spcBef>
                <a:spcPts val="60"/>
              </a:spcBef>
            </a:pPr>
            <a:r>
              <a:rPr sz="1400">
                <a:solidFill>
                  <a:srgbClr val="3F4444"/>
                </a:solidFill>
                <a:latin typeface="Calibri"/>
              </a:rPr>
              <a:t>  Class II (DNA Transposons) ·  TIRs: Terminal Inverted Repeats (10–50 bp), cut-and-paste</a:t>
            </a:r>
          </a:p>
        </p:txBody>
      </p:sp>
      <p:pic>
        <p:nvPicPr>
          <p:cNvPr id="14" name="Picture 13" descr="superfamily_class_distribution.png"/>
          <p:cNvPicPr>
            <a:picLocks noChangeAspect="1"/>
          </p:cNvPicPr>
          <p:nvPr/>
        </p:nvPicPr>
        <p:blipFill>
          <a:blip r:embed="rId2"/>
          <a:stretch>
            <a:fillRect/>
          </a:stretch>
        </p:blipFill>
        <p:spPr>
          <a:xfrm>
            <a:off x="7772400" y="1298448"/>
            <a:ext cx="4114800" cy="43891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The Pantera Catalogue</a:t>
            </a:r>
          </a:p>
        </p:txBody>
      </p:sp>
      <p:sp>
        <p:nvSpPr>
          <p:cNvPr id="4" name="TextBox 3"/>
          <p:cNvSpPr txBox="1"/>
          <p:nvPr/>
        </p:nvSpPr>
        <p:spPr>
          <a:xfrm>
            <a:off x="320040" y="804672"/>
            <a:ext cx="11430000" cy="329184"/>
          </a:xfrm>
          <a:prstGeom prst="rect">
            <a:avLst/>
          </a:prstGeom>
          <a:noFill/>
        </p:spPr>
        <p:txBody>
          <a:bodyPr wrap="square">
            <a:spAutoFit/>
          </a:bodyPr>
          <a:lstStyle/>
          <a:p>
            <a:pPr algn="l"/>
            <a:r>
              <a:rPr sz="1300" b="0">
                <a:solidFill>
                  <a:srgbClr val="68D2DF"/>
                </a:solidFill>
                <a:latin typeface="Calibri"/>
              </a:rPr>
              <a:t>Alignment-independent TE detection from pangenome polymorphisms (Sierra &amp; Durbin 2024)</a:t>
            </a:r>
          </a:p>
        </p:txBody>
      </p:sp>
      <p:sp>
        <p:nvSpPr>
          <p:cNvPr id="5" name="Rectangle 4"/>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8" name="TextBox 7"/>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4</a:t>
            </a:r>
          </a:p>
        </p:txBody>
      </p:sp>
      <p:sp>
        <p:nvSpPr>
          <p:cNvPr id="9" name="TextBox 8"/>
          <p:cNvSpPr txBox="1"/>
          <p:nvPr/>
        </p:nvSpPr>
        <p:spPr>
          <a:xfrm>
            <a:off x="320040" y="1298448"/>
            <a:ext cx="6949440" cy="2286000"/>
          </a:xfrm>
          <a:prstGeom prst="rect">
            <a:avLst/>
          </a:prstGeom>
          <a:noFill/>
        </p:spPr>
        <p:txBody>
          <a:bodyPr wrap="square">
            <a:spAutoFit/>
          </a:bodyPr>
          <a:lstStyle/>
          <a:p>
            <a:pPr algn="l">
              <a:lnSpc>
                <a:spcPct val="130000"/>
              </a:lnSpc>
              <a:spcBef>
                <a:spcPts val="80"/>
              </a:spcBef>
            </a:pPr>
            <a:r>
              <a:rPr sz="1600">
                <a:solidFill>
                  <a:srgbClr val="3F4444"/>
                </a:solidFill>
                <a:latin typeface="Calibri"/>
              </a:rPr>
              <a:t>▪ Identifies TE families from insertions absent in some haplotypes — no reference library bias</a:t>
            </a:r>
          </a:p>
          <a:p>
            <a:pPr algn="l">
              <a:lnSpc>
                <a:spcPct val="130000"/>
              </a:lnSpc>
              <a:spcBef>
                <a:spcPts val="80"/>
              </a:spcBef>
            </a:pPr>
            <a:r>
              <a:rPr sz="1600">
                <a:solidFill>
                  <a:srgbClr val="3F4444"/>
                </a:solidFill>
                <a:latin typeface="Calibri"/>
              </a:rPr>
              <a:t>▪ Applied to Vertebrate Genomes Project (VGP): high-quality long-read assemblies</a:t>
            </a:r>
          </a:p>
          <a:p>
            <a:pPr algn="l">
              <a:lnSpc>
                <a:spcPct val="130000"/>
              </a:lnSpc>
              <a:spcBef>
                <a:spcPts val="80"/>
              </a:spcBef>
            </a:pPr>
            <a:r>
              <a:rPr sz="1600">
                <a:solidFill>
                  <a:srgbClr val="3F4444"/>
                </a:solidFill>
                <a:latin typeface="Calibri"/>
              </a:rPr>
              <a:t>▪ 135,751 sequences from 512 unique vertebrate species → the training corpus for this project</a:t>
            </a:r>
          </a:p>
          <a:p>
            <a:pPr algn="l">
              <a:lnSpc>
                <a:spcPct val="130000"/>
              </a:lnSpc>
              <a:spcBef>
                <a:spcPts val="80"/>
              </a:spcBef>
            </a:pPr>
            <a:r>
              <a:rPr sz="1600">
                <a:solidFill>
                  <a:srgbClr val="3F4444"/>
                </a:solidFill>
                <a:latin typeface="Calibri"/>
              </a:rPr>
              <a:t>▪ Sequence lengths: 173 bp – 19,907 bp (median 3,263 bp); heavily imbalanced across superfamilies</a:t>
            </a:r>
          </a:p>
        </p:txBody>
      </p:sp>
      <p:sp>
        <p:nvSpPr>
          <p:cNvPr id="10" name="Rectangle 9"/>
          <p:cNvSpPr/>
          <p:nvPr/>
        </p:nvSpPr>
        <p:spPr>
          <a:xfrm>
            <a:off x="320040" y="3694176"/>
            <a:ext cx="7040880" cy="192024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785616"/>
            <a:ext cx="6766560" cy="320040"/>
          </a:xfrm>
          <a:prstGeom prst="rect">
            <a:avLst/>
          </a:prstGeom>
          <a:noFill/>
        </p:spPr>
        <p:txBody>
          <a:bodyPr wrap="square">
            <a:spAutoFit/>
          </a:bodyPr>
          <a:lstStyle/>
          <a:p>
            <a:pPr algn="l"/>
            <a:r>
              <a:rPr sz="1500" b="1">
                <a:solidFill>
                  <a:srgbClr val="003865"/>
                </a:solidFill>
                <a:latin typeface="Calibri"/>
              </a:rPr>
              <a:t>Why do we need a learned classifier?</a:t>
            </a:r>
          </a:p>
        </p:txBody>
      </p:sp>
      <p:sp>
        <p:nvSpPr>
          <p:cNvPr id="12" name="TextBox 11"/>
          <p:cNvSpPr txBox="1"/>
          <p:nvPr/>
        </p:nvSpPr>
        <p:spPr>
          <a:xfrm>
            <a:off x="457200" y="4133088"/>
            <a:ext cx="6766560" cy="1280160"/>
          </a:xfrm>
          <a:prstGeom prst="rect">
            <a:avLst/>
          </a:prstGeom>
          <a:noFill/>
        </p:spPr>
        <p:txBody>
          <a:bodyPr wrap="square">
            <a:spAutoFit/>
          </a:bodyPr>
          <a:lstStyle/>
          <a:p>
            <a:pPr algn="l">
              <a:lnSpc>
                <a:spcPct val="120000"/>
              </a:lnSpc>
              <a:spcBef>
                <a:spcPts val="60"/>
              </a:spcBef>
            </a:pPr>
            <a:r>
              <a:rPr sz="1300">
                <a:solidFill>
                  <a:srgbClr val="3F4444"/>
                </a:solidFill>
                <a:latin typeface="Calibri"/>
              </a:rPr>
              <a:t>▪ RepeatMasker / Dfam rely on curated libraries — miss divergent or novel families</a:t>
            </a:r>
          </a:p>
          <a:p>
            <a:pPr algn="l">
              <a:lnSpc>
                <a:spcPct val="120000"/>
              </a:lnSpc>
              <a:spcBef>
                <a:spcPts val="60"/>
              </a:spcBef>
            </a:pPr>
            <a:r>
              <a:rPr sz="1300">
                <a:solidFill>
                  <a:srgbClr val="3F4444"/>
                </a:solidFill>
                <a:latin typeface="Calibri"/>
              </a:rPr>
              <a:t>▪ Non-autonomous elements are especially hard to assign to driver superfamilies</a:t>
            </a:r>
          </a:p>
          <a:p>
            <a:pPr algn="l">
              <a:lnSpc>
                <a:spcPct val="120000"/>
              </a:lnSpc>
              <a:spcBef>
                <a:spcPts val="60"/>
              </a:spcBef>
            </a:pPr>
            <a:r>
              <a:rPr sz="1300">
                <a:solidFill>
                  <a:srgbClr val="3F4444"/>
                </a:solidFill>
                <a:latin typeface="Calibri"/>
              </a:rPr>
              <a:t>▪ Alignment scales poorly with long-read assembly volume from projects like VGP</a:t>
            </a:r>
          </a:p>
        </p:txBody>
      </p:sp>
      <p:pic>
        <p:nvPicPr>
          <p:cNvPr id="13" name="Picture 12" descr="superfamily_distribution_bar.png"/>
          <p:cNvPicPr>
            <a:picLocks noChangeAspect="1"/>
          </p:cNvPicPr>
          <p:nvPr/>
        </p:nvPicPr>
        <p:blipFill>
          <a:blip r:embed="rId2"/>
          <a:stretch>
            <a:fillRect/>
          </a:stretch>
        </p:blipFill>
        <p:spPr>
          <a:xfrm>
            <a:off x="7772400" y="1298448"/>
            <a:ext cx="4114800" cy="43891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Project Goals</a:t>
            </a:r>
          </a:p>
        </p:txBody>
      </p:sp>
      <p:sp>
        <p:nvSpPr>
          <p:cNvPr id="4" name="Rectangle 3"/>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7" name="TextBox 6"/>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5</a:t>
            </a:r>
          </a:p>
        </p:txBody>
      </p:sp>
      <p:sp>
        <p:nvSpPr>
          <p:cNvPr id="8" name="TextBox 7"/>
          <p:cNvSpPr txBox="1"/>
          <p:nvPr/>
        </p:nvSpPr>
        <p:spPr>
          <a:xfrm>
            <a:off x="320040" y="1389888"/>
            <a:ext cx="11548872" cy="4023360"/>
          </a:xfrm>
          <a:prstGeom prst="rect">
            <a:avLst/>
          </a:prstGeom>
          <a:noFill/>
        </p:spPr>
        <p:txBody>
          <a:bodyPr wrap="square">
            <a:spAutoFit/>
          </a:bodyPr>
          <a:lstStyle/>
          <a:p>
            <a:pPr algn="l">
              <a:lnSpc>
                <a:spcPct val="140000"/>
              </a:lnSpc>
              <a:spcBef>
                <a:spcPts val="100"/>
              </a:spcBef>
            </a:pPr>
            <a:r>
              <a:rPr sz="1800">
                <a:solidFill>
                  <a:srgbClr val="3F4444"/>
                </a:solidFill>
                <a:latin typeface="Calibri"/>
              </a:rPr>
              <a:t>▪ Build machine learning models to classify TE sequences collected by Pantera</a:t>
            </a:r>
          </a:p>
          <a:p>
            <a:pPr algn="l">
              <a:lnSpc>
                <a:spcPct val="140000"/>
              </a:lnSpc>
              <a:spcBef>
                <a:spcPts val="100"/>
              </a:spcBef>
            </a:pPr>
            <a:r>
              <a:rPr sz="1800">
                <a:solidFill>
                  <a:srgbClr val="3F4444"/>
                </a:solidFill>
                <a:latin typeface="Calibri"/>
              </a:rPr>
              <a:t>▪ Implement CNN to capture local sequence motifs (TIR signals, internal repeats) via one-hot encoding</a:t>
            </a:r>
          </a:p>
          <a:p>
            <a:pPr algn="l">
              <a:lnSpc>
                <a:spcPct val="140000"/>
              </a:lnSpc>
              <a:spcBef>
                <a:spcPts val="100"/>
              </a:spcBef>
            </a:pPr>
            <a:r>
              <a:rPr sz="1800">
                <a:solidFill>
                  <a:srgbClr val="3F4444"/>
                </a:solidFill>
                <a:latin typeface="Calibri"/>
              </a:rPr>
              <a:t>▪ Implement k-mer GNN to exploit global compositional patterns across the sequence</a:t>
            </a:r>
          </a:p>
          <a:p>
            <a:pPr algn="l">
              <a:lnSpc>
                <a:spcPct val="140000"/>
              </a:lnSpc>
              <a:spcBef>
                <a:spcPts val="100"/>
              </a:spcBef>
            </a:pPr>
            <a:r>
              <a:rPr sz="1800">
                <a:solidFill>
                  <a:srgbClr val="3F4444"/>
                </a:solidFill>
                <a:latin typeface="Calibri"/>
              </a:rPr>
              <a:t>▪ Incorporate attention-based fusion to balance both modalities adaptively per input</a:t>
            </a:r>
          </a:p>
          <a:p>
            <a:pPr algn="l">
              <a:lnSpc>
                <a:spcPct val="140000"/>
              </a:lnSpc>
              <a:spcBef>
                <a:spcPts val="100"/>
              </a:spcBef>
            </a:pPr>
            <a:r>
              <a:rPr sz="1800">
                <a:solidFill>
                  <a:srgbClr val="3F4444"/>
                </a:solidFill>
                <a:latin typeface="Calibri"/>
              </a:rPr>
              <a:t>▪ Design hierarchical classification heads (top-level class + superfamily) mirroring TE biology</a:t>
            </a:r>
          </a:p>
          <a:p>
            <a:pPr algn="l">
              <a:lnSpc>
                <a:spcPct val="140000"/>
              </a:lnSpc>
              <a:spcBef>
                <a:spcPts val="100"/>
              </a:spcBef>
            </a:pPr>
            <a:r>
              <a:rPr sz="1800">
                <a:solidFill>
                  <a:srgbClr val="3F4444"/>
                </a:solidFill>
                <a:latin typeface="Calibri"/>
              </a:rPr>
              <a:t>▪ Evaluate cross-species generalisation with a species-disjoint mini-benchmark (3 amniote genomes)</a:t>
            </a:r>
          </a:p>
          <a:p>
            <a:pPr algn="l">
              <a:lnSpc>
                <a:spcPct val="140000"/>
              </a:lnSpc>
              <a:spcBef>
                <a:spcPts val="100"/>
              </a:spcBef>
            </a:pPr>
            <a:r>
              <a:rPr sz="1800">
                <a:solidFill>
                  <a:srgbClr val="3F4444"/>
                </a:solidFill>
                <a:latin typeface="Calibri"/>
              </a:rPr>
              <a:t>▪ Use interpretability tools (saliency, contrastive clustering) to probe learned representations</a:t>
            </a:r>
          </a:p>
        </p:txBody>
      </p:sp>
      <p:sp>
        <p:nvSpPr>
          <p:cNvPr id="9" name="Rectangle 8"/>
          <p:cNvSpPr/>
          <p:nvPr/>
        </p:nvSpPr>
        <p:spPr>
          <a:xfrm>
            <a:off x="0" y="5852160"/>
            <a:ext cx="12188952" cy="621792"/>
          </a:xfrm>
          <a:prstGeom prst="rect">
            <a:avLst/>
          </a:prstGeom>
          <a:solidFill>
            <a:srgbClr val="FFF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5925312"/>
            <a:ext cx="11548872" cy="512064"/>
          </a:xfrm>
          <a:prstGeom prst="rect">
            <a:avLst/>
          </a:prstGeom>
          <a:noFill/>
        </p:spPr>
        <p:txBody>
          <a:bodyPr wrap="square">
            <a:spAutoFit/>
          </a:bodyPr>
          <a:lstStyle/>
          <a:p>
            <a:pPr algn="l"/>
            <a:r>
              <a:rPr sz="1400" b="0">
                <a:solidFill>
                  <a:srgbClr val="3F4444"/>
                </a:solidFill>
                <a:latin typeface="Calibri"/>
              </a:rPr>
              <a:t>Stretch: apply unsupervised / generative models to discover novel TE families and link non-autonomous elements to drivers.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Model Architecture: CNN + GNN Hybrid (v4)</a:t>
            </a:r>
          </a:p>
        </p:txBody>
      </p:sp>
      <p:sp>
        <p:nvSpPr>
          <p:cNvPr id="4" name="TextBox 3"/>
          <p:cNvSpPr txBox="1"/>
          <p:nvPr/>
        </p:nvSpPr>
        <p:spPr>
          <a:xfrm>
            <a:off x="320040" y="804672"/>
            <a:ext cx="11430000" cy="329184"/>
          </a:xfrm>
          <a:prstGeom prst="rect">
            <a:avLst/>
          </a:prstGeom>
          <a:noFill/>
        </p:spPr>
        <p:txBody>
          <a:bodyPr wrap="square">
            <a:spAutoFit/>
          </a:bodyPr>
          <a:lstStyle/>
          <a:p>
            <a:pPr algn="l"/>
            <a:r>
              <a:rPr sz="1300" b="0">
                <a:solidFill>
                  <a:srgbClr val="68D2DF"/>
                </a:solidFill>
                <a:latin typeface="Calibri"/>
              </a:rPr>
              <a:t>Dual-branch encoder with attention gating and hierarchical classification heads</a:t>
            </a:r>
          </a:p>
        </p:txBody>
      </p:sp>
      <p:sp>
        <p:nvSpPr>
          <p:cNvPr id="5" name="Rectangle 4"/>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8" name="TextBox 7"/>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6</a:t>
            </a:r>
          </a:p>
        </p:txBody>
      </p:sp>
      <p:sp>
        <p:nvSpPr>
          <p:cNvPr id="9" name="TextBox 8"/>
          <p:cNvSpPr txBox="1"/>
          <p:nvPr/>
        </p:nvSpPr>
        <p:spPr>
          <a:xfrm>
            <a:off x="320040" y="1298448"/>
            <a:ext cx="7589520" cy="4389120"/>
          </a:xfrm>
          <a:prstGeom prst="rect">
            <a:avLst/>
          </a:prstGeom>
          <a:noFill/>
        </p:spPr>
        <p:txBody>
          <a:bodyPr wrap="square">
            <a:spAutoFit/>
          </a:bodyPr>
          <a:lstStyle/>
          <a:p>
            <a:pPr algn="l">
              <a:lnSpc>
                <a:spcPct val="125000"/>
              </a:lnSpc>
              <a:spcBef>
                <a:spcPts val="90"/>
              </a:spcBef>
            </a:pPr>
            <a:r>
              <a:rPr sz="1400">
                <a:solidFill>
                  <a:srgbClr val="3F4444"/>
                </a:solidFill>
                <a:latin typeface="Calibri"/>
              </a:rPr>
              <a:t>▪ CNN Tower: 3 parallel branches (kernels 7/15/21 bp, 128 maps) → 4 dilated blocks (dilation 1–8, GELU, BN, dropout 0.15, residual) → masked global-avg pool → 128-dim embedding</a:t>
            </a:r>
          </a:p>
          <a:p>
            <a:pPr algn="l">
              <a:lnSpc>
                <a:spcPct val="125000"/>
              </a:lnSpc>
              <a:spcBef>
                <a:spcPts val="90"/>
              </a:spcBef>
            </a:pPr>
            <a:r>
              <a:rPr sz="1400">
                <a:solidFill>
                  <a:srgbClr val="3F4444"/>
                </a:solidFill>
                <a:latin typeface="Calibri"/>
              </a:rPr>
              <a:t>▪ GNN Branch: 512 bp windows (50% overlap) → canonical 7-mer histogram (2048-dim hash) → chain graph → 3-layer GraphSAGE → scatter-mean pool → 128-dim embedding</a:t>
            </a:r>
          </a:p>
          <a:p>
            <a:pPr algn="l">
              <a:lnSpc>
                <a:spcPct val="125000"/>
              </a:lnSpc>
              <a:spcBef>
                <a:spcPts val="90"/>
              </a:spcBef>
            </a:pPr>
            <a:r>
              <a:rPr sz="1400">
                <a:solidFill>
                  <a:srgbClr val="3F4444"/>
                </a:solidFill>
                <a:latin typeface="Calibri"/>
              </a:rPr>
              <a:t>▪ Attention Gate: per-input 2-element softmax over CNN vs. GNN branches (convex combination, learned per sequence)</a:t>
            </a:r>
          </a:p>
          <a:p>
            <a:pPr algn="l">
              <a:lnSpc>
                <a:spcPct val="125000"/>
              </a:lnSpc>
              <a:spcBef>
                <a:spcPts val="90"/>
              </a:spcBef>
            </a:pPr>
            <a:r>
              <a:rPr sz="1400">
                <a:solidFill>
                  <a:srgbClr val="3F4444"/>
                </a:solidFill>
                <a:latin typeface="Calibri"/>
              </a:rPr>
              <a:t>▪ RC Invariance: forward + reverse-complement views averaged before heads — no extra parameters</a:t>
            </a:r>
          </a:p>
          <a:p>
            <a:pPr algn="l">
              <a:lnSpc>
                <a:spcPct val="125000"/>
              </a:lnSpc>
              <a:spcBef>
                <a:spcPts val="90"/>
              </a:spcBef>
            </a:pPr>
            <a:r>
              <a:rPr sz="1400">
                <a:solidFill>
                  <a:srgbClr val="3F4444"/>
                </a:solidFill>
                <a:latin typeface="Calibri"/>
              </a:rPr>
              <a:t>▪ Hierarchical Heads: top-level (binary or 3-class DNA/LTR/LINE) + superfamily head (7 or 23 classes, masked loss)</a:t>
            </a:r>
          </a:p>
          <a:p>
            <a:pPr algn="l">
              <a:lnSpc>
                <a:spcPct val="125000"/>
              </a:lnSpc>
              <a:spcBef>
                <a:spcPts val="90"/>
              </a:spcBef>
            </a:pPr>
            <a:r>
              <a:rPr sz="1400">
                <a:solidFill>
                  <a:srgbClr val="3F4444"/>
                </a:solidFill>
                <a:latin typeface="Calibri"/>
              </a:rPr>
              <a:t>▪ Boundary Regression: auxiliary MLP predicts normalised start/end/length on canvas (MSE, weight 0.1)</a:t>
            </a:r>
          </a:p>
        </p:txBody>
      </p:sp>
      <p:sp>
        <p:nvSpPr>
          <p:cNvPr id="10" name="Rectangle 9"/>
          <p:cNvSpPr/>
          <p:nvPr/>
        </p:nvSpPr>
        <p:spPr>
          <a:xfrm>
            <a:off x="8046720" y="1298448"/>
            <a:ext cx="3840480" cy="438912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1408176"/>
            <a:ext cx="3566160" cy="347472"/>
          </a:xfrm>
          <a:prstGeom prst="rect">
            <a:avLst/>
          </a:prstGeom>
          <a:noFill/>
        </p:spPr>
        <p:txBody>
          <a:bodyPr wrap="square">
            <a:spAutoFit/>
          </a:bodyPr>
          <a:lstStyle/>
          <a:p>
            <a:pPr algn="l"/>
            <a:r>
              <a:rPr sz="1400" b="1">
                <a:solidFill>
                  <a:srgbClr val="003865"/>
                </a:solidFill>
                <a:latin typeface="Calibri"/>
              </a:rPr>
              <a:t>Training Setup</a:t>
            </a:r>
          </a:p>
        </p:txBody>
      </p:sp>
      <p:sp>
        <p:nvSpPr>
          <p:cNvPr id="12" name="TextBox 11"/>
          <p:cNvSpPr txBox="1"/>
          <p:nvPr/>
        </p:nvSpPr>
        <p:spPr>
          <a:xfrm>
            <a:off x="8183879" y="1792224"/>
            <a:ext cx="3566160" cy="3657600"/>
          </a:xfrm>
          <a:prstGeom prst="rect">
            <a:avLst/>
          </a:prstGeom>
          <a:noFill/>
        </p:spPr>
        <p:txBody>
          <a:bodyPr wrap="square">
            <a:spAutoFit/>
          </a:bodyPr>
          <a:lstStyle/>
          <a:p>
            <a:pPr algn="l">
              <a:lnSpc>
                <a:spcPct val="118000"/>
              </a:lnSpc>
              <a:spcBef>
                <a:spcPts val="70"/>
              </a:spcBef>
            </a:pPr>
            <a:r>
              <a:rPr sz="1300">
                <a:solidFill>
                  <a:srgbClr val="3F4444"/>
                </a:solidFill>
                <a:latin typeface="Calibri"/>
              </a:rPr>
              <a:t>• AdamW, lr = 1e-3, cosine annealing</a:t>
            </a:r>
          </a:p>
          <a:p>
            <a:pPr algn="l">
              <a:lnSpc>
                <a:spcPct val="118000"/>
              </a:lnSpc>
              <a:spcBef>
                <a:spcPts val="70"/>
              </a:spcBef>
            </a:pPr>
            <a:r>
              <a:rPr sz="1300">
                <a:solidFill>
                  <a:srgbClr val="3F4444"/>
                </a:solidFill>
                <a:latin typeface="Calibri"/>
              </a:rPr>
              <a:t>• Batch: 16 (hybrid), 32 (CNN-only)</a:t>
            </a:r>
          </a:p>
          <a:p>
            <a:pPr algn="l">
              <a:lnSpc>
                <a:spcPct val="118000"/>
              </a:lnSpc>
              <a:spcBef>
                <a:spcPts val="70"/>
              </a:spcBef>
            </a:pPr>
            <a:r>
              <a:rPr sz="1300">
                <a:solidFill>
                  <a:srgbClr val="3F4444"/>
                </a:solidFill>
                <a:latin typeface="Calibri"/>
              </a:rPr>
              <a:t>• Canvas: 40 kb, random placement</a:t>
            </a:r>
          </a:p>
          <a:p>
            <a:pPr algn="l">
              <a:lnSpc>
                <a:spcPct val="118000"/>
              </a:lnSpc>
              <a:spcBef>
                <a:spcPts val="70"/>
              </a:spcBef>
            </a:pPr>
            <a:r>
              <a:rPr sz="1300">
                <a:solidFill>
                  <a:srgbClr val="3F4444"/>
                </a:solidFill>
                <a:latin typeface="Calibri"/>
              </a:rPr>
              <a:t>• Dropout: 0.15, label smooth: 0.1</a:t>
            </a:r>
          </a:p>
          <a:p>
            <a:pPr algn="l">
              <a:lnSpc>
                <a:spcPct val="118000"/>
              </a:lnSpc>
              <a:spcBef>
                <a:spcPts val="70"/>
              </a:spcBef>
            </a:pPr>
            <a:r>
              <a:rPr sz="1300">
                <a:solidFill>
                  <a:srgbClr val="3F4444"/>
                </a:solidFill>
                <a:latin typeface="Calibri"/>
              </a:rPr>
              <a:t>• Early stop: patience 10, cap 40 ep</a:t>
            </a:r>
          </a:p>
          <a:p>
            <a:pPr algn="l">
              <a:lnSpc>
                <a:spcPct val="118000"/>
              </a:lnSpc>
              <a:spcBef>
                <a:spcPts val="70"/>
              </a:spcBef>
            </a:pPr>
            <a:r>
              <a:rPr sz="1300">
                <a:solidFill>
                  <a:srgbClr val="3F4444"/>
                </a:solidFill>
                <a:latin typeface="Calibri"/>
              </a:rPr>
              <a:t>• Hardware: Apple MPS / NVIDIA A100</a:t>
            </a:r>
          </a:p>
          <a:p>
            <a:pPr algn="l">
              <a:lnSpc>
                <a:spcPct val="118000"/>
              </a:lnSpc>
              <a:spcBef>
                <a:spcPts val="70"/>
              </a:spcBef>
            </a:pPr>
            <a:r>
              <a:rPr sz="1300">
                <a:solidFill>
                  <a:srgbClr val="3F4444"/>
                </a:solidFill>
                <a:latin typeface="Calibri"/>
              </a:rPr>
              <a:t>• Framework: PyTorch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Three-Stage Evaluation Protocol</a:t>
            </a:r>
          </a:p>
        </p:txBody>
      </p:sp>
      <p:sp>
        <p:nvSpPr>
          <p:cNvPr id="4" name="TextBox 3"/>
          <p:cNvSpPr txBox="1"/>
          <p:nvPr/>
        </p:nvSpPr>
        <p:spPr>
          <a:xfrm>
            <a:off x="320040" y="804672"/>
            <a:ext cx="11430000" cy="329184"/>
          </a:xfrm>
          <a:prstGeom prst="rect">
            <a:avLst/>
          </a:prstGeom>
          <a:noFill/>
        </p:spPr>
        <p:txBody>
          <a:bodyPr wrap="square">
            <a:spAutoFit/>
          </a:bodyPr>
          <a:lstStyle/>
          <a:p>
            <a:pPr algn="l"/>
            <a:r>
              <a:rPr sz="1300" b="0">
                <a:solidFill>
                  <a:srgbClr val="68D2DF"/>
                </a:solidFill>
                <a:latin typeface="Calibri"/>
              </a:rPr>
              <a:t>Progressively stricter data splits — separating architecture effects from evaluation artefacts</a:t>
            </a:r>
          </a:p>
        </p:txBody>
      </p:sp>
      <p:sp>
        <p:nvSpPr>
          <p:cNvPr id="5" name="Rectangle 4"/>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8" name="TextBox 7"/>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7</a:t>
            </a:r>
          </a:p>
        </p:txBody>
      </p:sp>
      <p:sp>
        <p:nvSpPr>
          <p:cNvPr id="9" name="Rectangle 8"/>
          <p:cNvSpPr/>
          <p:nvPr/>
        </p:nvSpPr>
        <p:spPr>
          <a:xfrm>
            <a:off x="320040" y="1298448"/>
            <a:ext cx="3611880" cy="420624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 y="1371600"/>
            <a:ext cx="3392424" cy="548640"/>
          </a:xfrm>
          <a:prstGeom prst="rect">
            <a:avLst/>
          </a:prstGeom>
          <a:noFill/>
        </p:spPr>
        <p:txBody>
          <a:bodyPr wrap="square">
            <a:spAutoFit/>
          </a:bodyPr>
          <a:lstStyle/>
          <a:p>
            <a:pPr algn="ctr"/>
            <a:r>
              <a:rPr sz="1400" b="1">
                <a:solidFill>
                  <a:srgbClr val="003865"/>
                </a:solidFill>
                <a:latin typeface="Calibri"/>
              </a:rPr>
              <a:t>Stage 1
Label Validation</a:t>
            </a:r>
          </a:p>
        </p:txBody>
      </p:sp>
      <p:sp>
        <p:nvSpPr>
          <p:cNvPr id="11" name="Rectangle 10"/>
          <p:cNvSpPr/>
          <p:nvPr/>
        </p:nvSpPr>
        <p:spPr>
          <a:xfrm>
            <a:off x="320040" y="1938528"/>
            <a:ext cx="3611880" cy="2743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2048256"/>
            <a:ext cx="3392424" cy="237744"/>
          </a:xfrm>
          <a:prstGeom prst="rect">
            <a:avLst/>
          </a:prstGeom>
          <a:noFill/>
        </p:spPr>
        <p:txBody>
          <a:bodyPr wrap="square">
            <a:spAutoFit/>
          </a:bodyPr>
          <a:lstStyle/>
          <a:p>
            <a:pPr algn="l"/>
            <a:r>
              <a:rPr sz="1100" b="1">
                <a:solidFill>
                  <a:srgbClr val="3F4444"/>
                </a:solidFill>
                <a:latin typeface="Calibri"/>
              </a:rPr>
              <a:t>Models:</a:t>
            </a:r>
          </a:p>
        </p:txBody>
      </p:sp>
      <p:sp>
        <p:nvSpPr>
          <p:cNvPr id="13" name="TextBox 12"/>
          <p:cNvSpPr txBox="1"/>
          <p:nvPr/>
        </p:nvSpPr>
        <p:spPr>
          <a:xfrm>
            <a:off x="502920" y="2286000"/>
            <a:ext cx="3319272" cy="493776"/>
          </a:xfrm>
          <a:prstGeom prst="rect">
            <a:avLst/>
          </a:prstGeom>
          <a:noFill/>
        </p:spPr>
        <p:txBody>
          <a:bodyPr wrap="square">
            <a:spAutoFit/>
          </a:bodyPr>
          <a:lstStyle/>
          <a:p>
            <a:pPr algn="l"/>
            <a:r>
              <a:rPr sz="1100" b="0">
                <a:solidFill>
                  <a:srgbClr val="3F4444"/>
                </a:solidFill>
                <a:latin typeface="Calibri"/>
              </a:rPr>
              <a:t>v3, v4, v4.1</a:t>
            </a:r>
          </a:p>
        </p:txBody>
      </p:sp>
      <p:sp>
        <p:nvSpPr>
          <p:cNvPr id="14" name="TextBox 13"/>
          <p:cNvSpPr txBox="1"/>
          <p:nvPr/>
        </p:nvSpPr>
        <p:spPr>
          <a:xfrm>
            <a:off x="429768" y="2779776"/>
            <a:ext cx="3392424" cy="237744"/>
          </a:xfrm>
          <a:prstGeom prst="rect">
            <a:avLst/>
          </a:prstGeom>
          <a:noFill/>
        </p:spPr>
        <p:txBody>
          <a:bodyPr wrap="square">
            <a:spAutoFit/>
          </a:bodyPr>
          <a:lstStyle/>
          <a:p>
            <a:pPr algn="l"/>
            <a:r>
              <a:rPr sz="1100" b="1">
                <a:solidFill>
                  <a:srgbClr val="3F4444"/>
                </a:solidFill>
                <a:latin typeface="Calibri"/>
              </a:rPr>
              <a:t>Outer split:</a:t>
            </a:r>
          </a:p>
        </p:txBody>
      </p:sp>
      <p:sp>
        <p:nvSpPr>
          <p:cNvPr id="15" name="TextBox 14"/>
          <p:cNvSpPr txBox="1"/>
          <p:nvPr/>
        </p:nvSpPr>
        <p:spPr>
          <a:xfrm>
            <a:off x="502920" y="3017520"/>
            <a:ext cx="3319272" cy="493776"/>
          </a:xfrm>
          <a:prstGeom prst="rect">
            <a:avLst/>
          </a:prstGeom>
          <a:noFill/>
        </p:spPr>
        <p:txBody>
          <a:bodyPr wrap="square">
            <a:spAutoFit/>
          </a:bodyPr>
          <a:lstStyle/>
          <a:p>
            <a:pPr algn="l"/>
            <a:r>
              <a:rPr sz="1100" b="0">
                <a:solidFill>
                  <a:srgbClr val="3F4444"/>
                </a:solidFill>
                <a:latin typeface="Calibri"/>
              </a:rPr>
              <a:t>Sequence-level shuffle
80/20 ratio</a:t>
            </a:r>
          </a:p>
        </p:txBody>
      </p:sp>
      <p:sp>
        <p:nvSpPr>
          <p:cNvPr id="16" name="TextBox 15"/>
          <p:cNvSpPr txBox="1"/>
          <p:nvPr/>
        </p:nvSpPr>
        <p:spPr>
          <a:xfrm>
            <a:off x="429768" y="3511296"/>
            <a:ext cx="3392424" cy="237744"/>
          </a:xfrm>
          <a:prstGeom prst="rect">
            <a:avLst/>
          </a:prstGeom>
          <a:noFill/>
        </p:spPr>
        <p:txBody>
          <a:bodyPr wrap="square">
            <a:spAutoFit/>
          </a:bodyPr>
          <a:lstStyle/>
          <a:p>
            <a:pPr algn="l"/>
            <a:r>
              <a:rPr sz="1100" b="1">
                <a:solidFill>
                  <a:srgbClr val="3F4444"/>
                </a:solidFill>
                <a:latin typeface="Calibri"/>
              </a:rPr>
              <a:t>Inner split:</a:t>
            </a:r>
          </a:p>
        </p:txBody>
      </p:sp>
      <p:sp>
        <p:nvSpPr>
          <p:cNvPr id="17" name="TextBox 16"/>
          <p:cNvSpPr txBox="1"/>
          <p:nvPr/>
        </p:nvSpPr>
        <p:spPr>
          <a:xfrm>
            <a:off x="502920" y="3749040"/>
            <a:ext cx="3319272" cy="493776"/>
          </a:xfrm>
          <a:prstGeom prst="rect">
            <a:avLst/>
          </a:prstGeom>
          <a:noFill/>
        </p:spPr>
        <p:txBody>
          <a:bodyPr wrap="square">
            <a:spAutoFit/>
          </a:bodyPr>
          <a:lstStyle/>
          <a:p>
            <a:pPr algn="l"/>
            <a:r>
              <a:rPr sz="1100" b="0">
                <a:solidFill>
                  <a:srgbClr val="3F4444"/>
                </a:solidFill>
                <a:latin typeface="Calibri"/>
              </a:rPr>
              <a:t>Sequence rotating k-fold (k=5)</a:t>
            </a:r>
          </a:p>
        </p:txBody>
      </p:sp>
      <p:sp>
        <p:nvSpPr>
          <p:cNvPr id="18" name="TextBox 17"/>
          <p:cNvSpPr txBox="1"/>
          <p:nvPr/>
        </p:nvSpPr>
        <p:spPr>
          <a:xfrm>
            <a:off x="429768" y="4242816"/>
            <a:ext cx="3392424" cy="237744"/>
          </a:xfrm>
          <a:prstGeom prst="rect">
            <a:avLst/>
          </a:prstGeom>
          <a:noFill/>
        </p:spPr>
        <p:txBody>
          <a:bodyPr wrap="square">
            <a:spAutoFit/>
          </a:bodyPr>
          <a:lstStyle/>
          <a:p>
            <a:pPr algn="l"/>
            <a:r>
              <a:rPr sz="1100" b="1">
                <a:solidFill>
                  <a:srgbClr val="3F4444"/>
                </a:solidFill>
                <a:latin typeface="Calibri"/>
              </a:rPr>
              <a:t>Train/val disjoint:</a:t>
            </a:r>
          </a:p>
        </p:txBody>
      </p:sp>
      <p:sp>
        <p:nvSpPr>
          <p:cNvPr id="19" name="TextBox 18"/>
          <p:cNvSpPr txBox="1"/>
          <p:nvPr/>
        </p:nvSpPr>
        <p:spPr>
          <a:xfrm>
            <a:off x="502920" y="4480560"/>
            <a:ext cx="3319272" cy="493776"/>
          </a:xfrm>
          <a:prstGeom prst="rect">
            <a:avLst/>
          </a:prstGeom>
          <a:noFill/>
        </p:spPr>
        <p:txBody>
          <a:bodyPr wrap="square">
            <a:spAutoFit/>
          </a:bodyPr>
          <a:lstStyle/>
          <a:p>
            <a:pPr algn="l"/>
            <a:r>
              <a:rPr sz="1100" b="0">
                <a:solidFill>
                  <a:srgbClr val="3F4444"/>
                </a:solidFill>
                <a:latin typeface="Calibri"/>
              </a:rPr>
              <a:t>No</a:t>
            </a:r>
          </a:p>
        </p:txBody>
      </p:sp>
      <p:sp>
        <p:nvSpPr>
          <p:cNvPr id="20" name="TextBox 19"/>
          <p:cNvSpPr txBox="1"/>
          <p:nvPr/>
        </p:nvSpPr>
        <p:spPr>
          <a:xfrm>
            <a:off x="429768" y="4974336"/>
            <a:ext cx="3392424" cy="237744"/>
          </a:xfrm>
          <a:prstGeom prst="rect">
            <a:avLst/>
          </a:prstGeom>
          <a:noFill/>
        </p:spPr>
        <p:txBody>
          <a:bodyPr wrap="square">
            <a:spAutoFit/>
          </a:bodyPr>
          <a:lstStyle/>
          <a:p>
            <a:pPr algn="l"/>
            <a:r>
              <a:rPr sz="1100" b="1">
                <a:solidFill>
                  <a:srgbClr val="3F4444"/>
                </a:solidFill>
                <a:latin typeface="Calibri"/>
              </a:rPr>
              <a:t>Train/test disjoint:</a:t>
            </a:r>
          </a:p>
        </p:txBody>
      </p:sp>
      <p:sp>
        <p:nvSpPr>
          <p:cNvPr id="21" name="TextBox 20"/>
          <p:cNvSpPr txBox="1"/>
          <p:nvPr/>
        </p:nvSpPr>
        <p:spPr>
          <a:xfrm>
            <a:off x="502920" y="5212080"/>
            <a:ext cx="3319272" cy="493776"/>
          </a:xfrm>
          <a:prstGeom prst="rect">
            <a:avLst/>
          </a:prstGeom>
          <a:noFill/>
        </p:spPr>
        <p:txBody>
          <a:bodyPr wrap="square">
            <a:spAutoFit/>
          </a:bodyPr>
          <a:lstStyle/>
          <a:p>
            <a:pPr algn="l"/>
            <a:r>
              <a:rPr sz="1100" b="0">
                <a:solidFill>
                  <a:srgbClr val="3F4444"/>
                </a:solidFill>
                <a:latin typeface="Calibri"/>
              </a:rPr>
              <a:t>No</a:t>
            </a:r>
          </a:p>
        </p:txBody>
      </p:sp>
      <p:sp>
        <p:nvSpPr>
          <p:cNvPr id="22" name="TextBox 21"/>
          <p:cNvSpPr txBox="1"/>
          <p:nvPr/>
        </p:nvSpPr>
        <p:spPr>
          <a:xfrm>
            <a:off x="429768" y="5705856"/>
            <a:ext cx="3392424" cy="237744"/>
          </a:xfrm>
          <a:prstGeom prst="rect">
            <a:avLst/>
          </a:prstGeom>
          <a:noFill/>
        </p:spPr>
        <p:txBody>
          <a:bodyPr wrap="square">
            <a:spAutoFit/>
          </a:bodyPr>
          <a:lstStyle/>
          <a:p>
            <a:pPr algn="l"/>
            <a:r>
              <a:rPr sz="1100" b="1">
                <a:solidFill>
                  <a:srgbClr val="3F4444"/>
                </a:solidFill>
                <a:latin typeface="Calibri"/>
              </a:rPr>
              <a:t>Purpose:</a:t>
            </a:r>
          </a:p>
        </p:txBody>
      </p:sp>
      <p:sp>
        <p:nvSpPr>
          <p:cNvPr id="23" name="TextBox 22"/>
          <p:cNvSpPr txBox="1"/>
          <p:nvPr/>
        </p:nvSpPr>
        <p:spPr>
          <a:xfrm>
            <a:off x="502920" y="5943600"/>
            <a:ext cx="3319272" cy="493776"/>
          </a:xfrm>
          <a:prstGeom prst="rect">
            <a:avLst/>
          </a:prstGeom>
          <a:noFill/>
        </p:spPr>
        <p:txBody>
          <a:bodyPr wrap="square">
            <a:spAutoFit/>
          </a:bodyPr>
          <a:lstStyle/>
          <a:p>
            <a:pPr algn="l"/>
            <a:r>
              <a:rPr sz="1100" b="0">
                <a:solidFill>
                  <a:srgbClr val="3F4444"/>
                </a:solidFill>
                <a:latin typeface="Calibri"/>
              </a:rPr>
              <a:t>Confirm labels carry learnable
signal; identify mislabels</a:t>
            </a:r>
          </a:p>
        </p:txBody>
      </p:sp>
      <p:sp>
        <p:nvSpPr>
          <p:cNvPr id="24" name="Rectangle 23"/>
          <p:cNvSpPr/>
          <p:nvPr/>
        </p:nvSpPr>
        <p:spPr>
          <a:xfrm>
            <a:off x="4069080" y="1298448"/>
            <a:ext cx="3611880" cy="4206240"/>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78808" y="1371600"/>
            <a:ext cx="3392424" cy="548640"/>
          </a:xfrm>
          <a:prstGeom prst="rect">
            <a:avLst/>
          </a:prstGeom>
          <a:noFill/>
        </p:spPr>
        <p:txBody>
          <a:bodyPr wrap="square">
            <a:spAutoFit/>
          </a:bodyPr>
          <a:lstStyle/>
          <a:p>
            <a:pPr algn="ctr"/>
            <a:r>
              <a:rPr sz="1400" b="1">
                <a:solidFill>
                  <a:srgbClr val="003865"/>
                </a:solidFill>
                <a:latin typeface="Calibri"/>
              </a:rPr>
              <a:t>Stage 2
Species-Disjoint Outer</a:t>
            </a:r>
          </a:p>
        </p:txBody>
      </p:sp>
      <p:sp>
        <p:nvSpPr>
          <p:cNvPr id="26" name="Rectangle 25"/>
          <p:cNvSpPr/>
          <p:nvPr/>
        </p:nvSpPr>
        <p:spPr>
          <a:xfrm>
            <a:off x="4069080" y="1938528"/>
            <a:ext cx="3611880" cy="2743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78808" y="2048256"/>
            <a:ext cx="3392424" cy="237744"/>
          </a:xfrm>
          <a:prstGeom prst="rect">
            <a:avLst/>
          </a:prstGeom>
          <a:noFill/>
        </p:spPr>
        <p:txBody>
          <a:bodyPr wrap="square">
            <a:spAutoFit/>
          </a:bodyPr>
          <a:lstStyle/>
          <a:p>
            <a:pPr algn="l"/>
            <a:r>
              <a:rPr sz="1100" b="1">
                <a:solidFill>
                  <a:srgbClr val="3F4444"/>
                </a:solidFill>
                <a:latin typeface="Calibri"/>
              </a:rPr>
              <a:t>Models:</a:t>
            </a:r>
          </a:p>
        </p:txBody>
      </p:sp>
      <p:sp>
        <p:nvSpPr>
          <p:cNvPr id="28" name="TextBox 27"/>
          <p:cNvSpPr txBox="1"/>
          <p:nvPr/>
        </p:nvSpPr>
        <p:spPr>
          <a:xfrm>
            <a:off x="4251960" y="2286000"/>
            <a:ext cx="3319272" cy="493776"/>
          </a:xfrm>
          <a:prstGeom prst="rect">
            <a:avLst/>
          </a:prstGeom>
          <a:noFill/>
        </p:spPr>
        <p:txBody>
          <a:bodyPr wrap="square">
            <a:spAutoFit/>
          </a:bodyPr>
          <a:lstStyle/>
          <a:p>
            <a:pPr algn="l"/>
            <a:r>
              <a:rPr sz="1100" b="0">
                <a:solidFill>
                  <a:srgbClr val="3F4444"/>
                </a:solidFill>
                <a:latin typeface="Calibri"/>
              </a:rPr>
              <a:t>v4.2, v4.3</a:t>
            </a:r>
          </a:p>
        </p:txBody>
      </p:sp>
      <p:sp>
        <p:nvSpPr>
          <p:cNvPr id="29" name="TextBox 28"/>
          <p:cNvSpPr txBox="1"/>
          <p:nvPr/>
        </p:nvSpPr>
        <p:spPr>
          <a:xfrm>
            <a:off x="4178808" y="2779776"/>
            <a:ext cx="3392424" cy="237744"/>
          </a:xfrm>
          <a:prstGeom prst="rect">
            <a:avLst/>
          </a:prstGeom>
          <a:noFill/>
        </p:spPr>
        <p:txBody>
          <a:bodyPr wrap="square">
            <a:spAutoFit/>
          </a:bodyPr>
          <a:lstStyle/>
          <a:p>
            <a:pPr algn="l"/>
            <a:r>
              <a:rPr sz="1100" b="1">
                <a:solidFill>
                  <a:srgbClr val="3F4444"/>
                </a:solidFill>
                <a:latin typeface="Calibri"/>
              </a:rPr>
              <a:t>Outer split:</a:t>
            </a:r>
          </a:p>
        </p:txBody>
      </p:sp>
      <p:sp>
        <p:nvSpPr>
          <p:cNvPr id="30" name="TextBox 29"/>
          <p:cNvSpPr txBox="1"/>
          <p:nvPr/>
        </p:nvSpPr>
        <p:spPr>
          <a:xfrm>
            <a:off x="4251960" y="3017520"/>
            <a:ext cx="3319272" cy="493776"/>
          </a:xfrm>
          <a:prstGeom prst="rect">
            <a:avLst/>
          </a:prstGeom>
          <a:noFill/>
        </p:spPr>
        <p:txBody>
          <a:bodyPr wrap="square">
            <a:spAutoFit/>
          </a:bodyPr>
          <a:lstStyle/>
          <a:p>
            <a:pPr algn="l"/>
            <a:r>
              <a:rPr sz="1100" b="0">
                <a:solidFill>
                  <a:srgbClr val="3F4444"/>
                </a:solidFill>
                <a:latin typeface="Calibri"/>
              </a:rPr>
              <a:t>Species-level shuffle
+ mini-benchmark excised</a:t>
            </a:r>
          </a:p>
        </p:txBody>
      </p:sp>
      <p:sp>
        <p:nvSpPr>
          <p:cNvPr id="31" name="TextBox 30"/>
          <p:cNvSpPr txBox="1"/>
          <p:nvPr/>
        </p:nvSpPr>
        <p:spPr>
          <a:xfrm>
            <a:off x="4178808" y="3511296"/>
            <a:ext cx="3392424" cy="237744"/>
          </a:xfrm>
          <a:prstGeom prst="rect">
            <a:avLst/>
          </a:prstGeom>
          <a:noFill/>
        </p:spPr>
        <p:txBody>
          <a:bodyPr wrap="square">
            <a:spAutoFit/>
          </a:bodyPr>
          <a:lstStyle/>
          <a:p>
            <a:pPr algn="l"/>
            <a:r>
              <a:rPr sz="1100" b="1">
                <a:solidFill>
                  <a:srgbClr val="3F4444"/>
                </a:solidFill>
                <a:latin typeface="Calibri"/>
              </a:rPr>
              <a:t>Inner split:</a:t>
            </a:r>
          </a:p>
        </p:txBody>
      </p:sp>
      <p:sp>
        <p:nvSpPr>
          <p:cNvPr id="32" name="TextBox 31"/>
          <p:cNvSpPr txBox="1"/>
          <p:nvPr/>
        </p:nvSpPr>
        <p:spPr>
          <a:xfrm>
            <a:off x="4251960" y="3749040"/>
            <a:ext cx="3319272" cy="493776"/>
          </a:xfrm>
          <a:prstGeom prst="rect">
            <a:avLst/>
          </a:prstGeom>
          <a:noFill/>
        </p:spPr>
        <p:txBody>
          <a:bodyPr wrap="square">
            <a:spAutoFit/>
          </a:bodyPr>
          <a:lstStyle/>
          <a:p>
            <a:pPr algn="l"/>
            <a:r>
              <a:rPr sz="1100" b="0">
                <a:solidFill>
                  <a:srgbClr val="3F4444"/>
                </a:solidFill>
                <a:latin typeface="Calibri"/>
              </a:rPr>
              <a:t>Species rotating k-fold
(val species recycle → inflated!)</a:t>
            </a:r>
          </a:p>
        </p:txBody>
      </p:sp>
      <p:sp>
        <p:nvSpPr>
          <p:cNvPr id="33" name="TextBox 32"/>
          <p:cNvSpPr txBox="1"/>
          <p:nvPr/>
        </p:nvSpPr>
        <p:spPr>
          <a:xfrm>
            <a:off x="4178808" y="4242816"/>
            <a:ext cx="3392424" cy="237744"/>
          </a:xfrm>
          <a:prstGeom prst="rect">
            <a:avLst/>
          </a:prstGeom>
          <a:noFill/>
        </p:spPr>
        <p:txBody>
          <a:bodyPr wrap="square">
            <a:spAutoFit/>
          </a:bodyPr>
          <a:lstStyle/>
          <a:p>
            <a:pPr algn="l"/>
            <a:r>
              <a:rPr sz="1100" b="1">
                <a:solidFill>
                  <a:srgbClr val="3F4444"/>
                </a:solidFill>
                <a:latin typeface="Calibri"/>
              </a:rPr>
              <a:t>Train/val disjoint:</a:t>
            </a:r>
          </a:p>
        </p:txBody>
      </p:sp>
      <p:sp>
        <p:nvSpPr>
          <p:cNvPr id="34" name="TextBox 33"/>
          <p:cNvSpPr txBox="1"/>
          <p:nvPr/>
        </p:nvSpPr>
        <p:spPr>
          <a:xfrm>
            <a:off x="4251960" y="4480560"/>
            <a:ext cx="3319272" cy="493776"/>
          </a:xfrm>
          <a:prstGeom prst="rect">
            <a:avLst/>
          </a:prstGeom>
          <a:noFill/>
        </p:spPr>
        <p:txBody>
          <a:bodyPr wrap="square">
            <a:spAutoFit/>
          </a:bodyPr>
          <a:lstStyle/>
          <a:p>
            <a:pPr algn="l"/>
            <a:r>
              <a:rPr sz="1100" b="0">
                <a:solidFill>
                  <a:srgbClr val="3F4444"/>
                </a:solidFill>
                <a:latin typeface="Calibri"/>
              </a:rPr>
              <a:t>No (per epoch only)</a:t>
            </a:r>
          </a:p>
        </p:txBody>
      </p:sp>
      <p:sp>
        <p:nvSpPr>
          <p:cNvPr id="35" name="TextBox 34"/>
          <p:cNvSpPr txBox="1"/>
          <p:nvPr/>
        </p:nvSpPr>
        <p:spPr>
          <a:xfrm>
            <a:off x="4178808" y="4974336"/>
            <a:ext cx="3392424" cy="237744"/>
          </a:xfrm>
          <a:prstGeom prst="rect">
            <a:avLst/>
          </a:prstGeom>
          <a:noFill/>
        </p:spPr>
        <p:txBody>
          <a:bodyPr wrap="square">
            <a:spAutoFit/>
          </a:bodyPr>
          <a:lstStyle/>
          <a:p>
            <a:pPr algn="l"/>
            <a:r>
              <a:rPr sz="1100" b="1">
                <a:solidFill>
                  <a:srgbClr val="3F4444"/>
                </a:solidFill>
                <a:latin typeface="Calibri"/>
              </a:rPr>
              <a:t>Train/test disjoint:</a:t>
            </a:r>
          </a:p>
        </p:txBody>
      </p:sp>
      <p:sp>
        <p:nvSpPr>
          <p:cNvPr id="36" name="TextBox 35"/>
          <p:cNvSpPr txBox="1"/>
          <p:nvPr/>
        </p:nvSpPr>
        <p:spPr>
          <a:xfrm>
            <a:off x="4251960" y="5212080"/>
            <a:ext cx="3319272" cy="493776"/>
          </a:xfrm>
          <a:prstGeom prst="rect">
            <a:avLst/>
          </a:prstGeom>
          <a:noFill/>
        </p:spPr>
        <p:txBody>
          <a:bodyPr wrap="square">
            <a:spAutoFit/>
          </a:bodyPr>
          <a:lstStyle/>
          <a:p>
            <a:pPr algn="l"/>
            <a:r>
              <a:rPr sz="1100" b="0">
                <a:solidFill>
                  <a:srgbClr val="3F4444"/>
                </a:solidFill>
                <a:latin typeface="Calibri"/>
              </a:rPr>
              <a:t>Yes</a:t>
            </a:r>
          </a:p>
        </p:txBody>
      </p:sp>
      <p:sp>
        <p:nvSpPr>
          <p:cNvPr id="37" name="TextBox 36"/>
          <p:cNvSpPr txBox="1"/>
          <p:nvPr/>
        </p:nvSpPr>
        <p:spPr>
          <a:xfrm>
            <a:off x="4178808" y="5705856"/>
            <a:ext cx="3392424" cy="237744"/>
          </a:xfrm>
          <a:prstGeom prst="rect">
            <a:avLst/>
          </a:prstGeom>
          <a:noFill/>
        </p:spPr>
        <p:txBody>
          <a:bodyPr wrap="square">
            <a:spAutoFit/>
          </a:bodyPr>
          <a:lstStyle/>
          <a:p>
            <a:pPr algn="l"/>
            <a:r>
              <a:rPr sz="1100" b="1">
                <a:solidFill>
                  <a:srgbClr val="3F4444"/>
                </a:solidFill>
                <a:latin typeface="Calibri"/>
              </a:rPr>
              <a:t>Purpose:</a:t>
            </a:r>
          </a:p>
        </p:txBody>
      </p:sp>
      <p:sp>
        <p:nvSpPr>
          <p:cNvPr id="38" name="TextBox 37"/>
          <p:cNvSpPr txBox="1"/>
          <p:nvPr/>
        </p:nvSpPr>
        <p:spPr>
          <a:xfrm>
            <a:off x="4251960" y="5943600"/>
            <a:ext cx="3319272" cy="493776"/>
          </a:xfrm>
          <a:prstGeom prst="rect">
            <a:avLst/>
          </a:prstGeom>
          <a:noFill/>
        </p:spPr>
        <p:txBody>
          <a:bodyPr wrap="square">
            <a:spAutoFit/>
          </a:bodyPr>
          <a:lstStyle/>
          <a:p>
            <a:pPr algn="l"/>
            <a:r>
              <a:rPr sz="1100" b="0">
                <a:solidFill>
                  <a:srgbClr val="3F4444"/>
                </a:solidFill>
                <a:latin typeface="Calibri"/>
              </a:rPr>
              <a:t>Measure cross-species
generalisation; expose val leak</a:t>
            </a:r>
          </a:p>
        </p:txBody>
      </p:sp>
      <p:sp>
        <p:nvSpPr>
          <p:cNvPr id="39" name="Rectangle 38"/>
          <p:cNvSpPr/>
          <p:nvPr/>
        </p:nvSpPr>
        <p:spPr>
          <a:xfrm>
            <a:off x="7818120" y="1298448"/>
            <a:ext cx="3611880" cy="4206240"/>
          </a:xfrm>
          <a:prstGeom prst="rect">
            <a:avLst/>
          </a:prstGeom>
          <a:solidFill>
            <a:srgbClr val="FF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27848" y="1371600"/>
            <a:ext cx="3392424" cy="548640"/>
          </a:xfrm>
          <a:prstGeom prst="rect">
            <a:avLst/>
          </a:prstGeom>
          <a:noFill/>
        </p:spPr>
        <p:txBody>
          <a:bodyPr wrap="square">
            <a:spAutoFit/>
          </a:bodyPr>
          <a:lstStyle/>
          <a:p>
            <a:pPr algn="ctr"/>
            <a:r>
              <a:rPr sz="1400" b="1">
                <a:solidFill>
                  <a:srgbClr val="003865"/>
                </a:solidFill>
                <a:latin typeface="Calibri"/>
              </a:rPr>
              <a:t>Stage 3
Single-Fold Inner</a:t>
            </a:r>
          </a:p>
        </p:txBody>
      </p:sp>
      <p:sp>
        <p:nvSpPr>
          <p:cNvPr id="41" name="Rectangle 40"/>
          <p:cNvSpPr/>
          <p:nvPr/>
        </p:nvSpPr>
        <p:spPr>
          <a:xfrm>
            <a:off x="7818120" y="1938528"/>
            <a:ext cx="3611880" cy="2743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27848" y="2048256"/>
            <a:ext cx="3392424" cy="237744"/>
          </a:xfrm>
          <a:prstGeom prst="rect">
            <a:avLst/>
          </a:prstGeom>
          <a:noFill/>
        </p:spPr>
        <p:txBody>
          <a:bodyPr wrap="square">
            <a:spAutoFit/>
          </a:bodyPr>
          <a:lstStyle/>
          <a:p>
            <a:pPr algn="l"/>
            <a:r>
              <a:rPr sz="1100" b="1">
                <a:solidFill>
                  <a:srgbClr val="3F4444"/>
                </a:solidFill>
                <a:latin typeface="Calibri"/>
              </a:rPr>
              <a:t>Models:</a:t>
            </a:r>
          </a:p>
        </p:txBody>
      </p:sp>
      <p:sp>
        <p:nvSpPr>
          <p:cNvPr id="43" name="TextBox 42"/>
          <p:cNvSpPr txBox="1"/>
          <p:nvPr/>
        </p:nvSpPr>
        <p:spPr>
          <a:xfrm>
            <a:off x="8001000" y="2286000"/>
            <a:ext cx="3319272" cy="493776"/>
          </a:xfrm>
          <a:prstGeom prst="rect">
            <a:avLst/>
          </a:prstGeom>
          <a:noFill/>
        </p:spPr>
        <p:txBody>
          <a:bodyPr wrap="square">
            <a:spAutoFit/>
          </a:bodyPr>
          <a:lstStyle/>
          <a:p>
            <a:pPr algn="l"/>
            <a:r>
              <a:rPr sz="1100" b="0">
                <a:solidFill>
                  <a:srgbClr val="3F4444"/>
                </a:solidFill>
                <a:latin typeface="Calibri"/>
              </a:rPr>
              <a:t>v4.3-singlefold</a:t>
            </a:r>
          </a:p>
        </p:txBody>
      </p:sp>
      <p:sp>
        <p:nvSpPr>
          <p:cNvPr id="44" name="TextBox 43"/>
          <p:cNvSpPr txBox="1"/>
          <p:nvPr/>
        </p:nvSpPr>
        <p:spPr>
          <a:xfrm>
            <a:off x="7927848" y="2779776"/>
            <a:ext cx="3392424" cy="237744"/>
          </a:xfrm>
          <a:prstGeom prst="rect">
            <a:avLst/>
          </a:prstGeom>
          <a:noFill/>
        </p:spPr>
        <p:txBody>
          <a:bodyPr wrap="square">
            <a:spAutoFit/>
          </a:bodyPr>
          <a:lstStyle/>
          <a:p>
            <a:pPr algn="l"/>
            <a:r>
              <a:rPr sz="1100" b="1">
                <a:solidFill>
                  <a:srgbClr val="3F4444"/>
                </a:solidFill>
                <a:latin typeface="Calibri"/>
              </a:rPr>
              <a:t>Outer split:</a:t>
            </a:r>
          </a:p>
        </p:txBody>
      </p:sp>
      <p:sp>
        <p:nvSpPr>
          <p:cNvPr id="45" name="TextBox 44"/>
          <p:cNvSpPr txBox="1"/>
          <p:nvPr/>
        </p:nvSpPr>
        <p:spPr>
          <a:xfrm>
            <a:off x="8001000" y="3017520"/>
            <a:ext cx="3319272" cy="493776"/>
          </a:xfrm>
          <a:prstGeom prst="rect">
            <a:avLst/>
          </a:prstGeom>
          <a:noFill/>
        </p:spPr>
        <p:txBody>
          <a:bodyPr wrap="square">
            <a:spAutoFit/>
          </a:bodyPr>
          <a:lstStyle/>
          <a:p>
            <a:pPr algn="l"/>
            <a:r>
              <a:rPr sz="1100" b="0">
                <a:solidFill>
                  <a:srgbClr val="3F4444"/>
                </a:solidFill>
                <a:latin typeface="Calibri"/>
              </a:rPr>
              <a:t>Same as Stage 2</a:t>
            </a:r>
          </a:p>
        </p:txBody>
      </p:sp>
      <p:sp>
        <p:nvSpPr>
          <p:cNvPr id="46" name="TextBox 45"/>
          <p:cNvSpPr txBox="1"/>
          <p:nvPr/>
        </p:nvSpPr>
        <p:spPr>
          <a:xfrm>
            <a:off x="7927848" y="3511296"/>
            <a:ext cx="3392424" cy="237744"/>
          </a:xfrm>
          <a:prstGeom prst="rect">
            <a:avLst/>
          </a:prstGeom>
          <a:noFill/>
        </p:spPr>
        <p:txBody>
          <a:bodyPr wrap="square">
            <a:spAutoFit/>
          </a:bodyPr>
          <a:lstStyle/>
          <a:p>
            <a:pPr algn="l"/>
            <a:r>
              <a:rPr sz="1100" b="1">
                <a:solidFill>
                  <a:srgbClr val="3F4444"/>
                </a:solidFill>
                <a:latin typeface="Calibri"/>
              </a:rPr>
              <a:t>Inner split:</a:t>
            </a:r>
          </a:p>
        </p:txBody>
      </p:sp>
      <p:sp>
        <p:nvSpPr>
          <p:cNvPr id="47" name="TextBox 46"/>
          <p:cNvSpPr txBox="1"/>
          <p:nvPr/>
        </p:nvSpPr>
        <p:spPr>
          <a:xfrm>
            <a:off x="8001000" y="3749040"/>
            <a:ext cx="3319272" cy="493776"/>
          </a:xfrm>
          <a:prstGeom prst="rect">
            <a:avLst/>
          </a:prstGeom>
          <a:noFill/>
        </p:spPr>
        <p:txBody>
          <a:bodyPr wrap="square">
            <a:spAutoFit/>
          </a:bodyPr>
          <a:lstStyle/>
          <a:p>
            <a:pPr algn="l"/>
            <a:r>
              <a:rPr sz="1100" b="0">
                <a:solidFill>
                  <a:srgbClr val="3F4444"/>
                </a:solidFill>
                <a:latin typeface="Calibri"/>
              </a:rPr>
              <a:t>Single fixed species shuffle
(fully disjoint throughout)</a:t>
            </a:r>
          </a:p>
        </p:txBody>
      </p:sp>
      <p:sp>
        <p:nvSpPr>
          <p:cNvPr id="48" name="TextBox 47"/>
          <p:cNvSpPr txBox="1"/>
          <p:nvPr/>
        </p:nvSpPr>
        <p:spPr>
          <a:xfrm>
            <a:off x="7927848" y="4242816"/>
            <a:ext cx="3392424" cy="237744"/>
          </a:xfrm>
          <a:prstGeom prst="rect">
            <a:avLst/>
          </a:prstGeom>
          <a:noFill/>
        </p:spPr>
        <p:txBody>
          <a:bodyPr wrap="square">
            <a:spAutoFit/>
          </a:bodyPr>
          <a:lstStyle/>
          <a:p>
            <a:pPr algn="l"/>
            <a:r>
              <a:rPr sz="1100" b="1">
                <a:solidFill>
                  <a:srgbClr val="3F4444"/>
                </a:solidFill>
                <a:latin typeface="Calibri"/>
              </a:rPr>
              <a:t>Train/val disjoint:</a:t>
            </a:r>
          </a:p>
        </p:txBody>
      </p:sp>
      <p:sp>
        <p:nvSpPr>
          <p:cNvPr id="49" name="TextBox 48"/>
          <p:cNvSpPr txBox="1"/>
          <p:nvPr/>
        </p:nvSpPr>
        <p:spPr>
          <a:xfrm>
            <a:off x="8001000" y="4480560"/>
            <a:ext cx="3319272" cy="493776"/>
          </a:xfrm>
          <a:prstGeom prst="rect">
            <a:avLst/>
          </a:prstGeom>
          <a:noFill/>
        </p:spPr>
        <p:txBody>
          <a:bodyPr wrap="square">
            <a:spAutoFit/>
          </a:bodyPr>
          <a:lstStyle/>
          <a:p>
            <a:pPr algn="l"/>
            <a:r>
              <a:rPr sz="1100" b="0">
                <a:solidFill>
                  <a:srgbClr val="3F4444"/>
                </a:solidFill>
                <a:latin typeface="Calibri"/>
              </a:rPr>
              <a:t>Yes ✓</a:t>
            </a:r>
          </a:p>
        </p:txBody>
      </p:sp>
      <p:sp>
        <p:nvSpPr>
          <p:cNvPr id="50" name="TextBox 49"/>
          <p:cNvSpPr txBox="1"/>
          <p:nvPr/>
        </p:nvSpPr>
        <p:spPr>
          <a:xfrm>
            <a:off x="7927848" y="4974336"/>
            <a:ext cx="3392424" cy="237744"/>
          </a:xfrm>
          <a:prstGeom prst="rect">
            <a:avLst/>
          </a:prstGeom>
          <a:noFill/>
        </p:spPr>
        <p:txBody>
          <a:bodyPr wrap="square">
            <a:spAutoFit/>
          </a:bodyPr>
          <a:lstStyle/>
          <a:p>
            <a:pPr algn="l"/>
            <a:r>
              <a:rPr sz="1100" b="1">
                <a:solidFill>
                  <a:srgbClr val="3F4444"/>
                </a:solidFill>
                <a:latin typeface="Calibri"/>
              </a:rPr>
              <a:t>Train/test disjoint:</a:t>
            </a:r>
          </a:p>
        </p:txBody>
      </p:sp>
      <p:sp>
        <p:nvSpPr>
          <p:cNvPr id="51" name="TextBox 50"/>
          <p:cNvSpPr txBox="1"/>
          <p:nvPr/>
        </p:nvSpPr>
        <p:spPr>
          <a:xfrm>
            <a:off x="8001000" y="5212080"/>
            <a:ext cx="3319272" cy="493776"/>
          </a:xfrm>
          <a:prstGeom prst="rect">
            <a:avLst/>
          </a:prstGeom>
          <a:noFill/>
        </p:spPr>
        <p:txBody>
          <a:bodyPr wrap="square">
            <a:spAutoFit/>
          </a:bodyPr>
          <a:lstStyle/>
          <a:p>
            <a:pPr algn="l"/>
            <a:r>
              <a:rPr sz="1100" b="0">
                <a:solidFill>
                  <a:srgbClr val="3F4444"/>
                </a:solidFill>
                <a:latin typeface="Calibri"/>
              </a:rPr>
              <a:t>Yes ✓</a:t>
            </a:r>
          </a:p>
        </p:txBody>
      </p:sp>
      <p:sp>
        <p:nvSpPr>
          <p:cNvPr id="52" name="TextBox 51"/>
          <p:cNvSpPr txBox="1"/>
          <p:nvPr/>
        </p:nvSpPr>
        <p:spPr>
          <a:xfrm>
            <a:off x="7927848" y="5705856"/>
            <a:ext cx="3392424" cy="237744"/>
          </a:xfrm>
          <a:prstGeom prst="rect">
            <a:avLst/>
          </a:prstGeom>
          <a:noFill/>
        </p:spPr>
        <p:txBody>
          <a:bodyPr wrap="square">
            <a:spAutoFit/>
          </a:bodyPr>
          <a:lstStyle/>
          <a:p>
            <a:pPr algn="l"/>
            <a:r>
              <a:rPr sz="1100" b="1">
                <a:solidFill>
                  <a:srgbClr val="3F4444"/>
                </a:solidFill>
                <a:latin typeface="Calibri"/>
              </a:rPr>
              <a:t>Purpose:</a:t>
            </a:r>
          </a:p>
        </p:txBody>
      </p:sp>
      <p:sp>
        <p:nvSpPr>
          <p:cNvPr id="53" name="TextBox 52"/>
          <p:cNvSpPr txBox="1"/>
          <p:nvPr/>
        </p:nvSpPr>
        <p:spPr>
          <a:xfrm>
            <a:off x="8001000" y="5943600"/>
            <a:ext cx="3319272" cy="493776"/>
          </a:xfrm>
          <a:prstGeom prst="rect">
            <a:avLst/>
          </a:prstGeom>
          <a:noFill/>
        </p:spPr>
        <p:txBody>
          <a:bodyPr wrap="square">
            <a:spAutoFit/>
          </a:bodyPr>
          <a:lstStyle/>
          <a:p>
            <a:pPr algn="l"/>
            <a:r>
              <a:rPr sz="1100" b="0">
                <a:solidFill>
                  <a:srgbClr val="3F4444"/>
                </a:solidFill>
                <a:latin typeface="Calibri"/>
              </a:rPr>
              <a:t>Most conservative estimate;
val/test metrics aligned</a:t>
            </a:r>
          </a:p>
        </p:txBody>
      </p:sp>
      <p:sp>
        <p:nvSpPr>
          <p:cNvPr id="54" name="TextBox 53"/>
          <p:cNvSpPr txBox="1"/>
          <p:nvPr/>
        </p:nvSpPr>
        <p:spPr>
          <a:xfrm>
            <a:off x="3941064" y="3218688"/>
            <a:ext cx="182880" cy="365760"/>
          </a:xfrm>
          <a:prstGeom prst="rect">
            <a:avLst/>
          </a:prstGeom>
          <a:noFill/>
        </p:spPr>
        <p:txBody>
          <a:bodyPr wrap="square">
            <a:spAutoFit/>
          </a:bodyPr>
          <a:lstStyle/>
          <a:p>
            <a:pPr algn="ctr"/>
            <a:r>
              <a:rPr sz="2200" b="1">
                <a:solidFill>
                  <a:srgbClr val="003865"/>
                </a:solidFill>
                <a:latin typeface="Calibri"/>
              </a:rPr>
              <a:t>→</a:t>
            </a:r>
          </a:p>
        </p:txBody>
      </p:sp>
      <p:sp>
        <p:nvSpPr>
          <p:cNvPr id="55" name="TextBox 54"/>
          <p:cNvSpPr txBox="1"/>
          <p:nvPr/>
        </p:nvSpPr>
        <p:spPr>
          <a:xfrm>
            <a:off x="7690104" y="3218688"/>
            <a:ext cx="182880" cy="365760"/>
          </a:xfrm>
          <a:prstGeom prst="rect">
            <a:avLst/>
          </a:prstGeom>
          <a:noFill/>
        </p:spPr>
        <p:txBody>
          <a:bodyPr wrap="square">
            <a:spAutoFit/>
          </a:bodyPr>
          <a:lstStyle/>
          <a:p>
            <a:pPr algn="ctr"/>
            <a:r>
              <a:rPr sz="2200" b="1">
                <a:solidFill>
                  <a:srgbClr val="003865"/>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Stage 1 — Label Validation (v3, v4, v4.1)</a:t>
            </a:r>
          </a:p>
        </p:txBody>
      </p:sp>
      <p:sp>
        <p:nvSpPr>
          <p:cNvPr id="4" name="TextBox 3"/>
          <p:cNvSpPr txBox="1"/>
          <p:nvPr/>
        </p:nvSpPr>
        <p:spPr>
          <a:xfrm>
            <a:off x="320040" y="804672"/>
            <a:ext cx="11430000" cy="329184"/>
          </a:xfrm>
          <a:prstGeom prst="rect">
            <a:avLst/>
          </a:prstGeom>
          <a:noFill/>
        </p:spPr>
        <p:txBody>
          <a:bodyPr wrap="square">
            <a:spAutoFit/>
          </a:bodyPr>
          <a:lstStyle/>
          <a:p>
            <a:pPr algn="l"/>
            <a:r>
              <a:rPr sz="1300" b="0">
                <a:solidFill>
                  <a:srgbClr val="68D2DF"/>
                </a:solidFill>
                <a:latin typeface="Calibri"/>
              </a:rPr>
              <a:t>Sequence-level split: confirms Pantera labels carry a strong learnable signal</a:t>
            </a:r>
          </a:p>
        </p:txBody>
      </p:sp>
      <p:sp>
        <p:nvSpPr>
          <p:cNvPr id="5" name="Rectangle 4"/>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8" name="TextBox 7"/>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8</a:t>
            </a:r>
          </a:p>
        </p:txBody>
      </p:sp>
      <p:sp>
        <p:nvSpPr>
          <p:cNvPr id="9" name="TextBox 8"/>
          <p:cNvSpPr txBox="1"/>
          <p:nvPr/>
        </p:nvSpPr>
        <p:spPr>
          <a:xfrm>
            <a:off x="320040" y="1298448"/>
            <a:ext cx="6949440" cy="347472"/>
          </a:xfrm>
          <a:prstGeom prst="rect">
            <a:avLst/>
          </a:prstGeom>
          <a:noFill/>
        </p:spPr>
        <p:txBody>
          <a:bodyPr wrap="square">
            <a:spAutoFit/>
          </a:bodyPr>
          <a:lstStyle/>
          <a:p>
            <a:pPr algn="l"/>
            <a:r>
              <a:rPr sz="1400" b="1">
                <a:solidFill>
                  <a:srgbClr val="003865"/>
                </a:solidFill>
                <a:latin typeface="Calibri"/>
              </a:rPr>
              <a:t>Model Progression — Stage 1 (sequence-level test set)</a:t>
            </a:r>
          </a:p>
        </p:txBody>
      </p:sp>
      <p:sp>
        <p:nvSpPr>
          <p:cNvPr id="10" name="Rectangle 9"/>
          <p:cNvSpPr/>
          <p:nvPr/>
        </p:nvSpPr>
        <p:spPr>
          <a:xfrm>
            <a:off x="320040" y="1682496"/>
            <a:ext cx="1645920" cy="34747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737360"/>
            <a:ext cx="1554480" cy="256032"/>
          </a:xfrm>
          <a:prstGeom prst="rect">
            <a:avLst/>
          </a:prstGeom>
          <a:noFill/>
        </p:spPr>
        <p:txBody>
          <a:bodyPr wrap="square">
            <a:spAutoFit/>
          </a:bodyPr>
          <a:lstStyle/>
          <a:p>
            <a:pPr algn="l"/>
            <a:r>
              <a:rPr sz="1200" b="1">
                <a:solidFill>
                  <a:srgbClr val="FFFFFF"/>
                </a:solidFill>
                <a:latin typeface="Calibri"/>
              </a:rPr>
              <a:t>Model</a:t>
            </a:r>
          </a:p>
        </p:txBody>
      </p:sp>
      <p:sp>
        <p:nvSpPr>
          <p:cNvPr id="12" name="Rectangle 11"/>
          <p:cNvSpPr/>
          <p:nvPr/>
        </p:nvSpPr>
        <p:spPr>
          <a:xfrm>
            <a:off x="1965960" y="1682496"/>
            <a:ext cx="2651760" cy="34747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1737360"/>
            <a:ext cx="2560320" cy="256032"/>
          </a:xfrm>
          <a:prstGeom prst="rect">
            <a:avLst/>
          </a:prstGeom>
          <a:noFill/>
        </p:spPr>
        <p:txBody>
          <a:bodyPr wrap="square">
            <a:spAutoFit/>
          </a:bodyPr>
          <a:lstStyle/>
          <a:p>
            <a:pPr algn="l"/>
            <a:r>
              <a:rPr sz="1200" b="1">
                <a:solidFill>
                  <a:srgbClr val="FFFFFF"/>
                </a:solidFill>
                <a:latin typeface="Calibri"/>
              </a:rPr>
              <a:t>Task</a:t>
            </a:r>
          </a:p>
        </p:txBody>
      </p:sp>
      <p:sp>
        <p:nvSpPr>
          <p:cNvPr id="14" name="Rectangle 13"/>
          <p:cNvSpPr/>
          <p:nvPr/>
        </p:nvSpPr>
        <p:spPr>
          <a:xfrm>
            <a:off x="4617720" y="1682496"/>
            <a:ext cx="914400" cy="34747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737360"/>
            <a:ext cx="822960" cy="256032"/>
          </a:xfrm>
          <a:prstGeom prst="rect">
            <a:avLst/>
          </a:prstGeom>
          <a:noFill/>
        </p:spPr>
        <p:txBody>
          <a:bodyPr wrap="square">
            <a:spAutoFit/>
          </a:bodyPr>
          <a:lstStyle/>
          <a:p>
            <a:pPr algn="l"/>
            <a:r>
              <a:rPr sz="1200" b="1">
                <a:solidFill>
                  <a:srgbClr val="FFFFFF"/>
                </a:solidFill>
                <a:latin typeface="Calibri"/>
              </a:rPr>
              <a:t>Cls Acc</a:t>
            </a:r>
          </a:p>
        </p:txBody>
      </p:sp>
      <p:sp>
        <p:nvSpPr>
          <p:cNvPr id="16" name="Rectangle 15"/>
          <p:cNvSpPr/>
          <p:nvPr/>
        </p:nvSpPr>
        <p:spPr>
          <a:xfrm>
            <a:off x="5532120" y="1682496"/>
            <a:ext cx="777240" cy="34747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1737360"/>
            <a:ext cx="685800" cy="256032"/>
          </a:xfrm>
          <a:prstGeom prst="rect">
            <a:avLst/>
          </a:prstGeom>
          <a:noFill/>
        </p:spPr>
        <p:txBody>
          <a:bodyPr wrap="square">
            <a:spAutoFit/>
          </a:bodyPr>
          <a:lstStyle/>
          <a:p>
            <a:pPr algn="l"/>
            <a:r>
              <a:rPr sz="1200" b="1">
                <a:solidFill>
                  <a:srgbClr val="FFFFFF"/>
                </a:solidFill>
                <a:latin typeface="Calibri"/>
              </a:rPr>
              <a:t>Cls F1</a:t>
            </a:r>
          </a:p>
        </p:txBody>
      </p:sp>
      <p:sp>
        <p:nvSpPr>
          <p:cNvPr id="18" name="Rectangle 17"/>
          <p:cNvSpPr/>
          <p:nvPr/>
        </p:nvSpPr>
        <p:spPr>
          <a:xfrm>
            <a:off x="6309360" y="1682496"/>
            <a:ext cx="777240" cy="34747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737360"/>
            <a:ext cx="685800" cy="256032"/>
          </a:xfrm>
          <a:prstGeom prst="rect">
            <a:avLst/>
          </a:prstGeom>
          <a:noFill/>
        </p:spPr>
        <p:txBody>
          <a:bodyPr wrap="square">
            <a:spAutoFit/>
          </a:bodyPr>
          <a:lstStyle/>
          <a:p>
            <a:pPr algn="l"/>
            <a:r>
              <a:rPr sz="1200" b="1">
                <a:solidFill>
                  <a:srgbClr val="FFFFFF"/>
                </a:solidFill>
                <a:latin typeface="Calibri"/>
              </a:rPr>
              <a:t>SF F1</a:t>
            </a:r>
          </a:p>
        </p:txBody>
      </p:sp>
      <p:sp>
        <p:nvSpPr>
          <p:cNvPr id="20" name="Rectangle 19"/>
          <p:cNvSpPr/>
          <p:nvPr/>
        </p:nvSpPr>
        <p:spPr>
          <a:xfrm>
            <a:off x="320040" y="2029968"/>
            <a:ext cx="1645920" cy="47548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2121408"/>
            <a:ext cx="1554480" cy="365760"/>
          </a:xfrm>
          <a:prstGeom prst="rect">
            <a:avLst/>
          </a:prstGeom>
          <a:noFill/>
        </p:spPr>
        <p:txBody>
          <a:bodyPr wrap="square">
            <a:spAutoFit/>
          </a:bodyPr>
          <a:lstStyle/>
          <a:p>
            <a:pPr algn="l"/>
            <a:r>
              <a:rPr sz="1200" b="0">
                <a:solidFill>
                  <a:srgbClr val="3F4444"/>
                </a:solidFill>
                <a:latin typeface="Calibri"/>
              </a:rPr>
              <a:t>v1 (CNN)</a:t>
            </a:r>
          </a:p>
        </p:txBody>
      </p:sp>
      <p:sp>
        <p:nvSpPr>
          <p:cNvPr id="22" name="Rectangle 21"/>
          <p:cNvSpPr/>
          <p:nvPr/>
        </p:nvSpPr>
        <p:spPr>
          <a:xfrm>
            <a:off x="1965960" y="2029968"/>
            <a:ext cx="2651760" cy="47548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11680" y="2121408"/>
            <a:ext cx="2560320" cy="365760"/>
          </a:xfrm>
          <a:prstGeom prst="rect">
            <a:avLst/>
          </a:prstGeom>
          <a:noFill/>
        </p:spPr>
        <p:txBody>
          <a:bodyPr wrap="square">
            <a:spAutoFit/>
          </a:bodyPr>
          <a:lstStyle/>
          <a:p>
            <a:pPr algn="l"/>
            <a:r>
              <a:rPr sz="1200" b="0">
                <a:solidFill>
                  <a:srgbClr val="3F4444"/>
                </a:solidFill>
                <a:latin typeface="Calibri"/>
              </a:rPr>
              <a:t>TIR detection (binary)</a:t>
            </a:r>
          </a:p>
        </p:txBody>
      </p:sp>
      <p:sp>
        <p:nvSpPr>
          <p:cNvPr id="24" name="Rectangle 23"/>
          <p:cNvSpPr/>
          <p:nvPr/>
        </p:nvSpPr>
        <p:spPr>
          <a:xfrm>
            <a:off x="4617720" y="2029968"/>
            <a:ext cx="914400" cy="47548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2121408"/>
            <a:ext cx="822960" cy="365760"/>
          </a:xfrm>
          <a:prstGeom prst="rect">
            <a:avLst/>
          </a:prstGeom>
          <a:noFill/>
        </p:spPr>
        <p:txBody>
          <a:bodyPr wrap="square">
            <a:spAutoFit/>
          </a:bodyPr>
          <a:lstStyle/>
          <a:p>
            <a:pPr algn="l"/>
            <a:r>
              <a:rPr sz="1200" b="0">
                <a:solidFill>
                  <a:srgbClr val="3F4444"/>
                </a:solidFill>
                <a:latin typeface="Calibri"/>
              </a:rPr>
              <a:t>86%</a:t>
            </a:r>
          </a:p>
        </p:txBody>
      </p:sp>
      <p:sp>
        <p:nvSpPr>
          <p:cNvPr id="26" name="Rectangle 25"/>
          <p:cNvSpPr/>
          <p:nvPr/>
        </p:nvSpPr>
        <p:spPr>
          <a:xfrm>
            <a:off x="5532120" y="2029968"/>
            <a:ext cx="777240" cy="47548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0" y="2121408"/>
            <a:ext cx="685800" cy="365760"/>
          </a:xfrm>
          <a:prstGeom prst="rect">
            <a:avLst/>
          </a:prstGeom>
          <a:noFill/>
        </p:spPr>
        <p:txBody>
          <a:bodyPr wrap="square">
            <a:spAutoFit/>
          </a:bodyPr>
          <a:lstStyle/>
          <a:p>
            <a:pPr algn="l"/>
            <a:r>
              <a:rPr sz="1200" b="0">
                <a:solidFill>
                  <a:srgbClr val="3F4444"/>
                </a:solidFill>
                <a:latin typeface="Calibri"/>
              </a:rPr>
              <a:t>0.86</a:t>
            </a:r>
          </a:p>
        </p:txBody>
      </p:sp>
      <p:sp>
        <p:nvSpPr>
          <p:cNvPr id="28" name="Rectangle 27"/>
          <p:cNvSpPr/>
          <p:nvPr/>
        </p:nvSpPr>
        <p:spPr>
          <a:xfrm>
            <a:off x="6309360" y="2029968"/>
            <a:ext cx="777240" cy="47548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2121408"/>
            <a:ext cx="685800" cy="365760"/>
          </a:xfrm>
          <a:prstGeom prst="rect">
            <a:avLst/>
          </a:prstGeom>
          <a:noFill/>
        </p:spPr>
        <p:txBody>
          <a:bodyPr wrap="square">
            <a:spAutoFit/>
          </a:bodyPr>
          <a:lstStyle/>
          <a:p>
            <a:pPr algn="l"/>
            <a:r>
              <a:rPr sz="1200" b="0">
                <a:solidFill>
                  <a:srgbClr val="3F4444"/>
                </a:solidFill>
                <a:latin typeface="Calibri"/>
              </a:rPr>
              <a:t>—</a:t>
            </a:r>
          </a:p>
        </p:txBody>
      </p:sp>
      <p:sp>
        <p:nvSpPr>
          <p:cNvPr id="30" name="Rectangle 29"/>
          <p:cNvSpPr/>
          <p:nvPr/>
        </p:nvSpPr>
        <p:spPr>
          <a:xfrm>
            <a:off x="320040" y="2505456"/>
            <a:ext cx="164592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2596896"/>
            <a:ext cx="1554480" cy="365760"/>
          </a:xfrm>
          <a:prstGeom prst="rect">
            <a:avLst/>
          </a:prstGeom>
          <a:noFill/>
        </p:spPr>
        <p:txBody>
          <a:bodyPr wrap="square">
            <a:spAutoFit/>
          </a:bodyPr>
          <a:lstStyle/>
          <a:p>
            <a:pPr algn="l"/>
            <a:r>
              <a:rPr sz="1200" b="0">
                <a:solidFill>
                  <a:srgbClr val="3F4444"/>
                </a:solidFill>
                <a:latin typeface="Calibri"/>
              </a:rPr>
              <a:t>v3 (CNN Tower)</a:t>
            </a:r>
          </a:p>
        </p:txBody>
      </p:sp>
      <p:sp>
        <p:nvSpPr>
          <p:cNvPr id="32" name="Rectangle 31"/>
          <p:cNvSpPr/>
          <p:nvPr/>
        </p:nvSpPr>
        <p:spPr>
          <a:xfrm>
            <a:off x="1965960" y="2505456"/>
            <a:ext cx="2651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11680" y="2596896"/>
            <a:ext cx="2560320" cy="365760"/>
          </a:xfrm>
          <a:prstGeom prst="rect">
            <a:avLst/>
          </a:prstGeom>
          <a:noFill/>
        </p:spPr>
        <p:txBody>
          <a:bodyPr wrap="square">
            <a:spAutoFit/>
          </a:bodyPr>
          <a:lstStyle/>
          <a:p>
            <a:pPr algn="l"/>
            <a:r>
              <a:rPr sz="1200" b="0">
                <a:solidFill>
                  <a:srgbClr val="3F4444"/>
                </a:solidFill>
                <a:latin typeface="Calibri"/>
              </a:rPr>
              <a:t>DNA vs non-DNA + 7 DNA superfamilies</a:t>
            </a:r>
          </a:p>
        </p:txBody>
      </p:sp>
      <p:sp>
        <p:nvSpPr>
          <p:cNvPr id="34" name="Rectangle 33"/>
          <p:cNvSpPr/>
          <p:nvPr/>
        </p:nvSpPr>
        <p:spPr>
          <a:xfrm>
            <a:off x="4617720" y="2505456"/>
            <a:ext cx="9144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0" y="2596896"/>
            <a:ext cx="822960" cy="365760"/>
          </a:xfrm>
          <a:prstGeom prst="rect">
            <a:avLst/>
          </a:prstGeom>
          <a:noFill/>
        </p:spPr>
        <p:txBody>
          <a:bodyPr wrap="square">
            <a:spAutoFit/>
          </a:bodyPr>
          <a:lstStyle/>
          <a:p>
            <a:pPr algn="l"/>
            <a:r>
              <a:rPr sz="1200" b="0">
                <a:solidFill>
                  <a:srgbClr val="3F4444"/>
                </a:solidFill>
                <a:latin typeface="Calibri"/>
              </a:rPr>
              <a:t>91.3%</a:t>
            </a:r>
          </a:p>
        </p:txBody>
      </p:sp>
      <p:sp>
        <p:nvSpPr>
          <p:cNvPr id="36" name="Rectangle 35"/>
          <p:cNvSpPr/>
          <p:nvPr/>
        </p:nvSpPr>
        <p:spPr>
          <a:xfrm>
            <a:off x="5532120" y="2505456"/>
            <a:ext cx="77724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77840" y="2596896"/>
            <a:ext cx="685800" cy="365760"/>
          </a:xfrm>
          <a:prstGeom prst="rect">
            <a:avLst/>
          </a:prstGeom>
          <a:noFill/>
        </p:spPr>
        <p:txBody>
          <a:bodyPr wrap="square">
            <a:spAutoFit/>
          </a:bodyPr>
          <a:lstStyle/>
          <a:p>
            <a:pPr algn="l"/>
            <a:r>
              <a:rPr sz="1200" b="0">
                <a:solidFill>
                  <a:srgbClr val="3F4444"/>
                </a:solidFill>
                <a:latin typeface="Calibri"/>
              </a:rPr>
              <a:t>0.87</a:t>
            </a:r>
          </a:p>
        </p:txBody>
      </p:sp>
      <p:sp>
        <p:nvSpPr>
          <p:cNvPr id="38" name="Rectangle 37"/>
          <p:cNvSpPr/>
          <p:nvPr/>
        </p:nvSpPr>
        <p:spPr>
          <a:xfrm>
            <a:off x="6309360" y="2505456"/>
            <a:ext cx="77724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80" y="2596896"/>
            <a:ext cx="685800" cy="365760"/>
          </a:xfrm>
          <a:prstGeom prst="rect">
            <a:avLst/>
          </a:prstGeom>
          <a:noFill/>
        </p:spPr>
        <p:txBody>
          <a:bodyPr wrap="square">
            <a:spAutoFit/>
          </a:bodyPr>
          <a:lstStyle/>
          <a:p>
            <a:pPr algn="l"/>
            <a:r>
              <a:rPr sz="1200" b="0">
                <a:solidFill>
                  <a:srgbClr val="3F4444"/>
                </a:solidFill>
                <a:latin typeface="Calibri"/>
              </a:rPr>
              <a:t>0.90</a:t>
            </a:r>
          </a:p>
        </p:txBody>
      </p:sp>
      <p:sp>
        <p:nvSpPr>
          <p:cNvPr id="40" name="Rectangle 39"/>
          <p:cNvSpPr/>
          <p:nvPr/>
        </p:nvSpPr>
        <p:spPr>
          <a:xfrm>
            <a:off x="320040" y="2980944"/>
            <a:ext cx="1645920" cy="47548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3072384"/>
            <a:ext cx="1554480" cy="365760"/>
          </a:xfrm>
          <a:prstGeom prst="rect">
            <a:avLst/>
          </a:prstGeom>
          <a:noFill/>
        </p:spPr>
        <p:txBody>
          <a:bodyPr wrap="square">
            <a:spAutoFit/>
          </a:bodyPr>
          <a:lstStyle/>
          <a:p>
            <a:pPr algn="l"/>
            <a:r>
              <a:rPr sz="1200" b="0">
                <a:solidFill>
                  <a:srgbClr val="3F4444"/>
                </a:solidFill>
                <a:latin typeface="Calibri"/>
              </a:rPr>
              <a:t>v4 (CNN+GNN Hybrid)</a:t>
            </a:r>
          </a:p>
        </p:txBody>
      </p:sp>
      <p:sp>
        <p:nvSpPr>
          <p:cNvPr id="42" name="Rectangle 41"/>
          <p:cNvSpPr/>
          <p:nvPr/>
        </p:nvSpPr>
        <p:spPr>
          <a:xfrm>
            <a:off x="1965960" y="2980944"/>
            <a:ext cx="2651760" cy="47548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011680" y="3072384"/>
            <a:ext cx="2560320" cy="365760"/>
          </a:xfrm>
          <a:prstGeom prst="rect">
            <a:avLst/>
          </a:prstGeom>
          <a:noFill/>
        </p:spPr>
        <p:txBody>
          <a:bodyPr wrap="square">
            <a:spAutoFit/>
          </a:bodyPr>
          <a:lstStyle/>
          <a:p>
            <a:pPr algn="l"/>
            <a:r>
              <a:rPr sz="1200" b="0">
                <a:solidFill>
                  <a:srgbClr val="3F4444"/>
                </a:solidFill>
                <a:latin typeface="Calibri"/>
              </a:rPr>
              <a:t>DNA vs non-DNA + 7 DNA superfamilies</a:t>
            </a:r>
          </a:p>
        </p:txBody>
      </p:sp>
      <p:sp>
        <p:nvSpPr>
          <p:cNvPr id="44" name="Rectangle 43"/>
          <p:cNvSpPr/>
          <p:nvPr/>
        </p:nvSpPr>
        <p:spPr>
          <a:xfrm>
            <a:off x="4617720" y="2980944"/>
            <a:ext cx="914400" cy="47548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63440" y="3072384"/>
            <a:ext cx="822960" cy="365760"/>
          </a:xfrm>
          <a:prstGeom prst="rect">
            <a:avLst/>
          </a:prstGeom>
          <a:noFill/>
        </p:spPr>
        <p:txBody>
          <a:bodyPr wrap="square">
            <a:spAutoFit/>
          </a:bodyPr>
          <a:lstStyle/>
          <a:p>
            <a:pPr algn="l"/>
            <a:r>
              <a:rPr sz="1200" b="0">
                <a:solidFill>
                  <a:srgbClr val="3F4444"/>
                </a:solidFill>
                <a:latin typeface="Calibri"/>
              </a:rPr>
              <a:t>93.1%</a:t>
            </a:r>
          </a:p>
        </p:txBody>
      </p:sp>
      <p:sp>
        <p:nvSpPr>
          <p:cNvPr id="46" name="Rectangle 45"/>
          <p:cNvSpPr/>
          <p:nvPr/>
        </p:nvSpPr>
        <p:spPr>
          <a:xfrm>
            <a:off x="5532120" y="2980944"/>
            <a:ext cx="777240" cy="47548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77840" y="3072384"/>
            <a:ext cx="685800" cy="365760"/>
          </a:xfrm>
          <a:prstGeom prst="rect">
            <a:avLst/>
          </a:prstGeom>
          <a:noFill/>
        </p:spPr>
        <p:txBody>
          <a:bodyPr wrap="square">
            <a:spAutoFit/>
          </a:bodyPr>
          <a:lstStyle/>
          <a:p>
            <a:pPr algn="l"/>
            <a:r>
              <a:rPr sz="1200" b="0">
                <a:solidFill>
                  <a:srgbClr val="3F4444"/>
                </a:solidFill>
                <a:latin typeface="Calibri"/>
              </a:rPr>
              <a:t>0.89</a:t>
            </a:r>
          </a:p>
        </p:txBody>
      </p:sp>
      <p:sp>
        <p:nvSpPr>
          <p:cNvPr id="48" name="Rectangle 47"/>
          <p:cNvSpPr/>
          <p:nvPr/>
        </p:nvSpPr>
        <p:spPr>
          <a:xfrm>
            <a:off x="6309360" y="2980944"/>
            <a:ext cx="777240" cy="47548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3072384"/>
            <a:ext cx="685800" cy="365760"/>
          </a:xfrm>
          <a:prstGeom prst="rect">
            <a:avLst/>
          </a:prstGeom>
          <a:noFill/>
        </p:spPr>
        <p:txBody>
          <a:bodyPr wrap="square">
            <a:spAutoFit/>
          </a:bodyPr>
          <a:lstStyle/>
          <a:p>
            <a:pPr algn="l"/>
            <a:r>
              <a:rPr sz="1200" b="0">
                <a:solidFill>
                  <a:srgbClr val="3F4444"/>
                </a:solidFill>
                <a:latin typeface="Calibri"/>
              </a:rPr>
              <a:t>0.96</a:t>
            </a:r>
          </a:p>
        </p:txBody>
      </p:sp>
      <p:sp>
        <p:nvSpPr>
          <p:cNvPr id="50" name="Rectangle 49"/>
          <p:cNvSpPr/>
          <p:nvPr/>
        </p:nvSpPr>
        <p:spPr>
          <a:xfrm>
            <a:off x="320040" y="3456432"/>
            <a:ext cx="164592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65760" y="3547872"/>
            <a:ext cx="1554480" cy="365760"/>
          </a:xfrm>
          <a:prstGeom prst="rect">
            <a:avLst/>
          </a:prstGeom>
          <a:noFill/>
        </p:spPr>
        <p:txBody>
          <a:bodyPr wrap="square">
            <a:spAutoFit/>
          </a:bodyPr>
          <a:lstStyle/>
          <a:p>
            <a:pPr algn="l"/>
            <a:r>
              <a:rPr sz="1200" b="0">
                <a:solidFill>
                  <a:srgbClr val="3F4444"/>
                </a:solidFill>
                <a:latin typeface="Calibri"/>
              </a:rPr>
              <a:t>v4.1 (Hybrid, 3-class)</a:t>
            </a:r>
          </a:p>
        </p:txBody>
      </p:sp>
      <p:sp>
        <p:nvSpPr>
          <p:cNvPr id="52" name="Rectangle 51"/>
          <p:cNvSpPr/>
          <p:nvPr/>
        </p:nvSpPr>
        <p:spPr>
          <a:xfrm>
            <a:off x="1965960" y="3456432"/>
            <a:ext cx="2651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011680" y="3547872"/>
            <a:ext cx="2560320" cy="365760"/>
          </a:xfrm>
          <a:prstGeom prst="rect">
            <a:avLst/>
          </a:prstGeom>
          <a:noFill/>
        </p:spPr>
        <p:txBody>
          <a:bodyPr wrap="square">
            <a:spAutoFit/>
          </a:bodyPr>
          <a:lstStyle/>
          <a:p>
            <a:pPr algn="l"/>
            <a:r>
              <a:rPr sz="1200" b="0">
                <a:solidFill>
                  <a:srgbClr val="3F4444"/>
                </a:solidFill>
                <a:latin typeface="Calibri"/>
              </a:rPr>
              <a:t>DNA/LTR/LINE + 23 superfamilies</a:t>
            </a:r>
          </a:p>
        </p:txBody>
      </p:sp>
      <p:sp>
        <p:nvSpPr>
          <p:cNvPr id="54" name="Rectangle 53"/>
          <p:cNvSpPr/>
          <p:nvPr/>
        </p:nvSpPr>
        <p:spPr>
          <a:xfrm>
            <a:off x="4617720" y="3456432"/>
            <a:ext cx="9144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63440" y="3547872"/>
            <a:ext cx="822960" cy="365760"/>
          </a:xfrm>
          <a:prstGeom prst="rect">
            <a:avLst/>
          </a:prstGeom>
          <a:noFill/>
        </p:spPr>
        <p:txBody>
          <a:bodyPr wrap="square">
            <a:spAutoFit/>
          </a:bodyPr>
          <a:lstStyle/>
          <a:p>
            <a:pPr algn="l"/>
            <a:r>
              <a:rPr sz="1200" b="0">
                <a:solidFill>
                  <a:srgbClr val="3F4444"/>
                </a:solidFill>
                <a:latin typeface="Calibri"/>
              </a:rPr>
              <a:t>98.4%</a:t>
            </a:r>
          </a:p>
        </p:txBody>
      </p:sp>
      <p:sp>
        <p:nvSpPr>
          <p:cNvPr id="56" name="Rectangle 55"/>
          <p:cNvSpPr/>
          <p:nvPr/>
        </p:nvSpPr>
        <p:spPr>
          <a:xfrm>
            <a:off x="5532120" y="3456432"/>
            <a:ext cx="77724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577840" y="3547872"/>
            <a:ext cx="685800" cy="365760"/>
          </a:xfrm>
          <a:prstGeom prst="rect">
            <a:avLst/>
          </a:prstGeom>
          <a:noFill/>
        </p:spPr>
        <p:txBody>
          <a:bodyPr wrap="square">
            <a:spAutoFit/>
          </a:bodyPr>
          <a:lstStyle/>
          <a:p>
            <a:pPr algn="l"/>
            <a:r>
              <a:rPr sz="1200" b="0">
                <a:solidFill>
                  <a:srgbClr val="3F4444"/>
                </a:solidFill>
                <a:latin typeface="Calibri"/>
              </a:rPr>
              <a:t>0.984</a:t>
            </a:r>
          </a:p>
        </p:txBody>
      </p:sp>
      <p:sp>
        <p:nvSpPr>
          <p:cNvPr id="58" name="Rectangle 57"/>
          <p:cNvSpPr/>
          <p:nvPr/>
        </p:nvSpPr>
        <p:spPr>
          <a:xfrm>
            <a:off x="6309360" y="3456432"/>
            <a:ext cx="77724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55080" y="3547872"/>
            <a:ext cx="685800" cy="365760"/>
          </a:xfrm>
          <a:prstGeom prst="rect">
            <a:avLst/>
          </a:prstGeom>
          <a:noFill/>
        </p:spPr>
        <p:txBody>
          <a:bodyPr wrap="square">
            <a:spAutoFit/>
          </a:bodyPr>
          <a:lstStyle/>
          <a:p>
            <a:pPr algn="l"/>
            <a:r>
              <a:rPr sz="1200" b="0">
                <a:solidFill>
                  <a:srgbClr val="3F4444"/>
                </a:solidFill>
                <a:latin typeface="Calibri"/>
              </a:rPr>
              <a:t>0.872</a:t>
            </a:r>
          </a:p>
        </p:txBody>
      </p:sp>
      <p:sp>
        <p:nvSpPr>
          <p:cNvPr id="60" name="Rectangle 59"/>
          <p:cNvSpPr/>
          <p:nvPr/>
        </p:nvSpPr>
        <p:spPr>
          <a:xfrm>
            <a:off x="320040" y="4041648"/>
            <a:ext cx="6949440" cy="1005840"/>
          </a:xfrm>
          <a:prstGeom prst="rect">
            <a:avLst/>
          </a:prstGeom>
          <a:solidFill>
            <a:srgbClr val="FF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114800"/>
            <a:ext cx="6675120" cy="320040"/>
          </a:xfrm>
          <a:prstGeom prst="rect">
            <a:avLst/>
          </a:prstGeom>
          <a:noFill/>
        </p:spPr>
        <p:txBody>
          <a:bodyPr wrap="square">
            <a:spAutoFit/>
          </a:bodyPr>
          <a:lstStyle/>
          <a:p>
            <a:pPr algn="l"/>
            <a:r>
              <a:rPr sz="1300" b="1">
                <a:solidFill>
                  <a:srgbClr val="D0006F"/>
                </a:solidFill>
                <a:latin typeface="Calibri"/>
              </a:rPr>
              <a:t>Stage 1 is a label audit, not a generalisation estimate</a:t>
            </a:r>
          </a:p>
        </p:txBody>
      </p:sp>
      <p:sp>
        <p:nvSpPr>
          <p:cNvPr id="62" name="TextBox 61"/>
          <p:cNvSpPr txBox="1"/>
          <p:nvPr/>
        </p:nvSpPr>
        <p:spPr>
          <a:xfrm>
            <a:off x="457200" y="4443984"/>
            <a:ext cx="6675120" cy="548640"/>
          </a:xfrm>
          <a:prstGeom prst="rect">
            <a:avLst/>
          </a:prstGeom>
          <a:noFill/>
        </p:spPr>
        <p:txBody>
          <a:bodyPr wrap="square">
            <a:spAutoFit/>
          </a:bodyPr>
          <a:lstStyle/>
          <a:p>
            <a:pPr algn="l"/>
            <a:r>
              <a:rPr sz="1200" b="0">
                <a:solidFill>
                  <a:srgbClr val="3F4444"/>
                </a:solidFill>
                <a:latin typeface="Calibri"/>
              </a:rPr>
              <a:t>Species overlap inflates test scores. Residual confusions (DNA/CMC, LINE/L1-Tx1) flag mislabelled sequences — enabling confident-learning-style curation of the Pantera catalogue.</a:t>
            </a:r>
          </a:p>
        </p:txBody>
      </p:sp>
      <p:pic>
        <p:nvPicPr>
          <p:cNvPr id="63" name="Picture 62" descr="v3_confusion.png"/>
          <p:cNvPicPr>
            <a:picLocks noChangeAspect="1"/>
          </p:cNvPicPr>
          <p:nvPr/>
        </p:nvPicPr>
        <p:blipFill>
          <a:blip r:embed="rId2"/>
          <a:stretch>
            <a:fillRect/>
          </a:stretch>
        </p:blipFill>
        <p:spPr>
          <a:xfrm>
            <a:off x="7360920" y="1298448"/>
            <a:ext cx="4572000" cy="4846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Stage 2 — Species-Disjoint Protocol (v4.3)</a:t>
            </a:r>
          </a:p>
        </p:txBody>
      </p:sp>
      <p:sp>
        <p:nvSpPr>
          <p:cNvPr id="4" name="TextBox 3"/>
          <p:cNvSpPr txBox="1"/>
          <p:nvPr/>
        </p:nvSpPr>
        <p:spPr>
          <a:xfrm>
            <a:off x="320040" y="804672"/>
            <a:ext cx="11430000" cy="329184"/>
          </a:xfrm>
          <a:prstGeom prst="rect">
            <a:avLst/>
          </a:prstGeom>
          <a:noFill/>
        </p:spPr>
        <p:txBody>
          <a:bodyPr wrap="square">
            <a:spAutoFit/>
          </a:bodyPr>
          <a:lstStyle/>
          <a:p>
            <a:pPr algn="l"/>
            <a:r>
              <a:rPr sz="1300" b="0">
                <a:solidFill>
                  <a:srgbClr val="68D2DF"/>
                </a:solidFill>
                <a:latin typeface="Calibri"/>
              </a:rPr>
              <a:t>Outer split at species level; three amniote genomes excised as mini-benchmark</a:t>
            </a:r>
          </a:p>
        </p:txBody>
      </p:sp>
      <p:sp>
        <p:nvSpPr>
          <p:cNvPr id="5" name="Rectangle 4"/>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8" name="TextBox 7"/>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9</a:t>
            </a:r>
          </a:p>
        </p:txBody>
      </p:sp>
      <p:sp>
        <p:nvSpPr>
          <p:cNvPr id="9" name="TextBox 8"/>
          <p:cNvSpPr txBox="1"/>
          <p:nvPr/>
        </p:nvSpPr>
        <p:spPr>
          <a:xfrm>
            <a:off x="320040" y="1298448"/>
            <a:ext cx="6400800" cy="347472"/>
          </a:xfrm>
          <a:prstGeom prst="rect">
            <a:avLst/>
          </a:prstGeom>
          <a:noFill/>
        </p:spPr>
        <p:txBody>
          <a:bodyPr wrap="square">
            <a:spAutoFit/>
          </a:bodyPr>
          <a:lstStyle/>
          <a:p>
            <a:pPr algn="l"/>
            <a:r>
              <a:rPr sz="1400" b="1">
                <a:solidFill>
                  <a:srgbClr val="003865"/>
                </a:solidFill>
                <a:latin typeface="Calibri"/>
              </a:rPr>
              <a:t>v4.3 — Species-disjoint Pantera test set</a:t>
            </a:r>
          </a:p>
        </p:txBody>
      </p:sp>
      <p:sp>
        <p:nvSpPr>
          <p:cNvPr id="10" name="Rectangle 9"/>
          <p:cNvSpPr/>
          <p:nvPr/>
        </p:nvSpPr>
        <p:spPr>
          <a:xfrm>
            <a:off x="320040" y="1682496"/>
            <a:ext cx="3200400" cy="438912"/>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 y="1773936"/>
            <a:ext cx="3090672" cy="329184"/>
          </a:xfrm>
          <a:prstGeom prst="rect">
            <a:avLst/>
          </a:prstGeom>
          <a:noFill/>
        </p:spPr>
        <p:txBody>
          <a:bodyPr wrap="square">
            <a:spAutoFit/>
          </a:bodyPr>
          <a:lstStyle/>
          <a:p>
            <a:pPr algn="l"/>
            <a:r>
              <a:rPr sz="1200" b="0">
                <a:solidFill>
                  <a:srgbClr val="3F4444"/>
                </a:solidFill>
                <a:latin typeface="Calibri"/>
              </a:rPr>
              <a:t>Three-class (DNA/LTR/LINE)</a:t>
            </a:r>
          </a:p>
        </p:txBody>
      </p:sp>
      <p:sp>
        <p:nvSpPr>
          <p:cNvPr id="12" name="Rectangle 11"/>
          <p:cNvSpPr/>
          <p:nvPr/>
        </p:nvSpPr>
        <p:spPr>
          <a:xfrm>
            <a:off x="3538728" y="1682496"/>
            <a:ext cx="1280160" cy="438912"/>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1773936"/>
            <a:ext cx="1170432" cy="329184"/>
          </a:xfrm>
          <a:prstGeom prst="rect">
            <a:avLst/>
          </a:prstGeom>
          <a:noFill/>
        </p:spPr>
        <p:txBody>
          <a:bodyPr wrap="square">
            <a:spAutoFit/>
          </a:bodyPr>
          <a:lstStyle/>
          <a:p>
            <a:pPr algn="l"/>
            <a:r>
              <a:rPr sz="1200" b="0">
                <a:solidFill>
                  <a:srgbClr val="3F4444"/>
                </a:solidFill>
                <a:latin typeface="Calibri"/>
              </a:rPr>
              <a:t>98.4%</a:t>
            </a:r>
          </a:p>
        </p:txBody>
      </p:sp>
      <p:sp>
        <p:nvSpPr>
          <p:cNvPr id="14" name="Rectangle 13"/>
          <p:cNvSpPr/>
          <p:nvPr/>
        </p:nvSpPr>
        <p:spPr>
          <a:xfrm>
            <a:off x="4837176" y="1682496"/>
            <a:ext cx="1463040" cy="438912"/>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1773936"/>
            <a:ext cx="1353312" cy="329184"/>
          </a:xfrm>
          <a:prstGeom prst="rect">
            <a:avLst/>
          </a:prstGeom>
          <a:noFill/>
        </p:spPr>
        <p:txBody>
          <a:bodyPr wrap="square">
            <a:spAutoFit/>
          </a:bodyPr>
          <a:lstStyle/>
          <a:p>
            <a:pPr algn="l"/>
            <a:r>
              <a:rPr sz="1200" b="0">
                <a:solidFill>
                  <a:srgbClr val="3F4444"/>
                </a:solidFill>
                <a:latin typeface="Calibri"/>
              </a:rPr>
              <a:t>0.982</a:t>
            </a:r>
          </a:p>
        </p:txBody>
      </p:sp>
      <p:sp>
        <p:nvSpPr>
          <p:cNvPr id="16" name="Rectangle 15"/>
          <p:cNvSpPr/>
          <p:nvPr/>
        </p:nvSpPr>
        <p:spPr>
          <a:xfrm>
            <a:off x="320040" y="2121408"/>
            <a:ext cx="32004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2212848"/>
            <a:ext cx="3090672" cy="329184"/>
          </a:xfrm>
          <a:prstGeom prst="rect">
            <a:avLst/>
          </a:prstGeom>
          <a:noFill/>
        </p:spPr>
        <p:txBody>
          <a:bodyPr wrap="square">
            <a:spAutoFit/>
          </a:bodyPr>
          <a:lstStyle/>
          <a:p>
            <a:pPr algn="l"/>
            <a:r>
              <a:rPr sz="1200" b="0">
                <a:solidFill>
                  <a:srgbClr val="3F4444"/>
                </a:solidFill>
                <a:latin typeface="Calibri"/>
              </a:rPr>
              <a:t>Superfamily (23 classes)</a:t>
            </a:r>
          </a:p>
        </p:txBody>
      </p:sp>
      <p:sp>
        <p:nvSpPr>
          <p:cNvPr id="18" name="Rectangle 17"/>
          <p:cNvSpPr/>
          <p:nvPr/>
        </p:nvSpPr>
        <p:spPr>
          <a:xfrm>
            <a:off x="3538728" y="2121408"/>
            <a:ext cx="12801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93592" y="2212848"/>
            <a:ext cx="1170432" cy="329184"/>
          </a:xfrm>
          <a:prstGeom prst="rect">
            <a:avLst/>
          </a:prstGeom>
          <a:noFill/>
        </p:spPr>
        <p:txBody>
          <a:bodyPr wrap="square">
            <a:spAutoFit/>
          </a:bodyPr>
          <a:lstStyle/>
          <a:p>
            <a:pPr algn="l"/>
            <a:r>
              <a:rPr sz="1200" b="0">
                <a:solidFill>
                  <a:srgbClr val="3F4444"/>
                </a:solidFill>
                <a:latin typeface="Calibri"/>
              </a:rPr>
              <a:t>89.3%</a:t>
            </a:r>
          </a:p>
        </p:txBody>
      </p:sp>
      <p:sp>
        <p:nvSpPr>
          <p:cNvPr id="20" name="Rectangle 19"/>
          <p:cNvSpPr/>
          <p:nvPr/>
        </p:nvSpPr>
        <p:spPr>
          <a:xfrm>
            <a:off x="4837176" y="2121408"/>
            <a:ext cx="146304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92040" y="2212848"/>
            <a:ext cx="1353312" cy="329184"/>
          </a:xfrm>
          <a:prstGeom prst="rect">
            <a:avLst/>
          </a:prstGeom>
          <a:noFill/>
        </p:spPr>
        <p:txBody>
          <a:bodyPr wrap="square">
            <a:spAutoFit/>
          </a:bodyPr>
          <a:lstStyle/>
          <a:p>
            <a:pPr algn="l"/>
            <a:r>
              <a:rPr sz="1200" b="0">
                <a:solidFill>
                  <a:srgbClr val="3F4444"/>
                </a:solidFill>
                <a:latin typeface="Calibri"/>
              </a:rPr>
              <a:t>0.727</a:t>
            </a:r>
          </a:p>
        </p:txBody>
      </p:sp>
      <p:sp>
        <p:nvSpPr>
          <p:cNvPr id="22" name="Rectangle 21"/>
          <p:cNvSpPr/>
          <p:nvPr/>
        </p:nvSpPr>
        <p:spPr>
          <a:xfrm>
            <a:off x="320040" y="2560320"/>
            <a:ext cx="3200400" cy="43891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651760"/>
            <a:ext cx="3090672" cy="329184"/>
          </a:xfrm>
          <a:prstGeom prst="rect">
            <a:avLst/>
          </a:prstGeom>
          <a:noFill/>
        </p:spPr>
        <p:txBody>
          <a:bodyPr wrap="square">
            <a:spAutoFit/>
          </a:bodyPr>
          <a:lstStyle/>
          <a:p>
            <a:pPr algn="l"/>
            <a:r>
              <a:rPr sz="1200" b="1">
                <a:solidFill>
                  <a:srgbClr val="FFFFFF"/>
                </a:solidFill>
                <a:latin typeface="Calibri"/>
              </a:rPr>
              <a:t>Per-class: DNA 0.978 | LTR 0.990 | LINE 0.978</a:t>
            </a:r>
          </a:p>
        </p:txBody>
      </p:sp>
      <p:sp>
        <p:nvSpPr>
          <p:cNvPr id="24" name="Rectangle 23"/>
          <p:cNvSpPr/>
          <p:nvPr/>
        </p:nvSpPr>
        <p:spPr>
          <a:xfrm>
            <a:off x="3538728" y="2560320"/>
            <a:ext cx="1280160" cy="43891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3592" y="2651760"/>
            <a:ext cx="1170432" cy="329184"/>
          </a:xfrm>
          <a:prstGeom prst="rect">
            <a:avLst/>
          </a:prstGeom>
          <a:noFill/>
        </p:spPr>
        <p:txBody>
          <a:bodyPr wrap="square">
            <a:spAutoFit/>
          </a:bodyPr>
          <a:lstStyle/>
          <a:p>
            <a:pPr algn="l"/>
            <a:r>
              <a:rPr sz="1200" b="1">
                <a:solidFill>
                  <a:srgbClr val="FFFFFF"/>
                </a:solidFill>
                <a:latin typeface="Calibri"/>
              </a:rPr>
              <a:t>—</a:t>
            </a:r>
          </a:p>
        </p:txBody>
      </p:sp>
      <p:sp>
        <p:nvSpPr>
          <p:cNvPr id="26" name="Rectangle 25"/>
          <p:cNvSpPr/>
          <p:nvPr/>
        </p:nvSpPr>
        <p:spPr>
          <a:xfrm>
            <a:off x="4837176" y="2560320"/>
            <a:ext cx="1463040" cy="43891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92040" y="2651760"/>
            <a:ext cx="1353312" cy="329184"/>
          </a:xfrm>
          <a:prstGeom prst="rect">
            <a:avLst/>
          </a:prstGeom>
          <a:noFill/>
        </p:spPr>
        <p:txBody>
          <a:bodyPr wrap="square">
            <a:spAutoFit/>
          </a:bodyPr>
          <a:lstStyle/>
          <a:p>
            <a:pPr algn="l"/>
            <a:r>
              <a:rPr sz="1200" b="1">
                <a:solidFill>
                  <a:srgbClr val="FFFFFF"/>
                </a:solidFill>
                <a:latin typeface="Calibri"/>
              </a:rPr>
              <a:t>—</a:t>
            </a:r>
          </a:p>
        </p:txBody>
      </p:sp>
      <p:sp>
        <p:nvSpPr>
          <p:cNvPr id="28" name="Rectangle 27"/>
          <p:cNvSpPr/>
          <p:nvPr/>
        </p:nvSpPr>
        <p:spPr>
          <a:xfrm>
            <a:off x="320040" y="3108960"/>
            <a:ext cx="6400800" cy="914400"/>
          </a:xfrm>
          <a:prstGeom prst="rect">
            <a:avLst/>
          </a:prstGeom>
          <a:solidFill>
            <a:srgbClr val="FFF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182112"/>
            <a:ext cx="6126480" cy="301752"/>
          </a:xfrm>
          <a:prstGeom prst="rect">
            <a:avLst/>
          </a:prstGeom>
          <a:noFill/>
        </p:spPr>
        <p:txBody>
          <a:bodyPr wrap="square">
            <a:spAutoFit/>
          </a:bodyPr>
          <a:lstStyle/>
          <a:p>
            <a:pPr algn="l"/>
            <a:r>
              <a:rPr sz="1300" b="1">
                <a:solidFill>
                  <a:srgbClr val="3F4444"/>
                </a:solidFill>
                <a:latin typeface="Calibri"/>
              </a:rPr>
              <a:t>⚠  DNA/hAT F1 = 0.92 is inflated by the rotating inner CV</a:t>
            </a:r>
          </a:p>
        </p:txBody>
      </p:sp>
      <p:sp>
        <p:nvSpPr>
          <p:cNvPr id="30" name="TextBox 29"/>
          <p:cNvSpPr txBox="1"/>
          <p:nvPr/>
        </p:nvSpPr>
        <p:spPr>
          <a:xfrm>
            <a:off x="457200" y="3493008"/>
            <a:ext cx="6126480" cy="457200"/>
          </a:xfrm>
          <a:prstGeom prst="rect">
            <a:avLst/>
          </a:prstGeom>
          <a:noFill/>
        </p:spPr>
        <p:txBody>
          <a:bodyPr wrap="square">
            <a:spAutoFit/>
          </a:bodyPr>
          <a:lstStyle/>
          <a:p>
            <a:pPr algn="l"/>
            <a:r>
              <a:rPr sz="1200" b="0">
                <a:solidFill>
                  <a:srgbClr val="3F4444"/>
                </a:solidFill>
                <a:latin typeface="Calibri"/>
              </a:rPr>
              <a:t>Val species recycle into training across epochs → contaminated early-stopping signal. This apparent result collapses to F1 = 0.26 once the rotation is removed in Stage 3.</a:t>
            </a:r>
          </a:p>
        </p:txBody>
      </p:sp>
      <p:sp>
        <p:nvSpPr>
          <p:cNvPr id="31" name="TextBox 30"/>
          <p:cNvSpPr txBox="1"/>
          <p:nvPr/>
        </p:nvSpPr>
        <p:spPr>
          <a:xfrm>
            <a:off x="320040" y="4151375"/>
            <a:ext cx="6400800" cy="347472"/>
          </a:xfrm>
          <a:prstGeom prst="rect">
            <a:avLst/>
          </a:prstGeom>
          <a:noFill/>
        </p:spPr>
        <p:txBody>
          <a:bodyPr wrap="square">
            <a:spAutoFit/>
          </a:bodyPr>
          <a:lstStyle/>
          <a:p>
            <a:pPr algn="l"/>
            <a:r>
              <a:rPr sz="1300" b="1">
                <a:solidFill>
                  <a:srgbClr val="003865"/>
                </a:solidFill>
                <a:latin typeface="Calibri"/>
              </a:rPr>
              <a:t>GNN gate converges to ~72% weight (three-class task):</a:t>
            </a:r>
          </a:p>
        </p:txBody>
      </p:sp>
      <p:sp>
        <p:nvSpPr>
          <p:cNvPr id="32" name="TextBox 31"/>
          <p:cNvSpPr txBox="1"/>
          <p:nvPr/>
        </p:nvSpPr>
        <p:spPr>
          <a:xfrm>
            <a:off x="320040" y="4498847"/>
            <a:ext cx="6400800" cy="411480"/>
          </a:xfrm>
          <a:prstGeom prst="rect">
            <a:avLst/>
          </a:prstGeom>
          <a:noFill/>
        </p:spPr>
        <p:txBody>
          <a:bodyPr wrap="square">
            <a:spAutoFit/>
          </a:bodyPr>
          <a:lstStyle/>
          <a:p>
            <a:pPr algn="l"/>
            <a:r>
              <a:rPr sz="1200" b="0">
                <a:solidFill>
                  <a:srgbClr val="3F4444"/>
                </a:solidFill>
                <a:latin typeface="Calibri"/>
              </a:rPr>
              <a:t>Consistent with standalone 7-mer baseline: LR F1 = 0.855; near-chance within class (0.064–0.097). GNN provides the top-level compositional prior; CNN drives superfamily discrimination.</a:t>
            </a:r>
          </a:p>
        </p:txBody>
      </p:sp>
      <p:pic>
        <p:nvPicPr>
          <p:cNvPr id="33" name="Picture 32" descr="v4_3_confusion.png"/>
          <p:cNvPicPr>
            <a:picLocks noChangeAspect="1"/>
          </p:cNvPicPr>
          <p:nvPr/>
        </p:nvPicPr>
        <p:blipFill>
          <a:blip r:embed="rId2"/>
          <a:stretch>
            <a:fillRect/>
          </a:stretch>
        </p:blipFill>
        <p:spPr>
          <a:xfrm>
            <a:off x="6675120" y="1298448"/>
            <a:ext cx="5212080" cy="457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k-mer Baseline &amp; Attention Gating</a:t>
            </a:r>
          </a:p>
        </p:txBody>
      </p:sp>
      <p:sp>
        <p:nvSpPr>
          <p:cNvPr id="4" name="TextBox 3"/>
          <p:cNvSpPr txBox="1"/>
          <p:nvPr/>
        </p:nvSpPr>
        <p:spPr>
          <a:xfrm>
            <a:off x="320040" y="804672"/>
            <a:ext cx="11430000" cy="329184"/>
          </a:xfrm>
          <a:prstGeom prst="rect">
            <a:avLst/>
          </a:prstGeom>
          <a:noFill/>
        </p:spPr>
        <p:txBody>
          <a:bodyPr wrap="square">
            <a:spAutoFit/>
          </a:bodyPr>
          <a:lstStyle/>
          <a:p>
            <a:pPr algn="l"/>
            <a:r>
              <a:rPr sz="1300" b="0">
                <a:solidFill>
                  <a:srgbClr val="68D2DF"/>
                </a:solidFill>
                <a:latin typeface="Calibri"/>
              </a:rPr>
              <a:t>What does the GNN branch contribute? Global composition vs. local motifs</a:t>
            </a:r>
          </a:p>
        </p:txBody>
      </p:sp>
      <p:sp>
        <p:nvSpPr>
          <p:cNvPr id="5" name="Rectangle 4"/>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8" name="TextBox 7"/>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10</a:t>
            </a:r>
          </a:p>
        </p:txBody>
      </p:sp>
      <p:sp>
        <p:nvSpPr>
          <p:cNvPr id="9" name="TextBox 8"/>
          <p:cNvSpPr txBox="1"/>
          <p:nvPr/>
        </p:nvSpPr>
        <p:spPr>
          <a:xfrm>
            <a:off x="320040" y="1298448"/>
            <a:ext cx="7132320" cy="347472"/>
          </a:xfrm>
          <a:prstGeom prst="rect">
            <a:avLst/>
          </a:prstGeom>
          <a:noFill/>
        </p:spPr>
        <p:txBody>
          <a:bodyPr wrap="square">
            <a:spAutoFit/>
          </a:bodyPr>
          <a:lstStyle/>
          <a:p>
            <a:pPr algn="l"/>
            <a:r>
              <a:rPr sz="1400" b="1">
                <a:solidFill>
                  <a:srgbClr val="003865"/>
                </a:solidFill>
                <a:latin typeface="Calibri"/>
              </a:rPr>
              <a:t>Standalone k-mer baseline (no CNN)</a:t>
            </a:r>
          </a:p>
        </p:txBody>
      </p:sp>
      <p:sp>
        <p:nvSpPr>
          <p:cNvPr id="10" name="TextBox 9"/>
          <p:cNvSpPr txBox="1"/>
          <p:nvPr/>
        </p:nvSpPr>
        <p:spPr>
          <a:xfrm>
            <a:off x="320040" y="1682496"/>
            <a:ext cx="7132320" cy="1828800"/>
          </a:xfrm>
          <a:prstGeom prst="rect">
            <a:avLst/>
          </a:prstGeom>
          <a:noFill/>
        </p:spPr>
        <p:txBody>
          <a:bodyPr wrap="square">
            <a:spAutoFit/>
          </a:bodyPr>
          <a:lstStyle/>
          <a:p>
            <a:pPr algn="l">
              <a:lnSpc>
                <a:spcPct val="125000"/>
              </a:lnSpc>
              <a:spcBef>
                <a:spcPts val="80"/>
              </a:spcBef>
            </a:pPr>
            <a:r>
              <a:rPr sz="1400">
                <a:solidFill>
                  <a:srgbClr val="3F4444"/>
                </a:solidFill>
                <a:latin typeface="Calibri"/>
              </a:rPr>
              <a:t>▪ Logistic regression on canonical 7-mer frequencies:  macro F1 = 0.855 ± 0.010 (3-class, 5-fold CV)</a:t>
            </a:r>
          </a:p>
          <a:p>
            <a:pPr algn="l">
              <a:lnSpc>
                <a:spcPct val="125000"/>
              </a:lnSpc>
              <a:spcBef>
                <a:spcPts val="80"/>
              </a:spcBef>
            </a:pPr>
            <a:r>
              <a:rPr sz="1400">
                <a:solidFill>
                  <a:srgbClr val="3F4444"/>
                </a:solidFill>
                <a:latin typeface="Calibri"/>
              </a:rPr>
              <a:t>▪ Random forest on same features:  macro F1 = 0.848 ± 0.015</a:t>
            </a:r>
          </a:p>
          <a:p>
            <a:pPr algn="l">
              <a:lnSpc>
                <a:spcPct val="125000"/>
              </a:lnSpc>
              <a:spcBef>
                <a:spcPts val="80"/>
              </a:spcBef>
            </a:pPr>
            <a:r>
              <a:rPr sz="1400">
                <a:solidFill>
                  <a:srgbClr val="3F4444"/>
                </a:solidFill>
                <a:latin typeface="Calibri"/>
              </a:rPr>
              <a:t>▪ Compositional signal alone provides strong prior for top-level class (DNA/LTR/LINE)</a:t>
            </a:r>
          </a:p>
          <a:p>
            <a:pPr algn="l">
              <a:lnSpc>
                <a:spcPct val="125000"/>
              </a:lnSpc>
              <a:spcBef>
                <a:spcPts val="80"/>
              </a:spcBef>
            </a:pPr>
            <a:r>
              <a:rPr sz="1400">
                <a:solidFill>
                  <a:srgbClr val="3F4444"/>
                </a:solidFill>
                <a:latin typeface="Calibri"/>
              </a:rPr>
              <a:t>▪ Within class (e.g., DNA superfamilies):  k-mer F1 = 0.064 – 0.097  ≈ near chance</a:t>
            </a:r>
          </a:p>
          <a:p>
            <a:pPr algn="l">
              <a:lnSpc>
                <a:spcPct val="125000"/>
              </a:lnSpc>
              <a:spcBef>
                <a:spcPts val="80"/>
              </a:spcBef>
            </a:pPr>
            <a:r>
              <a:rPr sz="1400">
                <a:solidFill>
                  <a:srgbClr val="3F4444"/>
                </a:solidFill>
                <a:latin typeface="Calibri"/>
              </a:rPr>
              <a:t>▪ → Superfamily discrimination is driven entirely by the CNN local-motif branch</a:t>
            </a:r>
          </a:p>
        </p:txBody>
      </p:sp>
      <p:sp>
        <p:nvSpPr>
          <p:cNvPr id="11" name="TextBox 10"/>
          <p:cNvSpPr txBox="1"/>
          <p:nvPr/>
        </p:nvSpPr>
        <p:spPr>
          <a:xfrm>
            <a:off x="320040" y="3694176"/>
            <a:ext cx="7132320" cy="347472"/>
          </a:xfrm>
          <a:prstGeom prst="rect">
            <a:avLst/>
          </a:prstGeom>
          <a:noFill/>
        </p:spPr>
        <p:txBody>
          <a:bodyPr wrap="square">
            <a:spAutoFit/>
          </a:bodyPr>
          <a:lstStyle/>
          <a:p>
            <a:pPr algn="l"/>
            <a:r>
              <a:rPr sz="1400" b="1">
                <a:solidFill>
                  <a:srgbClr val="003865"/>
                </a:solidFill>
                <a:latin typeface="Calibri"/>
              </a:rPr>
              <a:t>Attention-gate interpretation</a:t>
            </a:r>
          </a:p>
        </p:txBody>
      </p:sp>
      <p:sp>
        <p:nvSpPr>
          <p:cNvPr id="12" name="TextBox 11"/>
          <p:cNvSpPr txBox="1"/>
          <p:nvPr/>
        </p:nvSpPr>
        <p:spPr>
          <a:xfrm>
            <a:off x="320040" y="4059936"/>
            <a:ext cx="7132320" cy="2194560"/>
          </a:xfrm>
          <a:prstGeom prst="rect">
            <a:avLst/>
          </a:prstGeom>
          <a:noFill/>
        </p:spPr>
        <p:txBody>
          <a:bodyPr wrap="square">
            <a:spAutoFit/>
          </a:bodyPr>
          <a:lstStyle/>
          <a:p>
            <a:pPr algn="l">
              <a:lnSpc>
                <a:spcPct val="125000"/>
              </a:lnSpc>
              <a:spcBef>
                <a:spcPts val="80"/>
              </a:spcBef>
            </a:pPr>
            <a:r>
              <a:rPr sz="1400">
                <a:solidFill>
                  <a:srgbClr val="3F4444"/>
                </a:solidFill>
                <a:latin typeface="Calibri"/>
              </a:rPr>
              <a:t>▪ Binary head (v4): gate weights highly variable — no branch consistently dominates</a:t>
            </a:r>
          </a:p>
          <a:p>
            <a:pPr algn="l">
              <a:lnSpc>
                <a:spcPct val="125000"/>
              </a:lnSpc>
              <a:spcBef>
                <a:spcPts val="80"/>
              </a:spcBef>
            </a:pPr>
            <a:r>
              <a:rPr sz="1400">
                <a:solidFill>
                  <a:srgbClr val="3F4444"/>
                </a:solidFill>
                <a:latin typeface="Calibri"/>
              </a:rPr>
              <a:t>▪ Three-class head (v4.3): GNN weight converges to ~72% from epoch 25</a:t>
            </a:r>
          </a:p>
          <a:p>
            <a:pPr algn="l">
              <a:lnSpc>
                <a:spcPct val="125000"/>
              </a:lnSpc>
              <a:spcBef>
                <a:spcPts val="80"/>
              </a:spcBef>
            </a:pPr>
            <a:r>
              <a:rPr sz="1400">
                <a:solidFill>
                  <a:srgbClr val="3F4444"/>
                </a:solidFill>
                <a:latin typeface="Calibri"/>
              </a:rPr>
              <a:t>▪ Gate pattern tracks the standalone k-mer advantage for top-level class identity</a:t>
            </a:r>
          </a:p>
          <a:p>
            <a:pPr algn="l">
              <a:lnSpc>
                <a:spcPct val="125000"/>
              </a:lnSpc>
              <a:spcBef>
                <a:spcPts val="80"/>
              </a:spcBef>
            </a:pPr>
            <a:r>
              <a:rPr sz="1400">
                <a:solidFill>
                  <a:srgbClr val="3F4444"/>
                </a:solidFill>
                <a:latin typeface="Calibri"/>
              </a:rPr>
              <a:t>▪ The gate acts as a soft prior: downweights GNN when asked a within-class question</a:t>
            </a:r>
          </a:p>
        </p:txBody>
      </p:sp>
      <p:pic>
        <p:nvPicPr>
          <p:cNvPr id="13" name="Picture 12" descr="kmer_separation.png"/>
          <p:cNvPicPr>
            <a:picLocks noChangeAspect="1"/>
          </p:cNvPicPr>
          <p:nvPr/>
        </p:nvPicPr>
        <p:blipFill>
          <a:blip r:embed="rId2"/>
          <a:stretch>
            <a:fillRect/>
          </a:stretch>
        </p:blipFill>
        <p:spPr>
          <a:xfrm>
            <a:off x="7589520" y="1298448"/>
            <a:ext cx="4297680" cy="2377440"/>
          </a:xfrm>
          <a:prstGeom prst="rect">
            <a:avLst/>
          </a:prstGeom>
        </p:spPr>
      </p:pic>
      <p:pic>
        <p:nvPicPr>
          <p:cNvPr id="14" name="Picture 13" descr="gate_weights.png"/>
          <p:cNvPicPr>
            <a:picLocks noChangeAspect="1"/>
          </p:cNvPicPr>
          <p:nvPr/>
        </p:nvPicPr>
        <p:blipFill>
          <a:blip r:embed="rId3"/>
          <a:stretch>
            <a:fillRect/>
          </a:stretch>
        </p:blipFill>
        <p:spPr>
          <a:xfrm>
            <a:off x="7589520" y="3767328"/>
            <a:ext cx="4297680" cy="23774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Stage 3 — Single-Fold Inner Split (v4.3-singlefold)</a:t>
            </a:r>
          </a:p>
        </p:txBody>
      </p:sp>
      <p:sp>
        <p:nvSpPr>
          <p:cNvPr id="4" name="TextBox 3"/>
          <p:cNvSpPr txBox="1"/>
          <p:nvPr/>
        </p:nvSpPr>
        <p:spPr>
          <a:xfrm>
            <a:off x="320040" y="804672"/>
            <a:ext cx="11430000" cy="329184"/>
          </a:xfrm>
          <a:prstGeom prst="rect">
            <a:avLst/>
          </a:prstGeom>
          <a:noFill/>
        </p:spPr>
        <p:txBody>
          <a:bodyPr wrap="square">
            <a:spAutoFit/>
          </a:bodyPr>
          <a:lstStyle/>
          <a:p>
            <a:pPr algn="l"/>
            <a:r>
              <a:rPr sz="1300" b="0">
                <a:solidFill>
                  <a:srgbClr val="68D2DF"/>
                </a:solidFill>
                <a:latin typeface="Calibri"/>
              </a:rPr>
              <a:t>Train/val species fully disjoint — most conservative estimate of generalisation</a:t>
            </a:r>
          </a:p>
        </p:txBody>
      </p:sp>
      <p:sp>
        <p:nvSpPr>
          <p:cNvPr id="5" name="Rectangle 4"/>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8" name="TextBox 7"/>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11</a:t>
            </a:r>
          </a:p>
        </p:txBody>
      </p:sp>
      <p:sp>
        <p:nvSpPr>
          <p:cNvPr id="9" name="TextBox 8"/>
          <p:cNvSpPr txBox="1"/>
          <p:nvPr/>
        </p:nvSpPr>
        <p:spPr>
          <a:xfrm>
            <a:off x="320040" y="1298448"/>
            <a:ext cx="6675120" cy="347472"/>
          </a:xfrm>
          <a:prstGeom prst="rect">
            <a:avLst/>
          </a:prstGeom>
          <a:noFill/>
        </p:spPr>
        <p:txBody>
          <a:bodyPr wrap="square">
            <a:spAutoFit/>
          </a:bodyPr>
          <a:lstStyle/>
          <a:p>
            <a:pPr algn="l"/>
            <a:r>
              <a:rPr sz="1400" b="1">
                <a:solidFill>
                  <a:srgbClr val="003865"/>
                </a:solidFill>
                <a:latin typeface="Calibri"/>
              </a:rPr>
              <a:t>Side-by-side stage comparison (species-disjoint Pantera test set)</a:t>
            </a:r>
          </a:p>
        </p:txBody>
      </p:sp>
      <p:sp>
        <p:nvSpPr>
          <p:cNvPr id="10" name="Rectangle 9"/>
          <p:cNvSpPr/>
          <p:nvPr/>
        </p:nvSpPr>
        <p:spPr>
          <a:xfrm>
            <a:off x="320040" y="1682496"/>
            <a:ext cx="731520" cy="34747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 y="1728216"/>
            <a:ext cx="658368" cy="274320"/>
          </a:xfrm>
          <a:prstGeom prst="rect">
            <a:avLst/>
          </a:prstGeom>
          <a:noFill/>
        </p:spPr>
        <p:txBody>
          <a:bodyPr wrap="square">
            <a:spAutoFit/>
          </a:bodyPr>
          <a:lstStyle/>
          <a:p>
            <a:pPr algn="ctr"/>
            <a:r>
              <a:rPr sz="1100" b="1">
                <a:solidFill>
                  <a:srgbClr val="FFFFFF"/>
                </a:solidFill>
                <a:latin typeface="Calibri"/>
              </a:rPr>
              <a:t>Stage</a:t>
            </a:r>
          </a:p>
        </p:txBody>
      </p:sp>
      <p:sp>
        <p:nvSpPr>
          <p:cNvPr id="12" name="Rectangle 11"/>
          <p:cNvSpPr/>
          <p:nvPr/>
        </p:nvSpPr>
        <p:spPr>
          <a:xfrm>
            <a:off x="1051560" y="1682496"/>
            <a:ext cx="1737360" cy="34747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8136" y="1728216"/>
            <a:ext cx="1664208" cy="274320"/>
          </a:xfrm>
          <a:prstGeom prst="rect">
            <a:avLst/>
          </a:prstGeom>
          <a:noFill/>
        </p:spPr>
        <p:txBody>
          <a:bodyPr wrap="square">
            <a:spAutoFit/>
          </a:bodyPr>
          <a:lstStyle/>
          <a:p>
            <a:pPr algn="ctr"/>
            <a:r>
              <a:rPr sz="1100" b="1">
                <a:solidFill>
                  <a:srgbClr val="FFFFFF"/>
                </a:solidFill>
                <a:latin typeface="Calibri"/>
              </a:rPr>
              <a:t>Variant</a:t>
            </a:r>
          </a:p>
        </p:txBody>
      </p:sp>
      <p:sp>
        <p:nvSpPr>
          <p:cNvPr id="14" name="Rectangle 13"/>
          <p:cNvSpPr/>
          <p:nvPr/>
        </p:nvSpPr>
        <p:spPr>
          <a:xfrm>
            <a:off x="2788920" y="1682496"/>
            <a:ext cx="777240" cy="34747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25496" y="1728216"/>
            <a:ext cx="704088" cy="274320"/>
          </a:xfrm>
          <a:prstGeom prst="rect">
            <a:avLst/>
          </a:prstGeom>
          <a:noFill/>
        </p:spPr>
        <p:txBody>
          <a:bodyPr wrap="square">
            <a:spAutoFit/>
          </a:bodyPr>
          <a:lstStyle/>
          <a:p>
            <a:pPr algn="ctr"/>
            <a:r>
              <a:rPr sz="1100" b="1">
                <a:solidFill>
                  <a:srgbClr val="FFFFFF"/>
                </a:solidFill>
                <a:latin typeface="Calibri"/>
              </a:rPr>
              <a:t>Cls Acc</a:t>
            </a:r>
          </a:p>
        </p:txBody>
      </p:sp>
      <p:sp>
        <p:nvSpPr>
          <p:cNvPr id="16" name="Rectangle 15"/>
          <p:cNvSpPr/>
          <p:nvPr/>
        </p:nvSpPr>
        <p:spPr>
          <a:xfrm>
            <a:off x="3566160" y="1682496"/>
            <a:ext cx="731520" cy="34747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2736" y="1728216"/>
            <a:ext cx="658368" cy="274320"/>
          </a:xfrm>
          <a:prstGeom prst="rect">
            <a:avLst/>
          </a:prstGeom>
          <a:noFill/>
        </p:spPr>
        <p:txBody>
          <a:bodyPr wrap="square">
            <a:spAutoFit/>
          </a:bodyPr>
          <a:lstStyle/>
          <a:p>
            <a:pPr algn="ctr"/>
            <a:r>
              <a:rPr sz="1100" b="1">
                <a:solidFill>
                  <a:srgbClr val="FFFFFF"/>
                </a:solidFill>
                <a:latin typeface="Calibri"/>
              </a:rPr>
              <a:t>Cls F1</a:t>
            </a:r>
          </a:p>
        </p:txBody>
      </p:sp>
      <p:sp>
        <p:nvSpPr>
          <p:cNvPr id="18" name="Rectangle 17"/>
          <p:cNvSpPr/>
          <p:nvPr/>
        </p:nvSpPr>
        <p:spPr>
          <a:xfrm>
            <a:off x="4297680" y="1682496"/>
            <a:ext cx="685800" cy="34747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34256" y="1728216"/>
            <a:ext cx="612648" cy="274320"/>
          </a:xfrm>
          <a:prstGeom prst="rect">
            <a:avLst/>
          </a:prstGeom>
          <a:noFill/>
        </p:spPr>
        <p:txBody>
          <a:bodyPr wrap="square">
            <a:spAutoFit/>
          </a:bodyPr>
          <a:lstStyle/>
          <a:p>
            <a:pPr algn="ctr"/>
            <a:r>
              <a:rPr sz="1100" b="1">
                <a:solidFill>
                  <a:srgbClr val="FFFFFF"/>
                </a:solidFill>
                <a:latin typeface="Calibri"/>
              </a:rPr>
              <a:t>SF F1</a:t>
            </a:r>
          </a:p>
        </p:txBody>
      </p:sp>
      <p:sp>
        <p:nvSpPr>
          <p:cNvPr id="20" name="Rectangle 19"/>
          <p:cNvSpPr/>
          <p:nvPr/>
        </p:nvSpPr>
        <p:spPr>
          <a:xfrm>
            <a:off x="4983480" y="1682496"/>
            <a:ext cx="914400" cy="34747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0056" y="1728216"/>
            <a:ext cx="841248" cy="274320"/>
          </a:xfrm>
          <a:prstGeom prst="rect">
            <a:avLst/>
          </a:prstGeom>
          <a:noFill/>
        </p:spPr>
        <p:txBody>
          <a:bodyPr wrap="square">
            <a:spAutoFit/>
          </a:bodyPr>
          <a:lstStyle/>
          <a:p>
            <a:pPr algn="ctr"/>
            <a:r>
              <a:rPr sz="1100" b="1">
                <a:solidFill>
                  <a:srgbClr val="FFFFFF"/>
                </a:solidFill>
                <a:latin typeface="Calibri"/>
              </a:rPr>
              <a:t>hAT F1</a:t>
            </a:r>
          </a:p>
        </p:txBody>
      </p:sp>
      <p:sp>
        <p:nvSpPr>
          <p:cNvPr id="22" name="Rectangle 21"/>
          <p:cNvSpPr/>
          <p:nvPr/>
        </p:nvSpPr>
        <p:spPr>
          <a:xfrm>
            <a:off x="5897880" y="1682496"/>
            <a:ext cx="914400" cy="347472"/>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34456" y="1728216"/>
            <a:ext cx="841248" cy="274320"/>
          </a:xfrm>
          <a:prstGeom prst="rect">
            <a:avLst/>
          </a:prstGeom>
          <a:noFill/>
        </p:spPr>
        <p:txBody>
          <a:bodyPr wrap="square">
            <a:spAutoFit/>
          </a:bodyPr>
          <a:lstStyle/>
          <a:p>
            <a:pPr algn="ctr"/>
            <a:r>
              <a:rPr sz="1100" b="1">
                <a:solidFill>
                  <a:srgbClr val="FFFFFF"/>
                </a:solidFill>
                <a:latin typeface="Calibri"/>
              </a:rPr>
              <a:t>Tr/Val
Disjoint?</a:t>
            </a:r>
          </a:p>
        </p:txBody>
      </p:sp>
      <p:sp>
        <p:nvSpPr>
          <p:cNvPr id="24" name="Rectangle 23"/>
          <p:cNvSpPr/>
          <p:nvPr/>
        </p:nvSpPr>
        <p:spPr>
          <a:xfrm>
            <a:off x="320040" y="2029968"/>
            <a:ext cx="73152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6616" y="2121408"/>
            <a:ext cx="658368" cy="347472"/>
          </a:xfrm>
          <a:prstGeom prst="rect">
            <a:avLst/>
          </a:prstGeom>
          <a:noFill/>
        </p:spPr>
        <p:txBody>
          <a:bodyPr wrap="square">
            <a:spAutoFit/>
          </a:bodyPr>
          <a:lstStyle/>
          <a:p>
            <a:pPr algn="ctr"/>
            <a:r>
              <a:rPr sz="1100" b="0">
                <a:solidFill>
                  <a:srgbClr val="3F4444"/>
                </a:solidFill>
                <a:latin typeface="Calibri"/>
              </a:rPr>
              <a:t>Stage 1</a:t>
            </a:r>
          </a:p>
        </p:txBody>
      </p:sp>
      <p:sp>
        <p:nvSpPr>
          <p:cNvPr id="26" name="Rectangle 25"/>
          <p:cNvSpPr/>
          <p:nvPr/>
        </p:nvSpPr>
        <p:spPr>
          <a:xfrm>
            <a:off x="1051560" y="2029968"/>
            <a:ext cx="173736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8136" y="2121408"/>
            <a:ext cx="1664208" cy="347472"/>
          </a:xfrm>
          <a:prstGeom prst="rect">
            <a:avLst/>
          </a:prstGeom>
          <a:noFill/>
        </p:spPr>
        <p:txBody>
          <a:bodyPr wrap="square">
            <a:spAutoFit/>
          </a:bodyPr>
          <a:lstStyle/>
          <a:p>
            <a:pPr algn="ctr"/>
            <a:r>
              <a:rPr sz="1100" b="0">
                <a:solidFill>
                  <a:srgbClr val="3F4444"/>
                </a:solidFill>
                <a:latin typeface="Calibri"/>
              </a:rPr>
              <a:t>v4.1</a:t>
            </a:r>
          </a:p>
        </p:txBody>
      </p:sp>
      <p:sp>
        <p:nvSpPr>
          <p:cNvPr id="28" name="Rectangle 27"/>
          <p:cNvSpPr/>
          <p:nvPr/>
        </p:nvSpPr>
        <p:spPr>
          <a:xfrm>
            <a:off x="2788920" y="2029968"/>
            <a:ext cx="77724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25496" y="2121408"/>
            <a:ext cx="704088" cy="347472"/>
          </a:xfrm>
          <a:prstGeom prst="rect">
            <a:avLst/>
          </a:prstGeom>
          <a:noFill/>
        </p:spPr>
        <p:txBody>
          <a:bodyPr wrap="square">
            <a:spAutoFit/>
          </a:bodyPr>
          <a:lstStyle/>
          <a:p>
            <a:pPr algn="ctr"/>
            <a:r>
              <a:rPr sz="1100" b="0">
                <a:solidFill>
                  <a:srgbClr val="3F4444"/>
                </a:solidFill>
                <a:latin typeface="Calibri"/>
              </a:rPr>
              <a:t>98.4%</a:t>
            </a:r>
          </a:p>
        </p:txBody>
      </p:sp>
      <p:sp>
        <p:nvSpPr>
          <p:cNvPr id="30" name="Rectangle 29"/>
          <p:cNvSpPr/>
          <p:nvPr/>
        </p:nvSpPr>
        <p:spPr>
          <a:xfrm>
            <a:off x="3566160" y="2029968"/>
            <a:ext cx="73152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02736" y="2121408"/>
            <a:ext cx="658368" cy="347472"/>
          </a:xfrm>
          <a:prstGeom prst="rect">
            <a:avLst/>
          </a:prstGeom>
          <a:noFill/>
        </p:spPr>
        <p:txBody>
          <a:bodyPr wrap="square">
            <a:spAutoFit/>
          </a:bodyPr>
          <a:lstStyle/>
          <a:p>
            <a:pPr algn="ctr"/>
            <a:r>
              <a:rPr sz="1100" b="0">
                <a:solidFill>
                  <a:srgbClr val="3F4444"/>
                </a:solidFill>
                <a:latin typeface="Calibri"/>
              </a:rPr>
              <a:t>0.984</a:t>
            </a:r>
          </a:p>
        </p:txBody>
      </p:sp>
      <p:sp>
        <p:nvSpPr>
          <p:cNvPr id="32" name="Rectangle 31"/>
          <p:cNvSpPr/>
          <p:nvPr/>
        </p:nvSpPr>
        <p:spPr>
          <a:xfrm>
            <a:off x="4297680" y="2029968"/>
            <a:ext cx="68580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34256" y="2121408"/>
            <a:ext cx="612648" cy="347472"/>
          </a:xfrm>
          <a:prstGeom prst="rect">
            <a:avLst/>
          </a:prstGeom>
          <a:noFill/>
        </p:spPr>
        <p:txBody>
          <a:bodyPr wrap="square">
            <a:spAutoFit/>
          </a:bodyPr>
          <a:lstStyle/>
          <a:p>
            <a:pPr algn="ctr"/>
            <a:r>
              <a:rPr sz="1100" b="0">
                <a:solidFill>
                  <a:srgbClr val="3F4444"/>
                </a:solidFill>
                <a:latin typeface="Calibri"/>
              </a:rPr>
              <a:t>0.872</a:t>
            </a:r>
          </a:p>
        </p:txBody>
      </p:sp>
      <p:sp>
        <p:nvSpPr>
          <p:cNvPr id="34" name="Rectangle 33"/>
          <p:cNvSpPr/>
          <p:nvPr/>
        </p:nvSpPr>
        <p:spPr>
          <a:xfrm>
            <a:off x="4983480" y="2029968"/>
            <a:ext cx="91440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0056" y="2121408"/>
            <a:ext cx="841248" cy="347472"/>
          </a:xfrm>
          <a:prstGeom prst="rect">
            <a:avLst/>
          </a:prstGeom>
          <a:noFill/>
        </p:spPr>
        <p:txBody>
          <a:bodyPr wrap="square">
            <a:spAutoFit/>
          </a:bodyPr>
          <a:lstStyle/>
          <a:p>
            <a:pPr algn="ctr"/>
            <a:r>
              <a:rPr sz="1100" b="0">
                <a:solidFill>
                  <a:srgbClr val="3F4444"/>
                </a:solidFill>
                <a:latin typeface="Calibri"/>
              </a:rPr>
              <a:t>—</a:t>
            </a:r>
          </a:p>
        </p:txBody>
      </p:sp>
      <p:sp>
        <p:nvSpPr>
          <p:cNvPr id="36" name="Rectangle 35"/>
          <p:cNvSpPr/>
          <p:nvPr/>
        </p:nvSpPr>
        <p:spPr>
          <a:xfrm>
            <a:off x="5897880" y="2029968"/>
            <a:ext cx="91440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34456" y="2121408"/>
            <a:ext cx="841248" cy="347472"/>
          </a:xfrm>
          <a:prstGeom prst="rect">
            <a:avLst/>
          </a:prstGeom>
          <a:noFill/>
        </p:spPr>
        <p:txBody>
          <a:bodyPr wrap="square">
            <a:spAutoFit/>
          </a:bodyPr>
          <a:lstStyle/>
          <a:p>
            <a:pPr algn="ctr"/>
            <a:r>
              <a:rPr sz="1100" b="0">
                <a:solidFill>
                  <a:srgbClr val="3F4444"/>
                </a:solidFill>
                <a:latin typeface="Calibri"/>
              </a:rPr>
              <a:t>No</a:t>
            </a:r>
          </a:p>
        </p:txBody>
      </p:sp>
      <p:sp>
        <p:nvSpPr>
          <p:cNvPr id="38" name="Rectangle 37"/>
          <p:cNvSpPr/>
          <p:nvPr/>
        </p:nvSpPr>
        <p:spPr>
          <a:xfrm>
            <a:off x="320040" y="2487168"/>
            <a:ext cx="7315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56616" y="2578608"/>
            <a:ext cx="658368" cy="347472"/>
          </a:xfrm>
          <a:prstGeom prst="rect">
            <a:avLst/>
          </a:prstGeom>
          <a:noFill/>
        </p:spPr>
        <p:txBody>
          <a:bodyPr wrap="square">
            <a:spAutoFit/>
          </a:bodyPr>
          <a:lstStyle/>
          <a:p>
            <a:pPr algn="ctr"/>
            <a:r>
              <a:rPr sz="1100" b="0">
                <a:solidFill>
                  <a:srgbClr val="3F4444"/>
                </a:solidFill>
                <a:latin typeface="Calibri"/>
              </a:rPr>
              <a:t>Stage 2</a:t>
            </a:r>
          </a:p>
        </p:txBody>
      </p:sp>
      <p:sp>
        <p:nvSpPr>
          <p:cNvPr id="40" name="Rectangle 39"/>
          <p:cNvSpPr/>
          <p:nvPr/>
        </p:nvSpPr>
        <p:spPr>
          <a:xfrm>
            <a:off x="1051560" y="2487168"/>
            <a:ext cx="17373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8136" y="2578608"/>
            <a:ext cx="1664208" cy="347472"/>
          </a:xfrm>
          <a:prstGeom prst="rect">
            <a:avLst/>
          </a:prstGeom>
          <a:noFill/>
        </p:spPr>
        <p:txBody>
          <a:bodyPr wrap="square">
            <a:spAutoFit/>
          </a:bodyPr>
          <a:lstStyle/>
          <a:p>
            <a:pPr algn="ctr"/>
            <a:r>
              <a:rPr sz="1100" b="0">
                <a:solidFill>
                  <a:srgbClr val="3F4444"/>
                </a:solidFill>
                <a:latin typeface="Calibri"/>
              </a:rPr>
              <a:t>v4.2</a:t>
            </a:r>
          </a:p>
        </p:txBody>
      </p:sp>
      <p:sp>
        <p:nvSpPr>
          <p:cNvPr id="42" name="Rectangle 41"/>
          <p:cNvSpPr/>
          <p:nvPr/>
        </p:nvSpPr>
        <p:spPr>
          <a:xfrm>
            <a:off x="2788920" y="2487168"/>
            <a:ext cx="7772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25496" y="2578608"/>
            <a:ext cx="704088" cy="347472"/>
          </a:xfrm>
          <a:prstGeom prst="rect">
            <a:avLst/>
          </a:prstGeom>
          <a:noFill/>
        </p:spPr>
        <p:txBody>
          <a:bodyPr wrap="square">
            <a:spAutoFit/>
          </a:bodyPr>
          <a:lstStyle/>
          <a:p>
            <a:pPr algn="ctr"/>
            <a:r>
              <a:rPr sz="1100" b="0">
                <a:solidFill>
                  <a:srgbClr val="3F4444"/>
                </a:solidFill>
                <a:latin typeface="Calibri"/>
              </a:rPr>
              <a:t>92.5%</a:t>
            </a:r>
          </a:p>
        </p:txBody>
      </p:sp>
      <p:sp>
        <p:nvSpPr>
          <p:cNvPr id="44" name="Rectangle 43"/>
          <p:cNvSpPr/>
          <p:nvPr/>
        </p:nvSpPr>
        <p:spPr>
          <a:xfrm>
            <a:off x="3566160" y="2487168"/>
            <a:ext cx="7315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02736" y="2578608"/>
            <a:ext cx="658368" cy="347472"/>
          </a:xfrm>
          <a:prstGeom prst="rect">
            <a:avLst/>
          </a:prstGeom>
          <a:noFill/>
        </p:spPr>
        <p:txBody>
          <a:bodyPr wrap="square">
            <a:spAutoFit/>
          </a:bodyPr>
          <a:lstStyle/>
          <a:p>
            <a:pPr algn="ctr"/>
            <a:r>
              <a:rPr sz="1100" b="0">
                <a:solidFill>
                  <a:srgbClr val="3F4444"/>
                </a:solidFill>
                <a:latin typeface="Calibri"/>
              </a:rPr>
              <a:t>0.895</a:t>
            </a:r>
          </a:p>
        </p:txBody>
      </p:sp>
      <p:sp>
        <p:nvSpPr>
          <p:cNvPr id="46" name="Rectangle 45"/>
          <p:cNvSpPr/>
          <p:nvPr/>
        </p:nvSpPr>
        <p:spPr>
          <a:xfrm>
            <a:off x="4297680" y="2487168"/>
            <a:ext cx="685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34256" y="2578608"/>
            <a:ext cx="612648" cy="347472"/>
          </a:xfrm>
          <a:prstGeom prst="rect">
            <a:avLst/>
          </a:prstGeom>
          <a:noFill/>
        </p:spPr>
        <p:txBody>
          <a:bodyPr wrap="square">
            <a:spAutoFit/>
          </a:bodyPr>
          <a:lstStyle/>
          <a:p>
            <a:pPr algn="ctr"/>
            <a:r>
              <a:rPr sz="1100" b="0">
                <a:solidFill>
                  <a:srgbClr val="3F4444"/>
                </a:solidFill>
                <a:latin typeface="Calibri"/>
              </a:rPr>
              <a:t>0.604</a:t>
            </a:r>
          </a:p>
        </p:txBody>
      </p:sp>
      <p:sp>
        <p:nvSpPr>
          <p:cNvPr id="48" name="Rectangle 47"/>
          <p:cNvSpPr/>
          <p:nvPr/>
        </p:nvSpPr>
        <p:spPr>
          <a:xfrm>
            <a:off x="4983480" y="2487168"/>
            <a:ext cx="914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0056" y="2578608"/>
            <a:ext cx="841248" cy="347472"/>
          </a:xfrm>
          <a:prstGeom prst="rect">
            <a:avLst/>
          </a:prstGeom>
          <a:noFill/>
        </p:spPr>
        <p:txBody>
          <a:bodyPr wrap="square">
            <a:spAutoFit/>
          </a:bodyPr>
          <a:lstStyle/>
          <a:p>
            <a:pPr algn="ctr"/>
            <a:r>
              <a:rPr sz="1100" b="0">
                <a:solidFill>
                  <a:srgbClr val="3F4444"/>
                </a:solidFill>
                <a:latin typeface="Calibri"/>
              </a:rPr>
              <a:t>0.265</a:t>
            </a:r>
          </a:p>
        </p:txBody>
      </p:sp>
      <p:sp>
        <p:nvSpPr>
          <p:cNvPr id="50" name="Rectangle 49"/>
          <p:cNvSpPr/>
          <p:nvPr/>
        </p:nvSpPr>
        <p:spPr>
          <a:xfrm>
            <a:off x="5897880" y="2487168"/>
            <a:ext cx="914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34456" y="2578608"/>
            <a:ext cx="841248" cy="347472"/>
          </a:xfrm>
          <a:prstGeom prst="rect">
            <a:avLst/>
          </a:prstGeom>
          <a:noFill/>
        </p:spPr>
        <p:txBody>
          <a:bodyPr wrap="square">
            <a:spAutoFit/>
          </a:bodyPr>
          <a:lstStyle/>
          <a:p>
            <a:pPr algn="ctr"/>
            <a:r>
              <a:rPr sz="1100" b="0">
                <a:solidFill>
                  <a:srgbClr val="3F4444"/>
                </a:solidFill>
                <a:latin typeface="Calibri"/>
              </a:rPr>
              <a:t>No</a:t>
            </a:r>
          </a:p>
        </p:txBody>
      </p:sp>
      <p:sp>
        <p:nvSpPr>
          <p:cNvPr id="52" name="Rectangle 51"/>
          <p:cNvSpPr/>
          <p:nvPr/>
        </p:nvSpPr>
        <p:spPr>
          <a:xfrm>
            <a:off x="320040" y="2944368"/>
            <a:ext cx="73152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56616" y="3035808"/>
            <a:ext cx="658368" cy="347472"/>
          </a:xfrm>
          <a:prstGeom prst="rect">
            <a:avLst/>
          </a:prstGeom>
          <a:noFill/>
        </p:spPr>
        <p:txBody>
          <a:bodyPr wrap="square">
            <a:spAutoFit/>
          </a:bodyPr>
          <a:lstStyle/>
          <a:p>
            <a:pPr algn="ctr"/>
            <a:r>
              <a:rPr sz="1100" b="0">
                <a:solidFill>
                  <a:srgbClr val="3F4444"/>
                </a:solidFill>
                <a:latin typeface="Calibri"/>
              </a:rPr>
              <a:t>Stage 2</a:t>
            </a:r>
          </a:p>
        </p:txBody>
      </p:sp>
      <p:sp>
        <p:nvSpPr>
          <p:cNvPr id="54" name="Rectangle 53"/>
          <p:cNvSpPr/>
          <p:nvPr/>
        </p:nvSpPr>
        <p:spPr>
          <a:xfrm>
            <a:off x="1051560" y="2944368"/>
            <a:ext cx="173736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8136" y="3035808"/>
            <a:ext cx="1664208" cy="347472"/>
          </a:xfrm>
          <a:prstGeom prst="rect">
            <a:avLst/>
          </a:prstGeom>
          <a:noFill/>
        </p:spPr>
        <p:txBody>
          <a:bodyPr wrap="square">
            <a:spAutoFit/>
          </a:bodyPr>
          <a:lstStyle/>
          <a:p>
            <a:pPr algn="ctr"/>
            <a:r>
              <a:rPr sz="1100" b="0">
                <a:solidFill>
                  <a:srgbClr val="3F4444"/>
                </a:solidFill>
                <a:latin typeface="Calibri"/>
              </a:rPr>
              <a:t>v4.3</a:t>
            </a:r>
          </a:p>
        </p:txBody>
      </p:sp>
      <p:sp>
        <p:nvSpPr>
          <p:cNvPr id="56" name="Rectangle 55"/>
          <p:cNvSpPr/>
          <p:nvPr/>
        </p:nvSpPr>
        <p:spPr>
          <a:xfrm>
            <a:off x="2788920" y="2944368"/>
            <a:ext cx="77724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825496" y="3035808"/>
            <a:ext cx="704088" cy="347472"/>
          </a:xfrm>
          <a:prstGeom prst="rect">
            <a:avLst/>
          </a:prstGeom>
          <a:noFill/>
        </p:spPr>
        <p:txBody>
          <a:bodyPr wrap="square">
            <a:spAutoFit/>
          </a:bodyPr>
          <a:lstStyle/>
          <a:p>
            <a:pPr algn="ctr"/>
            <a:r>
              <a:rPr sz="1100" b="0">
                <a:solidFill>
                  <a:srgbClr val="3F4444"/>
                </a:solidFill>
                <a:latin typeface="Calibri"/>
              </a:rPr>
              <a:t>98.4%</a:t>
            </a:r>
          </a:p>
        </p:txBody>
      </p:sp>
      <p:sp>
        <p:nvSpPr>
          <p:cNvPr id="58" name="Rectangle 57"/>
          <p:cNvSpPr/>
          <p:nvPr/>
        </p:nvSpPr>
        <p:spPr>
          <a:xfrm>
            <a:off x="3566160" y="2944368"/>
            <a:ext cx="73152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602736" y="3035808"/>
            <a:ext cx="658368" cy="347472"/>
          </a:xfrm>
          <a:prstGeom prst="rect">
            <a:avLst/>
          </a:prstGeom>
          <a:noFill/>
        </p:spPr>
        <p:txBody>
          <a:bodyPr wrap="square">
            <a:spAutoFit/>
          </a:bodyPr>
          <a:lstStyle/>
          <a:p>
            <a:pPr algn="ctr"/>
            <a:r>
              <a:rPr sz="1100" b="0">
                <a:solidFill>
                  <a:srgbClr val="3F4444"/>
                </a:solidFill>
                <a:latin typeface="Calibri"/>
              </a:rPr>
              <a:t>0.982</a:t>
            </a:r>
          </a:p>
        </p:txBody>
      </p:sp>
      <p:sp>
        <p:nvSpPr>
          <p:cNvPr id="60" name="Rectangle 59"/>
          <p:cNvSpPr/>
          <p:nvPr/>
        </p:nvSpPr>
        <p:spPr>
          <a:xfrm>
            <a:off x="4297680" y="2944368"/>
            <a:ext cx="68580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334256" y="3035808"/>
            <a:ext cx="612648" cy="347472"/>
          </a:xfrm>
          <a:prstGeom prst="rect">
            <a:avLst/>
          </a:prstGeom>
          <a:noFill/>
        </p:spPr>
        <p:txBody>
          <a:bodyPr wrap="square">
            <a:spAutoFit/>
          </a:bodyPr>
          <a:lstStyle/>
          <a:p>
            <a:pPr algn="ctr"/>
            <a:r>
              <a:rPr sz="1100" b="0">
                <a:solidFill>
                  <a:srgbClr val="3F4444"/>
                </a:solidFill>
                <a:latin typeface="Calibri"/>
              </a:rPr>
              <a:t>0.727</a:t>
            </a:r>
          </a:p>
        </p:txBody>
      </p:sp>
      <p:sp>
        <p:nvSpPr>
          <p:cNvPr id="62" name="Rectangle 61"/>
          <p:cNvSpPr/>
          <p:nvPr/>
        </p:nvSpPr>
        <p:spPr>
          <a:xfrm>
            <a:off x="4983480" y="2944368"/>
            <a:ext cx="91440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0056" y="3035808"/>
            <a:ext cx="841248" cy="347472"/>
          </a:xfrm>
          <a:prstGeom prst="rect">
            <a:avLst/>
          </a:prstGeom>
          <a:noFill/>
        </p:spPr>
        <p:txBody>
          <a:bodyPr wrap="square">
            <a:spAutoFit/>
          </a:bodyPr>
          <a:lstStyle/>
          <a:p>
            <a:pPr algn="ctr"/>
            <a:r>
              <a:rPr sz="1100" b="0">
                <a:solidFill>
                  <a:srgbClr val="F0AB00"/>
                </a:solidFill>
                <a:latin typeface="Calibri"/>
              </a:rPr>
              <a:t>0.919 ⚠</a:t>
            </a:r>
          </a:p>
        </p:txBody>
      </p:sp>
      <p:sp>
        <p:nvSpPr>
          <p:cNvPr id="64" name="Rectangle 63"/>
          <p:cNvSpPr/>
          <p:nvPr/>
        </p:nvSpPr>
        <p:spPr>
          <a:xfrm>
            <a:off x="5897880" y="2944368"/>
            <a:ext cx="91440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34456" y="3035808"/>
            <a:ext cx="841248" cy="347472"/>
          </a:xfrm>
          <a:prstGeom prst="rect">
            <a:avLst/>
          </a:prstGeom>
          <a:noFill/>
        </p:spPr>
        <p:txBody>
          <a:bodyPr wrap="square">
            <a:spAutoFit/>
          </a:bodyPr>
          <a:lstStyle/>
          <a:p>
            <a:pPr algn="ctr"/>
            <a:r>
              <a:rPr sz="1100" b="0">
                <a:solidFill>
                  <a:srgbClr val="3F4444"/>
                </a:solidFill>
                <a:latin typeface="Calibri"/>
              </a:rPr>
              <a:t>No</a:t>
            </a:r>
          </a:p>
        </p:txBody>
      </p:sp>
      <p:sp>
        <p:nvSpPr>
          <p:cNvPr id="66" name="Rectangle 65"/>
          <p:cNvSpPr/>
          <p:nvPr/>
        </p:nvSpPr>
        <p:spPr>
          <a:xfrm>
            <a:off x="320040" y="3401568"/>
            <a:ext cx="731520" cy="457200"/>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56616" y="3493008"/>
            <a:ext cx="658368" cy="347472"/>
          </a:xfrm>
          <a:prstGeom prst="rect">
            <a:avLst/>
          </a:prstGeom>
          <a:noFill/>
        </p:spPr>
        <p:txBody>
          <a:bodyPr wrap="square">
            <a:spAutoFit/>
          </a:bodyPr>
          <a:lstStyle/>
          <a:p>
            <a:pPr algn="ctr"/>
            <a:r>
              <a:rPr sz="1100" b="0">
                <a:solidFill>
                  <a:srgbClr val="3F4444"/>
                </a:solidFill>
                <a:latin typeface="Calibri"/>
              </a:rPr>
              <a:t>Stage 3</a:t>
            </a:r>
          </a:p>
        </p:txBody>
      </p:sp>
      <p:sp>
        <p:nvSpPr>
          <p:cNvPr id="68" name="Rectangle 67"/>
          <p:cNvSpPr/>
          <p:nvPr/>
        </p:nvSpPr>
        <p:spPr>
          <a:xfrm>
            <a:off x="1051560" y="3401568"/>
            <a:ext cx="1737360" cy="457200"/>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88136" y="3493008"/>
            <a:ext cx="1664208" cy="347472"/>
          </a:xfrm>
          <a:prstGeom prst="rect">
            <a:avLst/>
          </a:prstGeom>
          <a:noFill/>
        </p:spPr>
        <p:txBody>
          <a:bodyPr wrap="square">
            <a:spAutoFit/>
          </a:bodyPr>
          <a:lstStyle/>
          <a:p>
            <a:pPr algn="ctr"/>
            <a:r>
              <a:rPr sz="1100" b="0">
                <a:solidFill>
                  <a:srgbClr val="3F4444"/>
                </a:solidFill>
                <a:latin typeface="Calibri"/>
              </a:rPr>
              <a:t>v4.3-SF</a:t>
            </a:r>
          </a:p>
        </p:txBody>
      </p:sp>
      <p:sp>
        <p:nvSpPr>
          <p:cNvPr id="70" name="Rectangle 69"/>
          <p:cNvSpPr/>
          <p:nvPr/>
        </p:nvSpPr>
        <p:spPr>
          <a:xfrm>
            <a:off x="2788920" y="3401568"/>
            <a:ext cx="777240" cy="457200"/>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25496" y="3493008"/>
            <a:ext cx="704088" cy="347472"/>
          </a:xfrm>
          <a:prstGeom prst="rect">
            <a:avLst/>
          </a:prstGeom>
          <a:noFill/>
        </p:spPr>
        <p:txBody>
          <a:bodyPr wrap="square">
            <a:spAutoFit/>
          </a:bodyPr>
          <a:lstStyle/>
          <a:p>
            <a:pPr algn="ctr"/>
            <a:r>
              <a:rPr sz="1100" b="0">
                <a:solidFill>
                  <a:srgbClr val="3F4444"/>
                </a:solidFill>
                <a:latin typeface="Calibri"/>
              </a:rPr>
              <a:t>95.9%</a:t>
            </a:r>
          </a:p>
        </p:txBody>
      </p:sp>
      <p:sp>
        <p:nvSpPr>
          <p:cNvPr id="72" name="Rectangle 71"/>
          <p:cNvSpPr/>
          <p:nvPr/>
        </p:nvSpPr>
        <p:spPr>
          <a:xfrm>
            <a:off x="3566160" y="3401568"/>
            <a:ext cx="731520" cy="457200"/>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602736" y="3493008"/>
            <a:ext cx="658368" cy="347472"/>
          </a:xfrm>
          <a:prstGeom prst="rect">
            <a:avLst/>
          </a:prstGeom>
          <a:noFill/>
        </p:spPr>
        <p:txBody>
          <a:bodyPr wrap="square">
            <a:spAutoFit/>
          </a:bodyPr>
          <a:lstStyle/>
          <a:p>
            <a:pPr algn="ctr"/>
            <a:r>
              <a:rPr sz="1100" b="0">
                <a:solidFill>
                  <a:srgbClr val="3F4444"/>
                </a:solidFill>
                <a:latin typeface="Calibri"/>
              </a:rPr>
              <a:t>0.955</a:t>
            </a:r>
          </a:p>
        </p:txBody>
      </p:sp>
      <p:sp>
        <p:nvSpPr>
          <p:cNvPr id="74" name="Rectangle 73"/>
          <p:cNvSpPr/>
          <p:nvPr/>
        </p:nvSpPr>
        <p:spPr>
          <a:xfrm>
            <a:off x="4297680" y="3401568"/>
            <a:ext cx="685800" cy="457200"/>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334256" y="3493008"/>
            <a:ext cx="612648" cy="347472"/>
          </a:xfrm>
          <a:prstGeom prst="rect">
            <a:avLst/>
          </a:prstGeom>
          <a:noFill/>
        </p:spPr>
        <p:txBody>
          <a:bodyPr wrap="square">
            <a:spAutoFit/>
          </a:bodyPr>
          <a:lstStyle/>
          <a:p>
            <a:pPr algn="ctr"/>
            <a:r>
              <a:rPr sz="1100" b="0">
                <a:solidFill>
                  <a:srgbClr val="3F4444"/>
                </a:solidFill>
                <a:latin typeface="Calibri"/>
              </a:rPr>
              <a:t>0.638</a:t>
            </a:r>
          </a:p>
        </p:txBody>
      </p:sp>
      <p:sp>
        <p:nvSpPr>
          <p:cNvPr id="76" name="Rectangle 75"/>
          <p:cNvSpPr/>
          <p:nvPr/>
        </p:nvSpPr>
        <p:spPr>
          <a:xfrm>
            <a:off x="4983480" y="3401568"/>
            <a:ext cx="914400" cy="457200"/>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20056" y="3493008"/>
            <a:ext cx="841248" cy="347472"/>
          </a:xfrm>
          <a:prstGeom prst="rect">
            <a:avLst/>
          </a:prstGeom>
          <a:noFill/>
        </p:spPr>
        <p:txBody>
          <a:bodyPr wrap="square">
            <a:spAutoFit/>
          </a:bodyPr>
          <a:lstStyle/>
          <a:p>
            <a:pPr algn="ctr"/>
            <a:r>
              <a:rPr sz="1100" b="0">
                <a:solidFill>
                  <a:srgbClr val="3F4444"/>
                </a:solidFill>
                <a:latin typeface="Calibri"/>
              </a:rPr>
              <a:t>0.256</a:t>
            </a:r>
          </a:p>
        </p:txBody>
      </p:sp>
      <p:sp>
        <p:nvSpPr>
          <p:cNvPr id="78" name="Rectangle 77"/>
          <p:cNvSpPr/>
          <p:nvPr/>
        </p:nvSpPr>
        <p:spPr>
          <a:xfrm>
            <a:off x="5897880" y="3401568"/>
            <a:ext cx="914400" cy="457200"/>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934456" y="3493008"/>
            <a:ext cx="841248" cy="347472"/>
          </a:xfrm>
          <a:prstGeom prst="rect">
            <a:avLst/>
          </a:prstGeom>
          <a:noFill/>
        </p:spPr>
        <p:txBody>
          <a:bodyPr wrap="square">
            <a:spAutoFit/>
          </a:bodyPr>
          <a:lstStyle/>
          <a:p>
            <a:pPr algn="ctr"/>
            <a:r>
              <a:rPr sz="1100" b="0">
                <a:solidFill>
                  <a:srgbClr val="008800"/>
                </a:solidFill>
                <a:latin typeface="Calibri"/>
              </a:rPr>
              <a:t>Yes ✓</a:t>
            </a:r>
          </a:p>
        </p:txBody>
      </p:sp>
      <p:sp>
        <p:nvSpPr>
          <p:cNvPr id="80" name="Rectangle 79"/>
          <p:cNvSpPr/>
          <p:nvPr/>
        </p:nvSpPr>
        <p:spPr>
          <a:xfrm>
            <a:off x="320040" y="3968496"/>
            <a:ext cx="6675120" cy="1097280"/>
          </a:xfrm>
          <a:prstGeom prst="rect">
            <a:avLst/>
          </a:prstGeom>
          <a:solidFill>
            <a:srgbClr val="FF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57200" y="4041648"/>
            <a:ext cx="6400800" cy="320040"/>
          </a:xfrm>
          <a:prstGeom prst="rect">
            <a:avLst/>
          </a:prstGeom>
          <a:noFill/>
        </p:spPr>
        <p:txBody>
          <a:bodyPr wrap="square">
            <a:spAutoFit/>
          </a:bodyPr>
          <a:lstStyle/>
          <a:p>
            <a:pPr algn="l"/>
            <a:r>
              <a:rPr sz="1300" b="1">
                <a:solidFill>
                  <a:srgbClr val="3F4444"/>
                </a:solidFill>
                <a:latin typeface="Calibri"/>
              </a:rPr>
              <a:t>DNA/hAT collapse: 0.919 (Stage 2 rotating) → 0.256 (Stage 3 disjoint)</a:t>
            </a:r>
          </a:p>
        </p:txBody>
      </p:sp>
      <p:sp>
        <p:nvSpPr>
          <p:cNvPr id="82" name="TextBox 81"/>
          <p:cNvSpPr txBox="1"/>
          <p:nvPr/>
        </p:nvSpPr>
        <p:spPr>
          <a:xfrm>
            <a:off x="457200" y="4370832"/>
            <a:ext cx="6400800" cy="621792"/>
          </a:xfrm>
          <a:prstGeom prst="rect">
            <a:avLst/>
          </a:prstGeom>
          <a:noFill/>
        </p:spPr>
        <p:txBody>
          <a:bodyPr wrap="square">
            <a:spAutoFit/>
          </a:bodyPr>
          <a:lstStyle/>
          <a:p>
            <a:pPr algn="l"/>
            <a:r>
              <a:rPr sz="1200" b="0">
                <a:solidFill>
                  <a:srgbClr val="3F4444"/>
                </a:solidFill>
                <a:latin typeface="Calibri"/>
              </a:rPr>
              <a:t>Two distinct drops: (1) cap=3,000 removes diverse hAT training data (v4.2); (2) removing inner rotation exposes phylogenetic gap — hAT test subvariants have no close phylogenetic neighbours in training. Exact mechanism remains open.</a:t>
            </a:r>
          </a:p>
        </p:txBody>
      </p:sp>
      <p:pic>
        <p:nvPicPr>
          <p:cNvPr id="83" name="Picture 82" descr="v4_2_training.png"/>
          <p:cNvPicPr>
            <a:picLocks noChangeAspect="1"/>
          </p:cNvPicPr>
          <p:nvPr/>
        </p:nvPicPr>
        <p:blipFill>
          <a:blip r:embed="rId2"/>
          <a:stretch>
            <a:fillRect/>
          </a:stretch>
        </p:blipFill>
        <p:spPr>
          <a:xfrm>
            <a:off x="6903720" y="1298448"/>
            <a:ext cx="4937760" cy="43891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Mini-Benchmark: Cross-Species Transfer</a:t>
            </a:r>
          </a:p>
        </p:txBody>
      </p:sp>
      <p:sp>
        <p:nvSpPr>
          <p:cNvPr id="4" name="TextBox 3"/>
          <p:cNvSpPr txBox="1"/>
          <p:nvPr/>
        </p:nvSpPr>
        <p:spPr>
          <a:xfrm>
            <a:off x="320040" y="804672"/>
            <a:ext cx="11430000" cy="329184"/>
          </a:xfrm>
          <a:prstGeom prst="rect">
            <a:avLst/>
          </a:prstGeom>
          <a:noFill/>
        </p:spPr>
        <p:txBody>
          <a:bodyPr wrap="square">
            <a:spAutoFit/>
          </a:bodyPr>
          <a:lstStyle/>
          <a:p>
            <a:pPr algn="l"/>
            <a:r>
              <a:rPr sz="1300" b="0">
                <a:solidFill>
                  <a:srgbClr val="68D2DF"/>
                </a:solidFill>
                <a:latin typeface="Calibri"/>
              </a:rPr>
              <a:t>Three held-out amniote genomes — entirely unseen during training and validation</a:t>
            </a:r>
          </a:p>
        </p:txBody>
      </p:sp>
      <p:sp>
        <p:nvSpPr>
          <p:cNvPr id="5" name="Rectangle 4"/>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8" name="TextBox 7"/>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12</a:t>
            </a:r>
          </a:p>
        </p:txBody>
      </p:sp>
      <p:sp>
        <p:nvSpPr>
          <p:cNvPr id="9" name="TextBox 8"/>
          <p:cNvSpPr txBox="1"/>
          <p:nvPr/>
        </p:nvSpPr>
        <p:spPr>
          <a:xfrm>
            <a:off x="320040" y="1298448"/>
            <a:ext cx="7955279" cy="320040"/>
          </a:xfrm>
          <a:prstGeom prst="rect">
            <a:avLst/>
          </a:prstGeom>
          <a:noFill/>
        </p:spPr>
        <p:txBody>
          <a:bodyPr wrap="square">
            <a:spAutoFit/>
          </a:bodyPr>
          <a:lstStyle/>
          <a:p>
            <a:pPr algn="l"/>
            <a:r>
              <a:rPr sz="1300" b="1">
                <a:solidFill>
                  <a:srgbClr val="003865"/>
                </a:solidFill>
                <a:latin typeface="Calibri"/>
              </a:rPr>
              <a:t>Benchmark species — spanning major amniote lineages</a:t>
            </a:r>
          </a:p>
        </p:txBody>
      </p:sp>
      <p:sp>
        <p:nvSpPr>
          <p:cNvPr id="10" name="Rectangle 9"/>
          <p:cNvSpPr/>
          <p:nvPr/>
        </p:nvSpPr>
        <p:spPr>
          <a:xfrm>
            <a:off x="320040" y="1645920"/>
            <a:ext cx="2377440" cy="329184"/>
          </a:xfrm>
          <a:prstGeom prst="rect">
            <a:avLst/>
          </a:prstGeom>
          <a:solidFill>
            <a:srgbClr val="68D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691640"/>
            <a:ext cx="2286000" cy="256032"/>
          </a:xfrm>
          <a:prstGeom prst="rect">
            <a:avLst/>
          </a:prstGeom>
          <a:noFill/>
        </p:spPr>
        <p:txBody>
          <a:bodyPr wrap="square">
            <a:spAutoFit/>
          </a:bodyPr>
          <a:lstStyle/>
          <a:p>
            <a:pPr algn="l"/>
            <a:r>
              <a:rPr sz="1100" b="1">
                <a:solidFill>
                  <a:srgbClr val="003865"/>
                </a:solidFill>
                <a:latin typeface="Calibri"/>
              </a:rPr>
              <a:t>Species</a:t>
            </a:r>
          </a:p>
        </p:txBody>
      </p:sp>
      <p:sp>
        <p:nvSpPr>
          <p:cNvPr id="12" name="Rectangle 11"/>
          <p:cNvSpPr/>
          <p:nvPr/>
        </p:nvSpPr>
        <p:spPr>
          <a:xfrm>
            <a:off x="2697480" y="1645920"/>
            <a:ext cx="914400" cy="329184"/>
          </a:xfrm>
          <a:prstGeom prst="rect">
            <a:avLst/>
          </a:prstGeom>
          <a:solidFill>
            <a:srgbClr val="68D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1691640"/>
            <a:ext cx="822960" cy="256032"/>
          </a:xfrm>
          <a:prstGeom prst="rect">
            <a:avLst/>
          </a:prstGeom>
          <a:noFill/>
        </p:spPr>
        <p:txBody>
          <a:bodyPr wrap="square">
            <a:spAutoFit/>
          </a:bodyPr>
          <a:lstStyle/>
          <a:p>
            <a:pPr algn="l"/>
            <a:r>
              <a:rPr sz="1100" b="1">
                <a:solidFill>
                  <a:srgbClr val="003865"/>
                </a:solidFill>
                <a:latin typeface="Calibri"/>
              </a:rPr>
              <a:t>Lineage</a:t>
            </a:r>
          </a:p>
        </p:txBody>
      </p:sp>
      <p:sp>
        <p:nvSpPr>
          <p:cNvPr id="14" name="Rectangle 13"/>
          <p:cNvSpPr/>
          <p:nvPr/>
        </p:nvSpPr>
        <p:spPr>
          <a:xfrm>
            <a:off x="3611880" y="1645920"/>
            <a:ext cx="1005840" cy="329184"/>
          </a:xfrm>
          <a:prstGeom prst="rect">
            <a:avLst/>
          </a:prstGeom>
          <a:solidFill>
            <a:srgbClr val="68D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1691640"/>
            <a:ext cx="914400" cy="256032"/>
          </a:xfrm>
          <a:prstGeom prst="rect">
            <a:avLst/>
          </a:prstGeom>
          <a:noFill/>
        </p:spPr>
        <p:txBody>
          <a:bodyPr wrap="square">
            <a:spAutoFit/>
          </a:bodyPr>
          <a:lstStyle/>
          <a:p>
            <a:pPr algn="l"/>
            <a:r>
              <a:rPr sz="1100" b="1">
                <a:solidFill>
                  <a:srgbClr val="003865"/>
                </a:solidFill>
                <a:latin typeface="Calibri"/>
              </a:rPr>
              <a:t>Pantera</a:t>
            </a:r>
          </a:p>
        </p:txBody>
      </p:sp>
      <p:sp>
        <p:nvSpPr>
          <p:cNvPr id="16" name="Rectangle 15"/>
          <p:cNvSpPr/>
          <p:nvPr/>
        </p:nvSpPr>
        <p:spPr>
          <a:xfrm>
            <a:off x="4617720" y="1645920"/>
            <a:ext cx="1097280" cy="329184"/>
          </a:xfrm>
          <a:prstGeom prst="rect">
            <a:avLst/>
          </a:prstGeom>
          <a:solidFill>
            <a:srgbClr val="68D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40" y="1691640"/>
            <a:ext cx="1005840" cy="256032"/>
          </a:xfrm>
          <a:prstGeom prst="rect">
            <a:avLst/>
          </a:prstGeom>
          <a:noFill/>
        </p:spPr>
        <p:txBody>
          <a:bodyPr wrap="square">
            <a:spAutoFit/>
          </a:bodyPr>
          <a:lstStyle/>
          <a:p>
            <a:pPr algn="l"/>
            <a:r>
              <a:rPr sz="1100" b="1">
                <a:solidFill>
                  <a:srgbClr val="003865"/>
                </a:solidFill>
                <a:latin typeface="Calibri"/>
              </a:rPr>
              <a:t>Curated lib</a:t>
            </a:r>
          </a:p>
        </p:txBody>
      </p:sp>
      <p:sp>
        <p:nvSpPr>
          <p:cNvPr id="18" name="Rectangle 17"/>
          <p:cNvSpPr/>
          <p:nvPr/>
        </p:nvSpPr>
        <p:spPr>
          <a:xfrm>
            <a:off x="5715000" y="1645920"/>
            <a:ext cx="1188720" cy="329184"/>
          </a:xfrm>
          <a:prstGeom prst="rect">
            <a:avLst/>
          </a:prstGeom>
          <a:solidFill>
            <a:srgbClr val="68D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0" y="1691640"/>
            <a:ext cx="1097280" cy="256032"/>
          </a:xfrm>
          <a:prstGeom prst="rect">
            <a:avLst/>
          </a:prstGeom>
          <a:noFill/>
        </p:spPr>
        <p:txBody>
          <a:bodyPr wrap="square">
            <a:spAutoFit/>
          </a:bodyPr>
          <a:lstStyle/>
          <a:p>
            <a:pPr algn="l"/>
            <a:r>
              <a:rPr sz="1100" b="1">
                <a:solidFill>
                  <a:srgbClr val="003865"/>
                </a:solidFill>
                <a:latin typeface="Calibri"/>
              </a:rPr>
              <a:t>Struct. LTR</a:t>
            </a:r>
          </a:p>
        </p:txBody>
      </p:sp>
      <p:sp>
        <p:nvSpPr>
          <p:cNvPr id="20" name="Rectangle 19"/>
          <p:cNvSpPr/>
          <p:nvPr/>
        </p:nvSpPr>
        <p:spPr>
          <a:xfrm>
            <a:off x="320040" y="1975104"/>
            <a:ext cx="2377440"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2020824"/>
            <a:ext cx="2286000" cy="256032"/>
          </a:xfrm>
          <a:prstGeom prst="rect">
            <a:avLst/>
          </a:prstGeom>
          <a:noFill/>
        </p:spPr>
        <p:txBody>
          <a:bodyPr wrap="square">
            <a:spAutoFit/>
          </a:bodyPr>
          <a:lstStyle/>
          <a:p>
            <a:pPr algn="l"/>
            <a:r>
              <a:rPr sz="1100" b="0">
                <a:solidFill>
                  <a:srgbClr val="3F4444"/>
                </a:solidFill>
                <a:latin typeface="Calibri"/>
              </a:rPr>
              <a:t>Zebra finch (T. guttata)</a:t>
            </a:r>
          </a:p>
        </p:txBody>
      </p:sp>
      <p:sp>
        <p:nvSpPr>
          <p:cNvPr id="22" name="Rectangle 21"/>
          <p:cNvSpPr/>
          <p:nvPr/>
        </p:nvSpPr>
        <p:spPr>
          <a:xfrm>
            <a:off x="2697480" y="1975104"/>
            <a:ext cx="914400"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0" y="2020824"/>
            <a:ext cx="822960" cy="256032"/>
          </a:xfrm>
          <a:prstGeom prst="rect">
            <a:avLst/>
          </a:prstGeom>
          <a:noFill/>
        </p:spPr>
        <p:txBody>
          <a:bodyPr wrap="square">
            <a:spAutoFit/>
          </a:bodyPr>
          <a:lstStyle/>
          <a:p>
            <a:pPr algn="l"/>
            <a:r>
              <a:rPr sz="1100" b="0">
                <a:solidFill>
                  <a:srgbClr val="3F4444"/>
                </a:solidFill>
                <a:latin typeface="Calibri"/>
              </a:rPr>
              <a:t>Aves</a:t>
            </a:r>
          </a:p>
        </p:txBody>
      </p:sp>
      <p:sp>
        <p:nvSpPr>
          <p:cNvPr id="24" name="Rectangle 23"/>
          <p:cNvSpPr/>
          <p:nvPr/>
        </p:nvSpPr>
        <p:spPr>
          <a:xfrm>
            <a:off x="3611880" y="1975104"/>
            <a:ext cx="1005840"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2020824"/>
            <a:ext cx="914400" cy="256032"/>
          </a:xfrm>
          <a:prstGeom prst="rect">
            <a:avLst/>
          </a:prstGeom>
          <a:noFill/>
        </p:spPr>
        <p:txBody>
          <a:bodyPr wrap="square">
            <a:spAutoFit/>
          </a:bodyPr>
          <a:lstStyle/>
          <a:p>
            <a:pPr algn="l"/>
            <a:r>
              <a:rPr sz="1100" b="0">
                <a:solidFill>
                  <a:srgbClr val="3F4444"/>
                </a:solidFill>
                <a:latin typeface="Calibri"/>
              </a:rPr>
              <a:t>161</a:t>
            </a:r>
          </a:p>
        </p:txBody>
      </p:sp>
      <p:sp>
        <p:nvSpPr>
          <p:cNvPr id="26" name="Rectangle 25"/>
          <p:cNvSpPr/>
          <p:nvPr/>
        </p:nvSpPr>
        <p:spPr>
          <a:xfrm>
            <a:off x="4617720" y="1975104"/>
            <a:ext cx="1097280"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020824"/>
            <a:ext cx="1005840" cy="256032"/>
          </a:xfrm>
          <a:prstGeom prst="rect">
            <a:avLst/>
          </a:prstGeom>
          <a:noFill/>
        </p:spPr>
        <p:txBody>
          <a:bodyPr wrap="square">
            <a:spAutoFit/>
          </a:bodyPr>
          <a:lstStyle/>
          <a:p>
            <a:pPr algn="l"/>
            <a:r>
              <a:rPr sz="1100" b="0">
                <a:solidFill>
                  <a:srgbClr val="3F4444"/>
                </a:solidFill>
                <a:latin typeface="Calibri"/>
              </a:rPr>
              <a:t>543</a:t>
            </a:r>
          </a:p>
        </p:txBody>
      </p:sp>
      <p:sp>
        <p:nvSpPr>
          <p:cNvPr id="28" name="Rectangle 27"/>
          <p:cNvSpPr/>
          <p:nvPr/>
        </p:nvSpPr>
        <p:spPr>
          <a:xfrm>
            <a:off x="5715000" y="1975104"/>
            <a:ext cx="1188720"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0" y="2020824"/>
            <a:ext cx="1097280" cy="256032"/>
          </a:xfrm>
          <a:prstGeom prst="rect">
            <a:avLst/>
          </a:prstGeom>
          <a:noFill/>
        </p:spPr>
        <p:txBody>
          <a:bodyPr wrap="square">
            <a:spAutoFit/>
          </a:bodyPr>
          <a:lstStyle/>
          <a:p>
            <a:pPr algn="l"/>
            <a:r>
              <a:rPr sz="1100" b="0">
                <a:solidFill>
                  <a:srgbClr val="3F4444"/>
                </a:solidFill>
                <a:latin typeface="Calibri"/>
              </a:rPr>
              <a:t>6,480</a:t>
            </a:r>
          </a:p>
        </p:txBody>
      </p:sp>
      <p:sp>
        <p:nvSpPr>
          <p:cNvPr id="30" name="Rectangle 29"/>
          <p:cNvSpPr/>
          <p:nvPr/>
        </p:nvSpPr>
        <p:spPr>
          <a:xfrm>
            <a:off x="320040" y="2304288"/>
            <a:ext cx="2377440"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2350008"/>
            <a:ext cx="2286000" cy="256032"/>
          </a:xfrm>
          <a:prstGeom prst="rect">
            <a:avLst/>
          </a:prstGeom>
          <a:noFill/>
        </p:spPr>
        <p:txBody>
          <a:bodyPr wrap="square">
            <a:spAutoFit/>
          </a:bodyPr>
          <a:lstStyle/>
          <a:p>
            <a:pPr algn="l"/>
            <a:r>
              <a:rPr sz="1100" b="0">
                <a:solidFill>
                  <a:srgbClr val="3F4444"/>
                </a:solidFill>
                <a:latin typeface="Calibri"/>
              </a:rPr>
              <a:t>Platypus (O. anatinus)</a:t>
            </a:r>
          </a:p>
        </p:txBody>
      </p:sp>
      <p:sp>
        <p:nvSpPr>
          <p:cNvPr id="32" name="Rectangle 31"/>
          <p:cNvSpPr/>
          <p:nvPr/>
        </p:nvSpPr>
        <p:spPr>
          <a:xfrm>
            <a:off x="2697480" y="2304288"/>
            <a:ext cx="914400"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0" y="2350008"/>
            <a:ext cx="822960" cy="256032"/>
          </a:xfrm>
          <a:prstGeom prst="rect">
            <a:avLst/>
          </a:prstGeom>
          <a:noFill/>
        </p:spPr>
        <p:txBody>
          <a:bodyPr wrap="square">
            <a:spAutoFit/>
          </a:bodyPr>
          <a:lstStyle/>
          <a:p>
            <a:pPr algn="l"/>
            <a:r>
              <a:rPr sz="1100" b="0">
                <a:solidFill>
                  <a:srgbClr val="3F4444"/>
                </a:solidFill>
                <a:latin typeface="Calibri"/>
              </a:rPr>
              <a:t>Mammalia</a:t>
            </a:r>
          </a:p>
        </p:txBody>
      </p:sp>
      <p:sp>
        <p:nvSpPr>
          <p:cNvPr id="34" name="Rectangle 33"/>
          <p:cNvSpPr/>
          <p:nvPr/>
        </p:nvSpPr>
        <p:spPr>
          <a:xfrm>
            <a:off x="3611880" y="2304288"/>
            <a:ext cx="1005840"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0" y="2350008"/>
            <a:ext cx="914400" cy="256032"/>
          </a:xfrm>
          <a:prstGeom prst="rect">
            <a:avLst/>
          </a:prstGeom>
          <a:noFill/>
        </p:spPr>
        <p:txBody>
          <a:bodyPr wrap="square">
            <a:spAutoFit/>
          </a:bodyPr>
          <a:lstStyle/>
          <a:p>
            <a:pPr algn="l"/>
            <a:r>
              <a:rPr sz="1100" b="0">
                <a:solidFill>
                  <a:srgbClr val="3F4444"/>
                </a:solidFill>
                <a:latin typeface="Calibri"/>
              </a:rPr>
              <a:t>25</a:t>
            </a:r>
          </a:p>
        </p:txBody>
      </p:sp>
      <p:sp>
        <p:nvSpPr>
          <p:cNvPr id="36" name="Rectangle 35"/>
          <p:cNvSpPr/>
          <p:nvPr/>
        </p:nvSpPr>
        <p:spPr>
          <a:xfrm>
            <a:off x="4617720" y="2304288"/>
            <a:ext cx="1097280"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3440" y="2350008"/>
            <a:ext cx="1005840" cy="256032"/>
          </a:xfrm>
          <a:prstGeom prst="rect">
            <a:avLst/>
          </a:prstGeom>
          <a:noFill/>
        </p:spPr>
        <p:txBody>
          <a:bodyPr wrap="square">
            <a:spAutoFit/>
          </a:bodyPr>
          <a:lstStyle/>
          <a:p>
            <a:pPr algn="l"/>
            <a:r>
              <a:rPr sz="1100" b="0">
                <a:solidFill>
                  <a:srgbClr val="3F4444"/>
                </a:solidFill>
                <a:latin typeface="Calibri"/>
              </a:rPr>
              <a:t>380</a:t>
            </a:r>
          </a:p>
        </p:txBody>
      </p:sp>
      <p:sp>
        <p:nvSpPr>
          <p:cNvPr id="38" name="Rectangle 37"/>
          <p:cNvSpPr/>
          <p:nvPr/>
        </p:nvSpPr>
        <p:spPr>
          <a:xfrm>
            <a:off x="5715000" y="2304288"/>
            <a:ext cx="1188720"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60720" y="2350008"/>
            <a:ext cx="1097280" cy="256032"/>
          </a:xfrm>
          <a:prstGeom prst="rect">
            <a:avLst/>
          </a:prstGeom>
          <a:noFill/>
        </p:spPr>
        <p:txBody>
          <a:bodyPr wrap="square">
            <a:spAutoFit/>
          </a:bodyPr>
          <a:lstStyle/>
          <a:p>
            <a:pPr algn="l"/>
            <a:r>
              <a:rPr sz="1100" b="0">
                <a:solidFill>
                  <a:srgbClr val="3F4444"/>
                </a:solidFill>
                <a:latin typeface="Calibri"/>
              </a:rPr>
              <a:t>49,814</a:t>
            </a:r>
          </a:p>
        </p:txBody>
      </p:sp>
      <p:sp>
        <p:nvSpPr>
          <p:cNvPr id="40" name="Rectangle 39"/>
          <p:cNvSpPr/>
          <p:nvPr/>
        </p:nvSpPr>
        <p:spPr>
          <a:xfrm>
            <a:off x="320040" y="2633472"/>
            <a:ext cx="2377440"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2679192"/>
            <a:ext cx="2286000" cy="256032"/>
          </a:xfrm>
          <a:prstGeom prst="rect">
            <a:avLst/>
          </a:prstGeom>
          <a:noFill/>
        </p:spPr>
        <p:txBody>
          <a:bodyPr wrap="square">
            <a:spAutoFit/>
          </a:bodyPr>
          <a:lstStyle/>
          <a:p>
            <a:pPr algn="l"/>
            <a:r>
              <a:rPr sz="1100" b="0">
                <a:solidFill>
                  <a:srgbClr val="3F4444"/>
                </a:solidFill>
                <a:latin typeface="Calibri"/>
              </a:rPr>
              <a:t>Alligator (A. mississippiensis)</a:t>
            </a:r>
          </a:p>
        </p:txBody>
      </p:sp>
      <p:sp>
        <p:nvSpPr>
          <p:cNvPr id="42" name="Rectangle 41"/>
          <p:cNvSpPr/>
          <p:nvPr/>
        </p:nvSpPr>
        <p:spPr>
          <a:xfrm>
            <a:off x="2697480" y="2633472"/>
            <a:ext cx="914400"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43200" y="2679192"/>
            <a:ext cx="822960" cy="256032"/>
          </a:xfrm>
          <a:prstGeom prst="rect">
            <a:avLst/>
          </a:prstGeom>
          <a:noFill/>
        </p:spPr>
        <p:txBody>
          <a:bodyPr wrap="square">
            <a:spAutoFit/>
          </a:bodyPr>
          <a:lstStyle/>
          <a:p>
            <a:pPr algn="l"/>
            <a:r>
              <a:rPr sz="1100" b="0">
                <a:solidFill>
                  <a:srgbClr val="3F4444"/>
                </a:solidFill>
                <a:latin typeface="Calibri"/>
              </a:rPr>
              <a:t>Reptilia</a:t>
            </a:r>
          </a:p>
        </p:txBody>
      </p:sp>
      <p:sp>
        <p:nvSpPr>
          <p:cNvPr id="44" name="Rectangle 43"/>
          <p:cNvSpPr/>
          <p:nvPr/>
        </p:nvSpPr>
        <p:spPr>
          <a:xfrm>
            <a:off x="3611880" y="2633472"/>
            <a:ext cx="1005840"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7600" y="2679192"/>
            <a:ext cx="914400" cy="256032"/>
          </a:xfrm>
          <a:prstGeom prst="rect">
            <a:avLst/>
          </a:prstGeom>
          <a:noFill/>
        </p:spPr>
        <p:txBody>
          <a:bodyPr wrap="square">
            <a:spAutoFit/>
          </a:bodyPr>
          <a:lstStyle/>
          <a:p>
            <a:pPr algn="l"/>
            <a:r>
              <a:rPr sz="1100" b="0">
                <a:solidFill>
                  <a:srgbClr val="3F4444"/>
                </a:solidFill>
                <a:latin typeface="Calibri"/>
              </a:rPr>
              <a:t>296</a:t>
            </a:r>
          </a:p>
        </p:txBody>
      </p:sp>
      <p:sp>
        <p:nvSpPr>
          <p:cNvPr id="46" name="Rectangle 45"/>
          <p:cNvSpPr/>
          <p:nvPr/>
        </p:nvSpPr>
        <p:spPr>
          <a:xfrm>
            <a:off x="4617720" y="2633472"/>
            <a:ext cx="1097280"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63440" y="2679192"/>
            <a:ext cx="1005840" cy="256032"/>
          </a:xfrm>
          <a:prstGeom prst="rect">
            <a:avLst/>
          </a:prstGeom>
          <a:noFill/>
        </p:spPr>
        <p:txBody>
          <a:bodyPr wrap="square">
            <a:spAutoFit/>
          </a:bodyPr>
          <a:lstStyle/>
          <a:p>
            <a:pPr algn="l"/>
            <a:r>
              <a:rPr sz="1100" b="0">
                <a:solidFill>
                  <a:srgbClr val="3F4444"/>
                </a:solidFill>
                <a:latin typeface="Calibri"/>
              </a:rPr>
              <a:t>1,196</a:t>
            </a:r>
          </a:p>
        </p:txBody>
      </p:sp>
      <p:sp>
        <p:nvSpPr>
          <p:cNvPr id="48" name="Rectangle 47"/>
          <p:cNvSpPr/>
          <p:nvPr/>
        </p:nvSpPr>
        <p:spPr>
          <a:xfrm>
            <a:off x="5715000" y="2633472"/>
            <a:ext cx="1188720"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760720" y="2679192"/>
            <a:ext cx="1097280" cy="256032"/>
          </a:xfrm>
          <a:prstGeom prst="rect">
            <a:avLst/>
          </a:prstGeom>
          <a:noFill/>
        </p:spPr>
        <p:txBody>
          <a:bodyPr wrap="square">
            <a:spAutoFit/>
          </a:bodyPr>
          <a:lstStyle/>
          <a:p>
            <a:pPr algn="l"/>
            <a:r>
              <a:rPr sz="1100" b="0">
                <a:solidFill>
                  <a:srgbClr val="3F4444"/>
                </a:solidFill>
                <a:latin typeface="Calibri"/>
              </a:rPr>
              <a:t>15,557</a:t>
            </a:r>
          </a:p>
        </p:txBody>
      </p:sp>
      <p:sp>
        <p:nvSpPr>
          <p:cNvPr id="50" name="TextBox 49"/>
          <p:cNvSpPr txBox="1"/>
          <p:nvPr/>
        </p:nvSpPr>
        <p:spPr>
          <a:xfrm>
            <a:off x="320040" y="3090672"/>
            <a:ext cx="7955279" cy="320040"/>
          </a:xfrm>
          <a:prstGeom prst="rect">
            <a:avLst/>
          </a:prstGeom>
          <a:noFill/>
        </p:spPr>
        <p:txBody>
          <a:bodyPr wrap="square">
            <a:spAutoFit/>
          </a:bodyPr>
          <a:lstStyle/>
          <a:p>
            <a:pPr algn="l"/>
            <a:r>
              <a:rPr sz="1300" b="1">
                <a:solidFill>
                  <a:srgbClr val="003865"/>
                </a:solidFill>
                <a:latin typeface="Calibri"/>
              </a:rPr>
              <a:t>Cross-species headline performance (all DNA/LTR/LINE sequences)</a:t>
            </a:r>
          </a:p>
        </p:txBody>
      </p:sp>
      <p:sp>
        <p:nvSpPr>
          <p:cNvPr id="51" name="Rectangle 50"/>
          <p:cNvSpPr/>
          <p:nvPr/>
        </p:nvSpPr>
        <p:spPr>
          <a:xfrm>
            <a:off x="320040" y="3438144"/>
            <a:ext cx="1463040" cy="329184"/>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56616" y="3483864"/>
            <a:ext cx="1389888" cy="256032"/>
          </a:xfrm>
          <a:prstGeom prst="rect">
            <a:avLst/>
          </a:prstGeom>
          <a:noFill/>
        </p:spPr>
        <p:txBody>
          <a:bodyPr wrap="square">
            <a:spAutoFit/>
          </a:bodyPr>
          <a:lstStyle/>
          <a:p>
            <a:pPr algn="ctr"/>
            <a:r>
              <a:rPr sz="950" b="1">
                <a:solidFill>
                  <a:srgbClr val="FFFFFF"/>
                </a:solidFill>
                <a:latin typeface="Calibri"/>
              </a:rPr>
              <a:t>Variant</a:t>
            </a:r>
          </a:p>
        </p:txBody>
      </p:sp>
      <p:sp>
        <p:nvSpPr>
          <p:cNvPr id="53" name="Rectangle 52"/>
          <p:cNvSpPr/>
          <p:nvPr/>
        </p:nvSpPr>
        <p:spPr>
          <a:xfrm>
            <a:off x="1783080" y="3438144"/>
            <a:ext cx="804672" cy="329184"/>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819656" y="3483864"/>
            <a:ext cx="731520" cy="256032"/>
          </a:xfrm>
          <a:prstGeom prst="rect">
            <a:avLst/>
          </a:prstGeom>
          <a:noFill/>
        </p:spPr>
        <p:txBody>
          <a:bodyPr wrap="square">
            <a:spAutoFit/>
          </a:bodyPr>
          <a:lstStyle/>
          <a:p>
            <a:pPr algn="ctr"/>
            <a:r>
              <a:rPr sz="950" b="1">
                <a:solidFill>
                  <a:srgbClr val="FFFFFF"/>
                </a:solidFill>
                <a:latin typeface="Calibri"/>
              </a:rPr>
              <a:t>ZF cls</a:t>
            </a:r>
          </a:p>
        </p:txBody>
      </p:sp>
      <p:sp>
        <p:nvSpPr>
          <p:cNvPr id="55" name="Rectangle 54"/>
          <p:cNvSpPr/>
          <p:nvPr/>
        </p:nvSpPr>
        <p:spPr>
          <a:xfrm>
            <a:off x="2587752" y="3438144"/>
            <a:ext cx="804672" cy="329184"/>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624328" y="3483864"/>
            <a:ext cx="731520" cy="256032"/>
          </a:xfrm>
          <a:prstGeom prst="rect">
            <a:avLst/>
          </a:prstGeom>
          <a:noFill/>
        </p:spPr>
        <p:txBody>
          <a:bodyPr wrap="square">
            <a:spAutoFit/>
          </a:bodyPr>
          <a:lstStyle/>
          <a:p>
            <a:pPr algn="ctr"/>
            <a:r>
              <a:rPr sz="950" b="1">
                <a:solidFill>
                  <a:srgbClr val="FFFFFF"/>
                </a:solidFill>
                <a:latin typeface="Calibri"/>
              </a:rPr>
              <a:t>Plat cls</a:t>
            </a:r>
          </a:p>
        </p:txBody>
      </p:sp>
      <p:sp>
        <p:nvSpPr>
          <p:cNvPr id="57" name="Rectangle 56"/>
          <p:cNvSpPr/>
          <p:nvPr/>
        </p:nvSpPr>
        <p:spPr>
          <a:xfrm>
            <a:off x="3392424" y="3438144"/>
            <a:ext cx="804672" cy="329184"/>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29000" y="3483864"/>
            <a:ext cx="731520" cy="256032"/>
          </a:xfrm>
          <a:prstGeom prst="rect">
            <a:avLst/>
          </a:prstGeom>
          <a:noFill/>
        </p:spPr>
        <p:txBody>
          <a:bodyPr wrap="square">
            <a:spAutoFit/>
          </a:bodyPr>
          <a:lstStyle/>
          <a:p>
            <a:pPr algn="ctr"/>
            <a:r>
              <a:rPr sz="950" b="1">
                <a:solidFill>
                  <a:srgbClr val="FFFFFF"/>
                </a:solidFill>
                <a:latin typeface="Calibri"/>
              </a:rPr>
              <a:t>Alli cls</a:t>
            </a:r>
          </a:p>
        </p:txBody>
      </p:sp>
      <p:sp>
        <p:nvSpPr>
          <p:cNvPr id="59" name="Rectangle 58"/>
          <p:cNvSpPr/>
          <p:nvPr/>
        </p:nvSpPr>
        <p:spPr>
          <a:xfrm>
            <a:off x="4197096" y="3438144"/>
            <a:ext cx="804672" cy="329184"/>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233672" y="3483864"/>
            <a:ext cx="731520" cy="256032"/>
          </a:xfrm>
          <a:prstGeom prst="rect">
            <a:avLst/>
          </a:prstGeom>
          <a:noFill/>
        </p:spPr>
        <p:txBody>
          <a:bodyPr wrap="square">
            <a:spAutoFit/>
          </a:bodyPr>
          <a:lstStyle/>
          <a:p>
            <a:pPr algn="ctr"/>
            <a:r>
              <a:rPr sz="950" b="1">
                <a:solidFill>
                  <a:srgbClr val="FFFFFF"/>
                </a:solidFill>
                <a:latin typeface="Calibri"/>
              </a:rPr>
              <a:t>Overall cls</a:t>
            </a:r>
          </a:p>
        </p:txBody>
      </p:sp>
      <p:sp>
        <p:nvSpPr>
          <p:cNvPr id="61" name="Rectangle 60"/>
          <p:cNvSpPr/>
          <p:nvPr/>
        </p:nvSpPr>
        <p:spPr>
          <a:xfrm>
            <a:off x="5001768" y="3438144"/>
            <a:ext cx="804672" cy="329184"/>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38344" y="3483864"/>
            <a:ext cx="731520" cy="256032"/>
          </a:xfrm>
          <a:prstGeom prst="rect">
            <a:avLst/>
          </a:prstGeom>
          <a:noFill/>
        </p:spPr>
        <p:txBody>
          <a:bodyPr wrap="square">
            <a:spAutoFit/>
          </a:bodyPr>
          <a:lstStyle/>
          <a:p>
            <a:pPr algn="ctr"/>
            <a:r>
              <a:rPr sz="950" b="1">
                <a:solidFill>
                  <a:srgbClr val="FFFFFF"/>
                </a:solidFill>
                <a:latin typeface="Calibri"/>
              </a:rPr>
              <a:t>ZF sf</a:t>
            </a:r>
          </a:p>
        </p:txBody>
      </p:sp>
      <p:sp>
        <p:nvSpPr>
          <p:cNvPr id="63" name="Rectangle 62"/>
          <p:cNvSpPr/>
          <p:nvPr/>
        </p:nvSpPr>
        <p:spPr>
          <a:xfrm>
            <a:off x="5806440" y="3438144"/>
            <a:ext cx="804672" cy="329184"/>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843016" y="3483864"/>
            <a:ext cx="731520" cy="256032"/>
          </a:xfrm>
          <a:prstGeom prst="rect">
            <a:avLst/>
          </a:prstGeom>
          <a:noFill/>
        </p:spPr>
        <p:txBody>
          <a:bodyPr wrap="square">
            <a:spAutoFit/>
          </a:bodyPr>
          <a:lstStyle/>
          <a:p>
            <a:pPr algn="ctr"/>
            <a:r>
              <a:rPr sz="950" b="1">
                <a:solidFill>
                  <a:srgbClr val="FFFFFF"/>
                </a:solidFill>
                <a:latin typeface="Calibri"/>
              </a:rPr>
              <a:t>Plat sf</a:t>
            </a:r>
          </a:p>
        </p:txBody>
      </p:sp>
      <p:sp>
        <p:nvSpPr>
          <p:cNvPr id="65" name="Rectangle 64"/>
          <p:cNvSpPr/>
          <p:nvPr/>
        </p:nvSpPr>
        <p:spPr>
          <a:xfrm>
            <a:off x="6611112" y="3438144"/>
            <a:ext cx="804672" cy="329184"/>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647688" y="3483864"/>
            <a:ext cx="731520" cy="256032"/>
          </a:xfrm>
          <a:prstGeom prst="rect">
            <a:avLst/>
          </a:prstGeom>
          <a:noFill/>
        </p:spPr>
        <p:txBody>
          <a:bodyPr wrap="square">
            <a:spAutoFit/>
          </a:bodyPr>
          <a:lstStyle/>
          <a:p>
            <a:pPr algn="ctr"/>
            <a:r>
              <a:rPr sz="950" b="1">
                <a:solidFill>
                  <a:srgbClr val="FFFFFF"/>
                </a:solidFill>
                <a:latin typeface="Calibri"/>
              </a:rPr>
              <a:t>Alli sf</a:t>
            </a:r>
          </a:p>
        </p:txBody>
      </p:sp>
      <p:sp>
        <p:nvSpPr>
          <p:cNvPr id="67" name="Rectangle 66"/>
          <p:cNvSpPr/>
          <p:nvPr/>
        </p:nvSpPr>
        <p:spPr>
          <a:xfrm>
            <a:off x="7415784" y="3438144"/>
            <a:ext cx="804672" cy="329184"/>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452360" y="3483864"/>
            <a:ext cx="731520" cy="256032"/>
          </a:xfrm>
          <a:prstGeom prst="rect">
            <a:avLst/>
          </a:prstGeom>
          <a:noFill/>
        </p:spPr>
        <p:txBody>
          <a:bodyPr wrap="square">
            <a:spAutoFit/>
          </a:bodyPr>
          <a:lstStyle/>
          <a:p>
            <a:pPr algn="ctr"/>
            <a:r>
              <a:rPr sz="950" b="1">
                <a:solidFill>
                  <a:srgbClr val="FFFFFF"/>
                </a:solidFill>
                <a:latin typeface="Calibri"/>
              </a:rPr>
              <a:t>Overall sf</a:t>
            </a:r>
          </a:p>
        </p:txBody>
      </p:sp>
      <p:sp>
        <p:nvSpPr>
          <p:cNvPr id="69" name="Rectangle 68"/>
          <p:cNvSpPr/>
          <p:nvPr/>
        </p:nvSpPr>
        <p:spPr>
          <a:xfrm>
            <a:off x="320040" y="3767328"/>
            <a:ext cx="1463040"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56616" y="3813048"/>
            <a:ext cx="1389888" cy="256032"/>
          </a:xfrm>
          <a:prstGeom prst="rect">
            <a:avLst/>
          </a:prstGeom>
          <a:noFill/>
        </p:spPr>
        <p:txBody>
          <a:bodyPr wrap="square">
            <a:spAutoFit/>
          </a:bodyPr>
          <a:lstStyle/>
          <a:p>
            <a:pPr algn="ctr"/>
            <a:r>
              <a:rPr sz="1000" b="0">
                <a:solidFill>
                  <a:srgbClr val="3F4444"/>
                </a:solidFill>
                <a:latin typeface="Calibri"/>
              </a:rPr>
              <a:t>v4.3 (Stage 2)</a:t>
            </a:r>
          </a:p>
        </p:txBody>
      </p:sp>
      <p:sp>
        <p:nvSpPr>
          <p:cNvPr id="71" name="Rectangle 70"/>
          <p:cNvSpPr/>
          <p:nvPr/>
        </p:nvSpPr>
        <p:spPr>
          <a:xfrm>
            <a:off x="1783080" y="3767328"/>
            <a:ext cx="804672"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819656" y="3813048"/>
            <a:ext cx="731520" cy="256032"/>
          </a:xfrm>
          <a:prstGeom prst="rect">
            <a:avLst/>
          </a:prstGeom>
          <a:noFill/>
        </p:spPr>
        <p:txBody>
          <a:bodyPr wrap="square">
            <a:spAutoFit/>
          </a:bodyPr>
          <a:lstStyle/>
          <a:p>
            <a:pPr algn="ctr"/>
            <a:r>
              <a:rPr sz="1000" b="0">
                <a:solidFill>
                  <a:srgbClr val="3F4444"/>
                </a:solidFill>
                <a:latin typeface="Calibri"/>
              </a:rPr>
              <a:t>0.639</a:t>
            </a:r>
          </a:p>
        </p:txBody>
      </p:sp>
      <p:sp>
        <p:nvSpPr>
          <p:cNvPr id="73" name="Rectangle 72"/>
          <p:cNvSpPr/>
          <p:nvPr/>
        </p:nvSpPr>
        <p:spPr>
          <a:xfrm>
            <a:off x="2587752" y="3767328"/>
            <a:ext cx="804672"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624328" y="3813048"/>
            <a:ext cx="731520" cy="256032"/>
          </a:xfrm>
          <a:prstGeom prst="rect">
            <a:avLst/>
          </a:prstGeom>
          <a:noFill/>
        </p:spPr>
        <p:txBody>
          <a:bodyPr wrap="square">
            <a:spAutoFit/>
          </a:bodyPr>
          <a:lstStyle/>
          <a:p>
            <a:pPr algn="ctr"/>
            <a:r>
              <a:rPr sz="1000" b="0">
                <a:solidFill>
                  <a:srgbClr val="3F4444"/>
                </a:solidFill>
                <a:latin typeface="Calibri"/>
              </a:rPr>
              <a:t>0.821</a:t>
            </a:r>
          </a:p>
        </p:txBody>
      </p:sp>
      <p:sp>
        <p:nvSpPr>
          <p:cNvPr id="75" name="Rectangle 74"/>
          <p:cNvSpPr/>
          <p:nvPr/>
        </p:nvSpPr>
        <p:spPr>
          <a:xfrm>
            <a:off x="3392424" y="3767328"/>
            <a:ext cx="804672"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429000" y="3813048"/>
            <a:ext cx="731520" cy="256032"/>
          </a:xfrm>
          <a:prstGeom prst="rect">
            <a:avLst/>
          </a:prstGeom>
          <a:noFill/>
        </p:spPr>
        <p:txBody>
          <a:bodyPr wrap="square">
            <a:spAutoFit/>
          </a:bodyPr>
          <a:lstStyle/>
          <a:p>
            <a:pPr algn="ctr"/>
            <a:r>
              <a:rPr sz="1000" b="0">
                <a:solidFill>
                  <a:srgbClr val="3F4444"/>
                </a:solidFill>
                <a:latin typeface="Calibri"/>
              </a:rPr>
              <a:t>0.787</a:t>
            </a:r>
          </a:p>
        </p:txBody>
      </p:sp>
      <p:sp>
        <p:nvSpPr>
          <p:cNvPr id="77" name="Rectangle 76"/>
          <p:cNvSpPr/>
          <p:nvPr/>
        </p:nvSpPr>
        <p:spPr>
          <a:xfrm>
            <a:off x="4197096" y="3767328"/>
            <a:ext cx="804672"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233672" y="3813048"/>
            <a:ext cx="731520" cy="256032"/>
          </a:xfrm>
          <a:prstGeom prst="rect">
            <a:avLst/>
          </a:prstGeom>
          <a:noFill/>
        </p:spPr>
        <p:txBody>
          <a:bodyPr wrap="square">
            <a:spAutoFit/>
          </a:bodyPr>
          <a:lstStyle/>
          <a:p>
            <a:pPr algn="ctr"/>
            <a:r>
              <a:rPr sz="1000" b="0">
                <a:solidFill>
                  <a:srgbClr val="3F4444"/>
                </a:solidFill>
                <a:latin typeface="Calibri"/>
              </a:rPr>
              <a:t>0.763</a:t>
            </a:r>
          </a:p>
        </p:txBody>
      </p:sp>
      <p:sp>
        <p:nvSpPr>
          <p:cNvPr id="79" name="Rectangle 78"/>
          <p:cNvSpPr/>
          <p:nvPr/>
        </p:nvSpPr>
        <p:spPr>
          <a:xfrm>
            <a:off x="5001768" y="3767328"/>
            <a:ext cx="804672"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038344" y="3813048"/>
            <a:ext cx="731520" cy="256032"/>
          </a:xfrm>
          <a:prstGeom prst="rect">
            <a:avLst/>
          </a:prstGeom>
          <a:noFill/>
        </p:spPr>
        <p:txBody>
          <a:bodyPr wrap="square">
            <a:spAutoFit/>
          </a:bodyPr>
          <a:lstStyle/>
          <a:p>
            <a:pPr algn="ctr"/>
            <a:r>
              <a:rPr sz="1000" b="0">
                <a:solidFill>
                  <a:srgbClr val="3F4444"/>
                </a:solidFill>
                <a:latin typeface="Calibri"/>
              </a:rPr>
              <a:t>0.168</a:t>
            </a:r>
          </a:p>
        </p:txBody>
      </p:sp>
      <p:sp>
        <p:nvSpPr>
          <p:cNvPr id="81" name="Rectangle 80"/>
          <p:cNvSpPr/>
          <p:nvPr/>
        </p:nvSpPr>
        <p:spPr>
          <a:xfrm>
            <a:off x="5806440" y="3767328"/>
            <a:ext cx="804672"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843016" y="3813048"/>
            <a:ext cx="731520" cy="256032"/>
          </a:xfrm>
          <a:prstGeom prst="rect">
            <a:avLst/>
          </a:prstGeom>
          <a:noFill/>
        </p:spPr>
        <p:txBody>
          <a:bodyPr wrap="square">
            <a:spAutoFit/>
          </a:bodyPr>
          <a:lstStyle/>
          <a:p>
            <a:pPr algn="ctr"/>
            <a:r>
              <a:rPr sz="1000" b="0">
                <a:solidFill>
                  <a:srgbClr val="3F4444"/>
                </a:solidFill>
                <a:latin typeface="Calibri"/>
              </a:rPr>
              <a:t>0.274</a:t>
            </a:r>
          </a:p>
        </p:txBody>
      </p:sp>
      <p:sp>
        <p:nvSpPr>
          <p:cNvPr id="83" name="Rectangle 82"/>
          <p:cNvSpPr/>
          <p:nvPr/>
        </p:nvSpPr>
        <p:spPr>
          <a:xfrm>
            <a:off x="6611112" y="3767328"/>
            <a:ext cx="804672"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647688" y="3813048"/>
            <a:ext cx="731520" cy="256032"/>
          </a:xfrm>
          <a:prstGeom prst="rect">
            <a:avLst/>
          </a:prstGeom>
          <a:noFill/>
        </p:spPr>
        <p:txBody>
          <a:bodyPr wrap="square">
            <a:spAutoFit/>
          </a:bodyPr>
          <a:lstStyle/>
          <a:p>
            <a:pPr algn="ctr"/>
            <a:r>
              <a:rPr sz="1000" b="0">
                <a:solidFill>
                  <a:srgbClr val="3F4444"/>
                </a:solidFill>
                <a:latin typeface="Calibri"/>
              </a:rPr>
              <a:t>0.216</a:t>
            </a:r>
          </a:p>
        </p:txBody>
      </p:sp>
      <p:sp>
        <p:nvSpPr>
          <p:cNvPr id="85" name="Rectangle 84"/>
          <p:cNvSpPr/>
          <p:nvPr/>
        </p:nvSpPr>
        <p:spPr>
          <a:xfrm>
            <a:off x="7415784" y="3767328"/>
            <a:ext cx="804672" cy="329184"/>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452360" y="3813048"/>
            <a:ext cx="731520" cy="256032"/>
          </a:xfrm>
          <a:prstGeom prst="rect">
            <a:avLst/>
          </a:prstGeom>
          <a:noFill/>
        </p:spPr>
        <p:txBody>
          <a:bodyPr wrap="square">
            <a:spAutoFit/>
          </a:bodyPr>
          <a:lstStyle/>
          <a:p>
            <a:pPr algn="ctr"/>
            <a:r>
              <a:rPr sz="1000" b="0">
                <a:solidFill>
                  <a:srgbClr val="3F4444"/>
                </a:solidFill>
                <a:latin typeface="Calibri"/>
              </a:rPr>
              <a:t>0.231</a:t>
            </a:r>
          </a:p>
        </p:txBody>
      </p:sp>
      <p:sp>
        <p:nvSpPr>
          <p:cNvPr id="87" name="Rectangle 86"/>
          <p:cNvSpPr/>
          <p:nvPr/>
        </p:nvSpPr>
        <p:spPr>
          <a:xfrm>
            <a:off x="320040" y="4096512"/>
            <a:ext cx="1463040" cy="329184"/>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56616" y="4142232"/>
            <a:ext cx="1389888" cy="256032"/>
          </a:xfrm>
          <a:prstGeom prst="rect">
            <a:avLst/>
          </a:prstGeom>
          <a:noFill/>
        </p:spPr>
        <p:txBody>
          <a:bodyPr wrap="square">
            <a:spAutoFit/>
          </a:bodyPr>
          <a:lstStyle/>
          <a:p>
            <a:pPr algn="ctr"/>
            <a:r>
              <a:rPr sz="1000" b="0">
                <a:solidFill>
                  <a:srgbClr val="3F4444"/>
                </a:solidFill>
                <a:latin typeface="Calibri"/>
              </a:rPr>
              <a:t>v4.3-singlefold</a:t>
            </a:r>
          </a:p>
        </p:txBody>
      </p:sp>
      <p:sp>
        <p:nvSpPr>
          <p:cNvPr id="89" name="Rectangle 88"/>
          <p:cNvSpPr/>
          <p:nvPr/>
        </p:nvSpPr>
        <p:spPr>
          <a:xfrm>
            <a:off x="1783080" y="4096512"/>
            <a:ext cx="804672" cy="329184"/>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819656" y="4142232"/>
            <a:ext cx="731520" cy="256032"/>
          </a:xfrm>
          <a:prstGeom prst="rect">
            <a:avLst/>
          </a:prstGeom>
          <a:noFill/>
        </p:spPr>
        <p:txBody>
          <a:bodyPr wrap="square">
            <a:spAutoFit/>
          </a:bodyPr>
          <a:lstStyle/>
          <a:p>
            <a:pPr algn="ctr"/>
            <a:r>
              <a:rPr sz="1000" b="0">
                <a:solidFill>
                  <a:srgbClr val="3F4444"/>
                </a:solidFill>
                <a:latin typeface="Calibri"/>
              </a:rPr>
              <a:t>0.428</a:t>
            </a:r>
          </a:p>
        </p:txBody>
      </p:sp>
      <p:sp>
        <p:nvSpPr>
          <p:cNvPr id="91" name="Rectangle 90"/>
          <p:cNvSpPr/>
          <p:nvPr/>
        </p:nvSpPr>
        <p:spPr>
          <a:xfrm>
            <a:off x="2587752" y="4096512"/>
            <a:ext cx="804672" cy="329184"/>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624328" y="4142232"/>
            <a:ext cx="731520" cy="256032"/>
          </a:xfrm>
          <a:prstGeom prst="rect">
            <a:avLst/>
          </a:prstGeom>
          <a:noFill/>
        </p:spPr>
        <p:txBody>
          <a:bodyPr wrap="square">
            <a:spAutoFit/>
          </a:bodyPr>
          <a:lstStyle/>
          <a:p>
            <a:pPr algn="ctr"/>
            <a:r>
              <a:rPr sz="1000" b="0">
                <a:solidFill>
                  <a:srgbClr val="3F4444"/>
                </a:solidFill>
                <a:latin typeface="Calibri"/>
              </a:rPr>
              <a:t>0.703</a:t>
            </a:r>
          </a:p>
        </p:txBody>
      </p:sp>
      <p:sp>
        <p:nvSpPr>
          <p:cNvPr id="93" name="Rectangle 92"/>
          <p:cNvSpPr/>
          <p:nvPr/>
        </p:nvSpPr>
        <p:spPr>
          <a:xfrm>
            <a:off x="3392424" y="4096512"/>
            <a:ext cx="804672" cy="329184"/>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429000" y="4142232"/>
            <a:ext cx="731520" cy="256032"/>
          </a:xfrm>
          <a:prstGeom prst="rect">
            <a:avLst/>
          </a:prstGeom>
          <a:noFill/>
        </p:spPr>
        <p:txBody>
          <a:bodyPr wrap="square">
            <a:spAutoFit/>
          </a:bodyPr>
          <a:lstStyle/>
          <a:p>
            <a:pPr algn="ctr"/>
            <a:r>
              <a:rPr sz="1000" b="0">
                <a:solidFill>
                  <a:srgbClr val="3F4444"/>
                </a:solidFill>
                <a:latin typeface="Calibri"/>
              </a:rPr>
              <a:t>0.654</a:t>
            </a:r>
          </a:p>
        </p:txBody>
      </p:sp>
      <p:sp>
        <p:nvSpPr>
          <p:cNvPr id="95" name="Rectangle 94"/>
          <p:cNvSpPr/>
          <p:nvPr/>
        </p:nvSpPr>
        <p:spPr>
          <a:xfrm>
            <a:off x="4197096" y="4096512"/>
            <a:ext cx="804672" cy="329184"/>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233672" y="4142232"/>
            <a:ext cx="731520" cy="256032"/>
          </a:xfrm>
          <a:prstGeom prst="rect">
            <a:avLst/>
          </a:prstGeom>
          <a:noFill/>
        </p:spPr>
        <p:txBody>
          <a:bodyPr wrap="square">
            <a:spAutoFit/>
          </a:bodyPr>
          <a:lstStyle/>
          <a:p>
            <a:pPr algn="ctr"/>
            <a:r>
              <a:rPr sz="1000" b="0">
                <a:solidFill>
                  <a:srgbClr val="3F4444"/>
                </a:solidFill>
                <a:latin typeface="Calibri"/>
              </a:rPr>
              <a:t>0.607</a:t>
            </a:r>
          </a:p>
        </p:txBody>
      </p:sp>
      <p:sp>
        <p:nvSpPr>
          <p:cNvPr id="97" name="Rectangle 96"/>
          <p:cNvSpPr/>
          <p:nvPr/>
        </p:nvSpPr>
        <p:spPr>
          <a:xfrm>
            <a:off x="5001768" y="4096512"/>
            <a:ext cx="804672" cy="329184"/>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38344" y="4142232"/>
            <a:ext cx="731520" cy="256032"/>
          </a:xfrm>
          <a:prstGeom prst="rect">
            <a:avLst/>
          </a:prstGeom>
          <a:noFill/>
        </p:spPr>
        <p:txBody>
          <a:bodyPr wrap="square">
            <a:spAutoFit/>
          </a:bodyPr>
          <a:lstStyle/>
          <a:p>
            <a:pPr algn="ctr"/>
            <a:r>
              <a:rPr sz="1000" b="0">
                <a:solidFill>
                  <a:srgbClr val="3F4444"/>
                </a:solidFill>
                <a:latin typeface="Calibri"/>
              </a:rPr>
              <a:t>0.244</a:t>
            </a:r>
          </a:p>
        </p:txBody>
      </p:sp>
      <p:sp>
        <p:nvSpPr>
          <p:cNvPr id="99" name="Rectangle 98"/>
          <p:cNvSpPr/>
          <p:nvPr/>
        </p:nvSpPr>
        <p:spPr>
          <a:xfrm>
            <a:off x="5806440" y="4096512"/>
            <a:ext cx="804672" cy="329184"/>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843016" y="4142232"/>
            <a:ext cx="731520" cy="256032"/>
          </a:xfrm>
          <a:prstGeom prst="rect">
            <a:avLst/>
          </a:prstGeom>
          <a:noFill/>
        </p:spPr>
        <p:txBody>
          <a:bodyPr wrap="square">
            <a:spAutoFit/>
          </a:bodyPr>
          <a:lstStyle/>
          <a:p>
            <a:pPr algn="ctr"/>
            <a:r>
              <a:rPr sz="1000" b="0">
                <a:solidFill>
                  <a:srgbClr val="3F4444"/>
                </a:solidFill>
                <a:latin typeface="Calibri"/>
              </a:rPr>
              <a:t>0.235</a:t>
            </a:r>
          </a:p>
        </p:txBody>
      </p:sp>
      <p:sp>
        <p:nvSpPr>
          <p:cNvPr id="101" name="Rectangle 100"/>
          <p:cNvSpPr/>
          <p:nvPr/>
        </p:nvSpPr>
        <p:spPr>
          <a:xfrm>
            <a:off x="6611112" y="4096512"/>
            <a:ext cx="804672" cy="329184"/>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647688" y="4142232"/>
            <a:ext cx="731520" cy="256032"/>
          </a:xfrm>
          <a:prstGeom prst="rect">
            <a:avLst/>
          </a:prstGeom>
          <a:noFill/>
        </p:spPr>
        <p:txBody>
          <a:bodyPr wrap="square">
            <a:spAutoFit/>
          </a:bodyPr>
          <a:lstStyle/>
          <a:p>
            <a:pPr algn="ctr"/>
            <a:r>
              <a:rPr sz="1000" b="0">
                <a:solidFill>
                  <a:srgbClr val="3F4444"/>
                </a:solidFill>
                <a:latin typeface="Calibri"/>
              </a:rPr>
              <a:t>0.238</a:t>
            </a:r>
          </a:p>
        </p:txBody>
      </p:sp>
      <p:sp>
        <p:nvSpPr>
          <p:cNvPr id="103" name="Rectangle 102"/>
          <p:cNvSpPr/>
          <p:nvPr/>
        </p:nvSpPr>
        <p:spPr>
          <a:xfrm>
            <a:off x="7415784" y="4096512"/>
            <a:ext cx="804672" cy="329184"/>
          </a:xfrm>
          <a:prstGeom prst="rect">
            <a:avLst/>
          </a:prstGeom>
          <a:solidFill>
            <a:srgbClr val="E8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452360" y="4142232"/>
            <a:ext cx="731520" cy="256032"/>
          </a:xfrm>
          <a:prstGeom prst="rect">
            <a:avLst/>
          </a:prstGeom>
          <a:noFill/>
        </p:spPr>
        <p:txBody>
          <a:bodyPr wrap="square">
            <a:spAutoFit/>
          </a:bodyPr>
          <a:lstStyle/>
          <a:p>
            <a:pPr algn="ctr"/>
            <a:r>
              <a:rPr sz="1000" b="0">
                <a:solidFill>
                  <a:srgbClr val="3F4444"/>
                </a:solidFill>
                <a:latin typeface="Calibri"/>
              </a:rPr>
              <a:t>0.250</a:t>
            </a:r>
          </a:p>
        </p:txBody>
      </p:sp>
      <p:sp>
        <p:nvSpPr>
          <p:cNvPr id="105" name="TextBox 104"/>
          <p:cNvSpPr txBox="1"/>
          <p:nvPr/>
        </p:nvSpPr>
        <p:spPr>
          <a:xfrm>
            <a:off x="320040" y="4517136"/>
            <a:ext cx="7955279" cy="731520"/>
          </a:xfrm>
          <a:prstGeom prst="rect">
            <a:avLst/>
          </a:prstGeom>
          <a:noFill/>
        </p:spPr>
        <p:txBody>
          <a:bodyPr wrap="square">
            <a:spAutoFit/>
          </a:bodyPr>
          <a:lstStyle/>
          <a:p>
            <a:pPr algn="l"/>
            <a:r>
              <a:rPr sz="1200" b="0">
                <a:solidFill>
                  <a:srgbClr val="3F4444"/>
                </a:solidFill>
                <a:latin typeface="Calibri"/>
              </a:rPr>
              <a:t>Primary finding: Both stages agree closely at superfamily level — the Stage-2 class-level advantage (+0.156) reflects checkpoint selection on a contaminated val set, not genuine architectural benefit.</a:t>
            </a:r>
          </a:p>
        </p:txBody>
      </p:sp>
      <p:pic>
        <p:nvPicPr>
          <p:cNvPr id="106" name="Picture 105" descr="mini_benchmark_perSF_bar.png"/>
          <p:cNvPicPr>
            <a:picLocks noChangeAspect="1"/>
          </p:cNvPicPr>
          <p:nvPr/>
        </p:nvPicPr>
        <p:blipFill>
          <a:blip r:embed="rId2"/>
          <a:stretch>
            <a:fillRect/>
          </a:stretch>
        </p:blipFill>
        <p:spPr>
          <a:xfrm>
            <a:off x="8321040" y="1298448"/>
            <a:ext cx="3566160" cy="46634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Species-Shift as the Primary Failure Mode</a:t>
            </a:r>
          </a:p>
        </p:txBody>
      </p:sp>
      <p:sp>
        <p:nvSpPr>
          <p:cNvPr id="4" name="TextBox 3"/>
          <p:cNvSpPr txBox="1"/>
          <p:nvPr/>
        </p:nvSpPr>
        <p:spPr>
          <a:xfrm>
            <a:off x="320040" y="804672"/>
            <a:ext cx="11430000" cy="329184"/>
          </a:xfrm>
          <a:prstGeom prst="rect">
            <a:avLst/>
          </a:prstGeom>
          <a:noFill/>
        </p:spPr>
        <p:txBody>
          <a:bodyPr wrap="square">
            <a:spAutoFit/>
          </a:bodyPr>
          <a:lstStyle/>
          <a:p>
            <a:pPr algn="l"/>
            <a:r>
              <a:rPr sz="1300" b="0">
                <a:solidFill>
                  <a:srgbClr val="68D2DF"/>
                </a:solidFill>
                <a:latin typeface="Calibri"/>
              </a:rPr>
              <a:t>Phylogenetic coverage of training data is the bottleneck — not model capacity</a:t>
            </a:r>
          </a:p>
        </p:txBody>
      </p:sp>
      <p:sp>
        <p:nvSpPr>
          <p:cNvPr id="5" name="Rectangle 4"/>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8" name="TextBox 7"/>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13</a:t>
            </a:r>
          </a:p>
        </p:txBody>
      </p:sp>
      <p:sp>
        <p:nvSpPr>
          <p:cNvPr id="9" name="TextBox 8"/>
          <p:cNvSpPr txBox="1"/>
          <p:nvPr/>
        </p:nvSpPr>
        <p:spPr>
          <a:xfrm>
            <a:off x="320040" y="1298448"/>
            <a:ext cx="6949440" cy="3108960"/>
          </a:xfrm>
          <a:prstGeom prst="rect">
            <a:avLst/>
          </a:prstGeom>
          <a:noFill/>
        </p:spPr>
        <p:txBody>
          <a:bodyPr wrap="square">
            <a:spAutoFit/>
          </a:bodyPr>
          <a:lstStyle/>
          <a:p>
            <a:pPr algn="l">
              <a:lnSpc>
                <a:spcPct val="128000"/>
              </a:lnSpc>
              <a:spcBef>
                <a:spcPts val="90"/>
              </a:spcBef>
            </a:pPr>
            <a:r>
              <a:rPr sz="1500">
                <a:solidFill>
                  <a:srgbClr val="3F4444"/>
                </a:solidFill>
                <a:latin typeface="Calibri"/>
              </a:rPr>
              <a:t>▪ Removing rotating-CV inner split drops Pantera SF F1 by 0.089 but raises mini-benchmark SF F1 (+0.019)</a:t>
            </a:r>
          </a:p>
          <a:p>
            <a:pPr algn="l">
              <a:lnSpc>
                <a:spcPct val="128000"/>
              </a:lnSpc>
              <a:spcBef>
                <a:spcPts val="90"/>
              </a:spcBef>
            </a:pPr>
            <a:r>
              <a:rPr sz="1500">
                <a:solidFill>
                  <a:srgbClr val="3F4444"/>
                </a:solidFill>
                <a:latin typeface="Calibri"/>
              </a:rPr>
              <a:t>▪ → Rotating CV inflates in-distribution numbers without improving out-of-distribution generalisation</a:t>
            </a:r>
          </a:p>
          <a:p>
            <a:pPr algn="l">
              <a:lnSpc>
                <a:spcPct val="128000"/>
              </a:lnSpc>
              <a:spcBef>
                <a:spcPts val="90"/>
              </a:spcBef>
            </a:pPr>
            <a:r>
              <a:rPr sz="1500">
                <a:solidFill>
                  <a:srgbClr val="3F4444"/>
                </a:solidFill>
                <a:latin typeface="Calibri"/>
              </a:rPr>
              <a:t>▪ Transfer is lineage-dependent:  Platypus best  ·  Alligator second  ·  Zebra finch worst</a:t>
            </a:r>
          </a:p>
          <a:p>
            <a:pPr algn="l">
              <a:lnSpc>
                <a:spcPct val="128000"/>
              </a:lnSpc>
              <a:spcBef>
                <a:spcPts val="90"/>
              </a:spcBef>
            </a:pPr>
            <a:r>
              <a:rPr sz="1500">
                <a:solidFill>
                  <a:srgbClr val="3F4444"/>
                </a:solidFill>
                <a:latin typeface="Calibri"/>
              </a:rPr>
              <a:t>▪ Zebra finch DNA F1 = 0.40, LTR F1 = 0.37 (Stage 3): avian ERV families absent from training pool</a:t>
            </a:r>
          </a:p>
          <a:p>
            <a:pPr algn="l">
              <a:lnSpc>
                <a:spcPct val="128000"/>
              </a:lnSpc>
              <a:spcBef>
                <a:spcPts val="90"/>
              </a:spcBef>
            </a:pPr>
            <a:r>
              <a:rPr sz="1500">
                <a:solidFill>
                  <a:srgbClr val="3F4444"/>
                </a:solidFill>
                <a:latin typeface="Calibri"/>
              </a:rPr>
              <a:t>▪ DNA/hAT collapse (0.92 → 0.26) is shared by both leak-controlled variants — genuine species-shift</a:t>
            </a:r>
          </a:p>
        </p:txBody>
      </p:sp>
      <p:sp>
        <p:nvSpPr>
          <p:cNvPr id="10" name="TextBox 9"/>
          <p:cNvSpPr txBox="1"/>
          <p:nvPr/>
        </p:nvSpPr>
        <p:spPr>
          <a:xfrm>
            <a:off x="320040" y="4517136"/>
            <a:ext cx="6949440" cy="347472"/>
          </a:xfrm>
          <a:prstGeom prst="rect">
            <a:avLst/>
          </a:prstGeom>
          <a:noFill/>
        </p:spPr>
        <p:txBody>
          <a:bodyPr wrap="square">
            <a:spAutoFit/>
          </a:bodyPr>
          <a:lstStyle/>
          <a:p>
            <a:pPr algn="l"/>
            <a:r>
              <a:rPr sz="1400" b="1">
                <a:solidFill>
                  <a:srgbClr val="003865"/>
                </a:solidFill>
                <a:latin typeface="Calibri"/>
              </a:rPr>
              <a:t>Productive remedies:</a:t>
            </a:r>
          </a:p>
        </p:txBody>
      </p:sp>
      <p:sp>
        <p:nvSpPr>
          <p:cNvPr id="11" name="TextBox 10"/>
          <p:cNvSpPr txBox="1"/>
          <p:nvPr/>
        </p:nvSpPr>
        <p:spPr>
          <a:xfrm>
            <a:off x="320040" y="4882896"/>
            <a:ext cx="6949440" cy="1828800"/>
          </a:xfrm>
          <a:prstGeom prst="rect">
            <a:avLst/>
          </a:prstGeom>
          <a:noFill/>
        </p:spPr>
        <p:txBody>
          <a:bodyPr wrap="square">
            <a:spAutoFit/>
          </a:bodyPr>
          <a:lstStyle/>
          <a:p>
            <a:pPr algn="l">
              <a:lnSpc>
                <a:spcPct val="125000"/>
              </a:lnSpc>
              <a:spcBef>
                <a:spcPts val="80"/>
              </a:spcBef>
            </a:pPr>
            <a:r>
              <a:rPr sz="1400">
                <a:solidFill>
                  <a:srgbClr val="3F4444"/>
                </a:solidFill>
                <a:latin typeface="Calibri"/>
              </a:rPr>
              <a:t>  → Broader phylogenetic training coverage (more avian / monotreme genomes)</a:t>
            </a:r>
          </a:p>
          <a:p>
            <a:pPr algn="l">
              <a:lnSpc>
                <a:spcPct val="125000"/>
              </a:lnSpc>
              <a:spcBef>
                <a:spcPts val="80"/>
              </a:spcBef>
            </a:pPr>
            <a:r>
              <a:rPr sz="1400">
                <a:solidFill>
                  <a:srgbClr val="3F4444"/>
                </a:solidFill>
                <a:latin typeface="Calibri"/>
              </a:rPr>
              <a:t>  → Domain-adversarial training to encourage species-invariant representations</a:t>
            </a:r>
          </a:p>
          <a:p>
            <a:pPr algn="l">
              <a:lnSpc>
                <a:spcPct val="125000"/>
              </a:lnSpc>
              <a:spcBef>
                <a:spcPts val="80"/>
              </a:spcBef>
            </a:pPr>
            <a:r>
              <a:rPr sz="1400">
                <a:solidFill>
                  <a:srgbClr val="3F4444"/>
                </a:solidFill>
                <a:latin typeface="Calibri"/>
              </a:rPr>
              <a:t>  → Pre-training on large DNA corpus (DNA foundation model) → fine-tune on Pantera</a:t>
            </a:r>
          </a:p>
          <a:p>
            <a:pPr algn="l">
              <a:lnSpc>
                <a:spcPct val="125000"/>
              </a:lnSpc>
              <a:spcBef>
                <a:spcPts val="80"/>
              </a:spcBef>
            </a:pPr>
            <a:r>
              <a:rPr sz="1400">
                <a:solidFill>
                  <a:srgbClr val="3F4444"/>
                </a:solidFill>
                <a:latin typeface="Calibri"/>
              </a:rPr>
              <a:t>  → Meta-learning (MAML) across species for low-shot lineage generalisation</a:t>
            </a:r>
          </a:p>
        </p:txBody>
      </p:sp>
      <p:pic>
        <p:nvPicPr>
          <p:cNvPr id="12" name="Picture 11" descr="mini_benchmark_perSF_heatmap.png"/>
          <p:cNvPicPr>
            <a:picLocks noChangeAspect="1"/>
          </p:cNvPicPr>
          <p:nvPr/>
        </p:nvPicPr>
        <p:blipFill>
          <a:blip r:embed="rId2"/>
          <a:stretch>
            <a:fillRect/>
          </a:stretch>
        </p:blipFill>
        <p:spPr>
          <a:xfrm>
            <a:off x="7452360" y="1298448"/>
            <a:ext cx="44348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Interpretability: Gradient-based Saliency</a:t>
            </a:r>
          </a:p>
        </p:txBody>
      </p:sp>
      <p:sp>
        <p:nvSpPr>
          <p:cNvPr id="4" name="TextBox 3"/>
          <p:cNvSpPr txBox="1"/>
          <p:nvPr/>
        </p:nvSpPr>
        <p:spPr>
          <a:xfrm>
            <a:off x="320040" y="804672"/>
            <a:ext cx="11430000" cy="329184"/>
          </a:xfrm>
          <a:prstGeom prst="rect">
            <a:avLst/>
          </a:prstGeom>
          <a:noFill/>
        </p:spPr>
        <p:txBody>
          <a:bodyPr wrap="square">
            <a:spAutoFit/>
          </a:bodyPr>
          <a:lstStyle/>
          <a:p>
            <a:pPr algn="l"/>
            <a:r>
              <a:rPr sz="1300" b="0">
                <a:solidFill>
                  <a:srgbClr val="68D2DF"/>
                </a:solidFill>
                <a:latin typeface="Calibri"/>
              </a:rPr>
              <a:t>Which sequence positions drive the model's predictions?</a:t>
            </a:r>
          </a:p>
        </p:txBody>
      </p:sp>
      <p:sp>
        <p:nvSpPr>
          <p:cNvPr id="5" name="Rectangle 4"/>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8" name="TextBox 7"/>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14</a:t>
            </a:r>
          </a:p>
        </p:txBody>
      </p:sp>
      <p:sp>
        <p:nvSpPr>
          <p:cNvPr id="9" name="TextBox 8"/>
          <p:cNvSpPr txBox="1"/>
          <p:nvPr/>
        </p:nvSpPr>
        <p:spPr>
          <a:xfrm>
            <a:off x="320040" y="1298448"/>
            <a:ext cx="6217920" cy="1371600"/>
          </a:xfrm>
          <a:prstGeom prst="rect">
            <a:avLst/>
          </a:prstGeom>
          <a:noFill/>
        </p:spPr>
        <p:txBody>
          <a:bodyPr wrap="square">
            <a:spAutoFit/>
          </a:bodyPr>
          <a:lstStyle/>
          <a:p>
            <a:pPr algn="l">
              <a:lnSpc>
                <a:spcPct val="125000"/>
              </a:lnSpc>
              <a:spcBef>
                <a:spcPts val="80"/>
              </a:spcBef>
            </a:pPr>
            <a:r>
              <a:rPr sz="1500">
                <a:solidFill>
                  <a:srgbClr val="3F4444"/>
                </a:solidFill>
                <a:latin typeface="Calibri"/>
              </a:rPr>
              <a:t>▪ Compute ℓ₂-normalised input gradient ∇ₓL for each test sequence</a:t>
            </a:r>
          </a:p>
          <a:p>
            <a:pPr algn="l">
              <a:lnSpc>
                <a:spcPct val="125000"/>
              </a:lnSpc>
              <a:spcBef>
                <a:spcPts val="80"/>
              </a:spcBef>
            </a:pPr>
            <a:r>
              <a:rPr sz="1500">
                <a:solidFill>
                  <a:srgbClr val="3F4444"/>
                </a:solidFill>
                <a:latin typeface="Calibri"/>
              </a:rPr>
              <a:t>▪ Positive attribution: positions that increase the true-class logit</a:t>
            </a:r>
          </a:p>
          <a:p>
            <a:pPr algn="l">
              <a:lnSpc>
                <a:spcPct val="125000"/>
              </a:lnSpc>
              <a:spcBef>
                <a:spcPts val="80"/>
              </a:spcBef>
            </a:pPr>
            <a:r>
              <a:rPr sz="1500">
                <a:solidFill>
                  <a:srgbClr val="3F4444"/>
                </a:solidFill>
                <a:latin typeface="Calibri"/>
              </a:rPr>
              <a:t>▪ Generated from v4 model (position-invariant, representative across folds)</a:t>
            </a:r>
          </a:p>
        </p:txBody>
      </p:sp>
      <p:sp>
        <p:nvSpPr>
          <p:cNvPr id="10" name="TextBox 9"/>
          <p:cNvSpPr txBox="1"/>
          <p:nvPr/>
        </p:nvSpPr>
        <p:spPr>
          <a:xfrm>
            <a:off x="320040" y="2779776"/>
            <a:ext cx="6217920" cy="347472"/>
          </a:xfrm>
          <a:prstGeom prst="rect">
            <a:avLst/>
          </a:prstGeom>
          <a:noFill/>
        </p:spPr>
        <p:txBody>
          <a:bodyPr wrap="square">
            <a:spAutoFit/>
          </a:bodyPr>
          <a:lstStyle/>
          <a:p>
            <a:pPr algn="l"/>
            <a:r>
              <a:rPr sz="1400" b="1">
                <a:solidFill>
                  <a:srgbClr val="003865"/>
                </a:solidFill>
                <a:latin typeface="Calibri"/>
              </a:rPr>
              <a:t>Findings from 4 representative misclassifications:</a:t>
            </a:r>
          </a:p>
        </p:txBody>
      </p:sp>
      <p:sp>
        <p:nvSpPr>
          <p:cNvPr id="11" name="TextBox 10"/>
          <p:cNvSpPr txBox="1"/>
          <p:nvPr/>
        </p:nvSpPr>
        <p:spPr>
          <a:xfrm>
            <a:off x="320040" y="3145536"/>
            <a:ext cx="6217920" cy="2743200"/>
          </a:xfrm>
          <a:prstGeom prst="rect">
            <a:avLst/>
          </a:prstGeom>
          <a:noFill/>
        </p:spPr>
        <p:txBody>
          <a:bodyPr wrap="square">
            <a:spAutoFit/>
          </a:bodyPr>
          <a:lstStyle/>
          <a:p>
            <a:pPr algn="l">
              <a:lnSpc>
                <a:spcPct val="125000"/>
              </a:lnSpc>
              <a:spcBef>
                <a:spcPts val="80"/>
              </a:spcBef>
            </a:pPr>
            <a:r>
              <a:rPr sz="1400">
                <a:solidFill>
                  <a:srgbClr val="3F4444"/>
                </a:solidFill>
                <a:latin typeface="Calibri"/>
              </a:rPr>
              <a:t>▪ LTR/Gypsy → LTR/Pao: true- and predicted-class attribution envelopes overlap → shared internal motifs</a:t>
            </a:r>
          </a:p>
          <a:p>
            <a:pPr algn="l">
              <a:lnSpc>
                <a:spcPct val="125000"/>
              </a:lnSpc>
              <a:spcBef>
                <a:spcPts val="80"/>
              </a:spcBef>
            </a:pPr>
            <a:r>
              <a:rPr sz="1400">
                <a:solidFill>
                  <a:srgbClr val="3F4444"/>
                </a:solidFill>
                <a:latin typeface="Calibri"/>
              </a:rPr>
              <a:t>▪ LINE/L1 → LINE/L1-Tx1: broadly negative true-class saliency → confident subfamily flip</a:t>
            </a:r>
          </a:p>
          <a:p>
            <a:pPr algn="l">
              <a:lnSpc>
                <a:spcPct val="125000"/>
              </a:lnSpc>
              <a:spcBef>
                <a:spcPts val="80"/>
              </a:spcBef>
            </a:pPr>
            <a:r>
              <a:rPr sz="1400">
                <a:solidFill>
                  <a:srgbClr val="3F4444"/>
                </a:solidFill>
                <a:latin typeface="Calibri"/>
              </a:rPr>
              <a:t>▪ DNA/hAT: crisp attribution peaks at element ends → TIR boundary signal</a:t>
            </a:r>
          </a:p>
          <a:p>
            <a:pPr algn="l">
              <a:lnSpc>
                <a:spcPct val="125000"/>
              </a:lnSpc>
              <a:spcBef>
                <a:spcPts val="80"/>
              </a:spcBef>
            </a:pPr>
            <a:r>
              <a:rPr sz="1400">
                <a:solidFill>
                  <a:srgbClr val="3F4444"/>
                </a:solidFill>
                <a:latin typeface="Calibri"/>
              </a:rPr>
              <a:t>▪ DNA/CMC: diffuse gradients across body → no clear structural hallmark recoverable</a:t>
            </a:r>
          </a:p>
          <a:p>
            <a:pPr algn="l">
              <a:lnSpc>
                <a:spcPct val="125000"/>
              </a:lnSpc>
              <a:spcBef>
                <a:spcPts val="80"/>
              </a:spcBef>
            </a:pPr>
            <a:r>
              <a:rPr sz="1400">
                <a:solidFill>
                  <a:srgbClr val="3F4444"/>
                </a:solidFill>
                <a:latin typeface="Calibri"/>
              </a:rPr>
              <a:t>▪ Note: aggregated correct vs. misclassified analysis not performed — patterns remain illustrative</a:t>
            </a:r>
          </a:p>
        </p:txBody>
      </p:sp>
      <p:pic>
        <p:nvPicPr>
          <p:cNvPr id="12" name="Picture 11" descr="saliency_analysis.png"/>
          <p:cNvPicPr>
            <a:picLocks noChangeAspect="1"/>
          </p:cNvPicPr>
          <p:nvPr/>
        </p:nvPicPr>
        <p:blipFill>
          <a:blip r:embed="rId2"/>
          <a:stretch>
            <a:fillRect/>
          </a:stretch>
        </p:blipFill>
        <p:spPr>
          <a:xfrm>
            <a:off x="6675120" y="1298448"/>
            <a:ext cx="5212080" cy="50292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Semi-supervised Clustering (v5)</a:t>
            </a:r>
          </a:p>
        </p:txBody>
      </p:sp>
      <p:sp>
        <p:nvSpPr>
          <p:cNvPr id="4" name="TextBox 3"/>
          <p:cNvSpPr txBox="1"/>
          <p:nvPr/>
        </p:nvSpPr>
        <p:spPr>
          <a:xfrm>
            <a:off x="320040" y="804672"/>
            <a:ext cx="11430000" cy="329184"/>
          </a:xfrm>
          <a:prstGeom prst="rect">
            <a:avLst/>
          </a:prstGeom>
          <a:noFill/>
        </p:spPr>
        <p:txBody>
          <a:bodyPr wrap="square">
            <a:spAutoFit/>
          </a:bodyPr>
          <a:lstStyle/>
          <a:p>
            <a:pPr algn="l"/>
            <a:r>
              <a:rPr sz="1300" b="0">
                <a:solidFill>
                  <a:srgbClr val="68D2DF"/>
                </a:solidFill>
                <a:latin typeface="Calibri"/>
              </a:rPr>
              <a:t>Contrastive learning probes the encoder's internal representation geometry</a:t>
            </a:r>
          </a:p>
        </p:txBody>
      </p:sp>
      <p:sp>
        <p:nvSpPr>
          <p:cNvPr id="5" name="Rectangle 4"/>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8" name="TextBox 7"/>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15</a:t>
            </a:r>
          </a:p>
        </p:txBody>
      </p:sp>
      <p:sp>
        <p:nvSpPr>
          <p:cNvPr id="9" name="TextBox 8"/>
          <p:cNvSpPr txBox="1"/>
          <p:nvPr/>
        </p:nvSpPr>
        <p:spPr>
          <a:xfrm>
            <a:off x="320040" y="1298448"/>
            <a:ext cx="6766560" cy="2560320"/>
          </a:xfrm>
          <a:prstGeom prst="rect">
            <a:avLst/>
          </a:prstGeom>
          <a:noFill/>
        </p:spPr>
        <p:txBody>
          <a:bodyPr wrap="square">
            <a:spAutoFit/>
          </a:bodyPr>
          <a:lstStyle/>
          <a:p>
            <a:pPr algn="l">
              <a:lnSpc>
                <a:spcPct val="122000"/>
              </a:lnSpc>
              <a:spcBef>
                <a:spcPts val="80"/>
              </a:spcBef>
            </a:pPr>
            <a:r>
              <a:rPr sz="1400">
                <a:solidFill>
                  <a:srgbClr val="3F4444"/>
                </a:solidFill>
                <a:latin typeface="Calibri"/>
              </a:rPr>
              <a:t>▪ Combined loss: L_SupCon (τ=0.3) + 0.5·L_CE + 0.01·L_center — anchors to known label structure</a:t>
            </a:r>
          </a:p>
          <a:p>
            <a:pPr algn="l">
              <a:lnSpc>
                <a:spcPct val="122000"/>
              </a:lnSpc>
              <a:spcBef>
                <a:spcPts val="80"/>
              </a:spcBef>
            </a:pPr>
            <a:r>
              <a:rPr sz="1400">
                <a:solidFill>
                  <a:srgbClr val="3F4444"/>
                </a:solidFill>
                <a:latin typeface="Calibri"/>
              </a:rPr>
              <a:t>▪ Base encoder: pretrained v4 hybrid; 256-dim fused embedding → UMAP → HDBSCAN clustering</a:t>
            </a:r>
          </a:p>
          <a:p>
            <a:pPr algn="l">
              <a:lnSpc>
                <a:spcPct val="122000"/>
              </a:lnSpc>
              <a:spcBef>
                <a:spcPts val="80"/>
              </a:spcBef>
            </a:pPr>
            <a:r>
              <a:rPr sz="1400">
                <a:solidFill>
                  <a:srgbClr val="3F4444"/>
                </a:solidFill>
                <a:latin typeface="Calibri"/>
              </a:rPr>
              <a:t>▪ 72 HDBSCAN clusters discovered from DNA transposon embeddings (7,966 sequences)</a:t>
            </a:r>
          </a:p>
          <a:p>
            <a:pPr algn="l">
              <a:lnSpc>
                <a:spcPct val="122000"/>
              </a:lnSpc>
              <a:spcBef>
                <a:spcPts val="80"/>
              </a:spcBef>
            </a:pPr>
            <a:r>
              <a:rPr sz="1400">
                <a:solidFill>
                  <a:srgbClr val="3F4444"/>
                </a:solidFill>
                <a:latin typeface="Calibri"/>
              </a:rPr>
              <a:t>▪ ARI = 0.036  /  NMI = 0.136  /  Homogeneity = 0.247  — finer-grained than annotated superfamilies</a:t>
            </a:r>
          </a:p>
          <a:p>
            <a:pPr algn="l">
              <a:lnSpc>
                <a:spcPct val="122000"/>
              </a:lnSpc>
              <a:spcBef>
                <a:spcPts val="80"/>
              </a:spcBef>
            </a:pPr>
            <a:r>
              <a:rPr sz="1400">
                <a:solidFill>
                  <a:srgbClr val="3F4444"/>
                </a:solidFill>
                <a:latin typeface="Calibri"/>
              </a:rPr>
              <a:t>▪ Clusters are superfamily-specific but each SF is fragmented: model captures sequence subvariants</a:t>
            </a:r>
          </a:p>
          <a:p>
            <a:pPr algn="l">
              <a:lnSpc>
                <a:spcPct val="122000"/>
              </a:lnSpc>
              <a:spcBef>
                <a:spcPts val="80"/>
              </a:spcBef>
            </a:pPr>
            <a:r>
              <a:rPr sz="1400">
                <a:solidFill>
                  <a:srgbClr val="3F4444"/>
                </a:solidFill>
                <a:latin typeface="Calibri"/>
              </a:rPr>
              <a:t>▪ 7 of 10 largest mixed clusters have 'Unknown' as top annotation → candidate novel subfamilies</a:t>
            </a:r>
          </a:p>
        </p:txBody>
      </p:sp>
      <p:sp>
        <p:nvSpPr>
          <p:cNvPr id="10" name="TextBox 9"/>
          <p:cNvSpPr txBox="1"/>
          <p:nvPr/>
        </p:nvSpPr>
        <p:spPr>
          <a:xfrm>
            <a:off x="320040" y="3995928"/>
            <a:ext cx="6766560" cy="347472"/>
          </a:xfrm>
          <a:prstGeom prst="rect">
            <a:avLst/>
          </a:prstGeom>
          <a:noFill/>
        </p:spPr>
        <p:txBody>
          <a:bodyPr wrap="square">
            <a:spAutoFit/>
          </a:bodyPr>
          <a:lstStyle/>
          <a:p>
            <a:pPr algn="l"/>
            <a:r>
              <a:rPr sz="1300" b="1">
                <a:solidFill>
                  <a:srgbClr val="003865"/>
                </a:solidFill>
                <a:latin typeface="Calibri"/>
              </a:rPr>
              <a:t>Compactness varies with biological heterogeneity (mean L₂ from centroid):</a:t>
            </a:r>
          </a:p>
        </p:txBody>
      </p:sp>
      <p:sp>
        <p:nvSpPr>
          <p:cNvPr id="11" name="TextBox 10"/>
          <p:cNvSpPr txBox="1"/>
          <p:nvPr/>
        </p:nvSpPr>
        <p:spPr>
          <a:xfrm>
            <a:off x="320040" y="4361688"/>
            <a:ext cx="6766560" cy="1371600"/>
          </a:xfrm>
          <a:prstGeom prst="rect">
            <a:avLst/>
          </a:prstGeom>
          <a:noFill/>
        </p:spPr>
        <p:txBody>
          <a:bodyPr wrap="square">
            <a:spAutoFit/>
          </a:bodyPr>
          <a:lstStyle/>
          <a:p>
            <a:pPr algn="l">
              <a:lnSpc>
                <a:spcPct val="120000"/>
              </a:lnSpc>
              <a:spcBef>
                <a:spcPts val="70"/>
              </a:spcBef>
            </a:pPr>
            <a:r>
              <a:rPr sz="1400">
                <a:solidFill>
                  <a:srgbClr val="3F4444"/>
                </a:solidFill>
                <a:latin typeface="Calibri"/>
              </a:rPr>
              <a:t>▪ DNA/PiggyBac 1.84  |  DNA/TcMar-Tc1 2.38  |  DNA/PIF-Harbinger 2.48</a:t>
            </a:r>
          </a:p>
          <a:p>
            <a:pPr algn="l">
              <a:lnSpc>
                <a:spcPct val="120000"/>
              </a:lnSpc>
              <a:spcBef>
                <a:spcPts val="70"/>
              </a:spcBef>
            </a:pPr>
            <a:r>
              <a:rPr sz="1400">
                <a:solidFill>
                  <a:srgbClr val="3F4444"/>
                </a:solidFill>
                <a:latin typeface="Calibri"/>
              </a:rPr>
              <a:t>▪ DNA/CMC 3.05  |  DNA/hAT 3.71  (most diverse; 1,882 sequences)</a:t>
            </a:r>
          </a:p>
        </p:txBody>
      </p:sp>
      <p:pic>
        <p:nvPicPr>
          <p:cNvPr id="12" name="Picture 11" descr="clustering_umap.png"/>
          <p:cNvPicPr>
            <a:picLocks noChangeAspect="1"/>
          </p:cNvPicPr>
          <p:nvPr/>
        </p:nvPicPr>
        <p:blipFill>
          <a:blip r:embed="rId2"/>
          <a:stretch>
            <a:fillRect/>
          </a:stretch>
        </p:blipFill>
        <p:spPr>
          <a:xfrm>
            <a:off x="6949440" y="1298448"/>
            <a:ext cx="4937760" cy="2377440"/>
          </a:xfrm>
          <a:prstGeom prst="rect">
            <a:avLst/>
          </a:prstGeom>
        </p:spPr>
      </p:pic>
      <p:pic>
        <p:nvPicPr>
          <p:cNvPr id="13" name="Picture 12" descr="contrastive_umap.png"/>
          <p:cNvPicPr>
            <a:picLocks noChangeAspect="1"/>
          </p:cNvPicPr>
          <p:nvPr/>
        </p:nvPicPr>
        <p:blipFill>
          <a:blip r:embed="rId3"/>
          <a:stretch>
            <a:fillRect/>
          </a:stretch>
        </p:blipFill>
        <p:spPr>
          <a:xfrm>
            <a:off x="6949440" y="3749040"/>
            <a:ext cx="4937760" cy="23317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Summary &amp; Discussion</a:t>
            </a:r>
          </a:p>
        </p:txBody>
      </p:sp>
      <p:sp>
        <p:nvSpPr>
          <p:cNvPr id="4" name="Rectangle 3"/>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7" name="TextBox 6"/>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16</a:t>
            </a:r>
          </a:p>
        </p:txBody>
      </p:sp>
      <p:sp>
        <p:nvSpPr>
          <p:cNvPr id="8" name="Rectangle 7"/>
          <p:cNvSpPr/>
          <p:nvPr/>
        </p:nvSpPr>
        <p:spPr>
          <a:xfrm>
            <a:off x="320040" y="1298448"/>
            <a:ext cx="5577840" cy="239572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08176"/>
            <a:ext cx="5303520" cy="365760"/>
          </a:xfrm>
          <a:prstGeom prst="rect">
            <a:avLst/>
          </a:prstGeom>
          <a:noFill/>
        </p:spPr>
        <p:txBody>
          <a:bodyPr wrap="square">
            <a:spAutoFit/>
          </a:bodyPr>
          <a:lstStyle/>
          <a:p>
            <a:pPr algn="l"/>
            <a:r>
              <a:rPr sz="1400" b="1">
                <a:solidFill>
                  <a:srgbClr val="003865"/>
                </a:solidFill>
                <a:latin typeface="Calibri"/>
              </a:rPr>
              <a:t>Splits &gt; Architecture</a:t>
            </a:r>
          </a:p>
        </p:txBody>
      </p:sp>
      <p:sp>
        <p:nvSpPr>
          <p:cNvPr id="10" name="TextBox 9"/>
          <p:cNvSpPr txBox="1"/>
          <p:nvPr/>
        </p:nvSpPr>
        <p:spPr>
          <a:xfrm>
            <a:off x="457200" y="1801368"/>
            <a:ext cx="5303520" cy="1828800"/>
          </a:xfrm>
          <a:prstGeom prst="rect">
            <a:avLst/>
          </a:prstGeom>
          <a:noFill/>
        </p:spPr>
        <p:txBody>
          <a:bodyPr wrap="square">
            <a:spAutoFit/>
          </a:bodyPr>
          <a:lstStyle/>
          <a:p>
            <a:pPr algn="l"/>
            <a:r>
              <a:rPr sz="1300" b="0">
                <a:solidFill>
                  <a:srgbClr val="3F4444"/>
                </a:solidFill>
                <a:latin typeface="Calibri"/>
              </a:rPr>
              <a:t>Changing the data-split protocol changes headline numbers more than any modelling choice. Stage-1 (random) → Stage-2 (species-disjoint outer) → Stage-3 (fully-disjoint) tells a coherent story. Stage-3 is the only setting where val and test agree.</a:t>
            </a:r>
          </a:p>
        </p:txBody>
      </p:sp>
      <p:sp>
        <p:nvSpPr>
          <p:cNvPr id="11" name="Rectangle 10"/>
          <p:cNvSpPr/>
          <p:nvPr/>
        </p:nvSpPr>
        <p:spPr>
          <a:xfrm>
            <a:off x="6126480" y="1298448"/>
            <a:ext cx="5577840" cy="239572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408176"/>
            <a:ext cx="5303520" cy="365760"/>
          </a:xfrm>
          <a:prstGeom prst="rect">
            <a:avLst/>
          </a:prstGeom>
          <a:noFill/>
        </p:spPr>
        <p:txBody>
          <a:bodyPr wrap="square">
            <a:spAutoFit/>
          </a:bodyPr>
          <a:lstStyle/>
          <a:p>
            <a:pPr algn="l"/>
            <a:r>
              <a:rPr sz="1400" b="1">
                <a:solidFill>
                  <a:srgbClr val="003865"/>
                </a:solidFill>
                <a:latin typeface="Calibri"/>
              </a:rPr>
              <a:t>Species-Shift</a:t>
            </a:r>
          </a:p>
        </p:txBody>
      </p:sp>
      <p:sp>
        <p:nvSpPr>
          <p:cNvPr id="13" name="TextBox 12"/>
          <p:cNvSpPr txBox="1"/>
          <p:nvPr/>
        </p:nvSpPr>
        <p:spPr>
          <a:xfrm>
            <a:off x="6263640" y="1801368"/>
            <a:ext cx="5303520" cy="1828800"/>
          </a:xfrm>
          <a:prstGeom prst="rect">
            <a:avLst/>
          </a:prstGeom>
          <a:noFill/>
        </p:spPr>
        <p:txBody>
          <a:bodyPr wrap="square">
            <a:spAutoFit/>
          </a:bodyPr>
          <a:lstStyle/>
          <a:p>
            <a:pPr algn="l"/>
            <a:r>
              <a:rPr sz="1300" b="0">
                <a:solidFill>
                  <a:srgbClr val="3F4444"/>
                </a:solidFill>
                <a:latin typeface="Calibri"/>
              </a:rPr>
              <a:t>Primary failure mode is species-shift, not classical overfitting. Rotating-CV inflation buys nothing out-of-distribution. Lineage-specific TE biology (avian ERVs, hAT subvariants) limits cross-species transfer.</a:t>
            </a:r>
          </a:p>
        </p:txBody>
      </p:sp>
      <p:sp>
        <p:nvSpPr>
          <p:cNvPr id="14" name="Rectangle 13"/>
          <p:cNvSpPr/>
          <p:nvPr/>
        </p:nvSpPr>
        <p:spPr>
          <a:xfrm>
            <a:off x="320040" y="3813048"/>
            <a:ext cx="5577840" cy="239572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922776"/>
            <a:ext cx="5303520" cy="365760"/>
          </a:xfrm>
          <a:prstGeom prst="rect">
            <a:avLst/>
          </a:prstGeom>
          <a:noFill/>
        </p:spPr>
        <p:txBody>
          <a:bodyPr wrap="square">
            <a:spAutoFit/>
          </a:bodyPr>
          <a:lstStyle/>
          <a:p>
            <a:pPr algn="l"/>
            <a:r>
              <a:rPr sz="1400" b="1">
                <a:solidFill>
                  <a:srgbClr val="003865"/>
                </a:solidFill>
                <a:latin typeface="Calibri"/>
              </a:rPr>
              <a:t>GNN vs. CNN Role</a:t>
            </a:r>
          </a:p>
        </p:txBody>
      </p:sp>
      <p:sp>
        <p:nvSpPr>
          <p:cNvPr id="16" name="TextBox 15"/>
          <p:cNvSpPr txBox="1"/>
          <p:nvPr/>
        </p:nvSpPr>
        <p:spPr>
          <a:xfrm>
            <a:off x="457200" y="4315968"/>
            <a:ext cx="5303520" cy="1828800"/>
          </a:xfrm>
          <a:prstGeom prst="rect">
            <a:avLst/>
          </a:prstGeom>
          <a:noFill/>
        </p:spPr>
        <p:txBody>
          <a:bodyPr wrap="square">
            <a:spAutoFit/>
          </a:bodyPr>
          <a:lstStyle/>
          <a:p>
            <a:pPr algn="l"/>
            <a:r>
              <a:rPr sz="1300" b="0">
                <a:solidFill>
                  <a:srgbClr val="3F4444"/>
                </a:solidFill>
                <a:latin typeface="Calibri"/>
              </a:rPr>
              <a:t>GNN contributes meaningfully to top-level 3-class task (gate ≈72% GNN weight). Within-class superfamily discrimination is driven entirely by CNN local motifs; k-mer composition is near-chance inside a single class.</a:t>
            </a:r>
          </a:p>
        </p:txBody>
      </p:sp>
      <p:sp>
        <p:nvSpPr>
          <p:cNvPr id="17" name="Rectangle 16"/>
          <p:cNvSpPr/>
          <p:nvPr/>
        </p:nvSpPr>
        <p:spPr>
          <a:xfrm>
            <a:off x="6126480" y="3813048"/>
            <a:ext cx="5577840" cy="2395728"/>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3922776"/>
            <a:ext cx="5303520" cy="365760"/>
          </a:xfrm>
          <a:prstGeom prst="rect">
            <a:avLst/>
          </a:prstGeom>
          <a:noFill/>
        </p:spPr>
        <p:txBody>
          <a:bodyPr wrap="square">
            <a:spAutoFit/>
          </a:bodyPr>
          <a:lstStyle/>
          <a:p>
            <a:pPr algn="l"/>
            <a:r>
              <a:rPr sz="1400" b="1">
                <a:solidFill>
                  <a:srgbClr val="003865"/>
                </a:solidFill>
                <a:latin typeface="Calibri"/>
              </a:rPr>
              <a:t>Boundary Regression</a:t>
            </a:r>
          </a:p>
        </p:txBody>
      </p:sp>
      <p:sp>
        <p:nvSpPr>
          <p:cNvPr id="19" name="TextBox 18"/>
          <p:cNvSpPr txBox="1"/>
          <p:nvPr/>
        </p:nvSpPr>
        <p:spPr>
          <a:xfrm>
            <a:off x="6263640" y="4315968"/>
            <a:ext cx="5303520" cy="1828800"/>
          </a:xfrm>
          <a:prstGeom prst="rect">
            <a:avLst/>
          </a:prstGeom>
          <a:noFill/>
        </p:spPr>
        <p:txBody>
          <a:bodyPr wrap="square">
            <a:spAutoFit/>
          </a:bodyPr>
          <a:lstStyle/>
          <a:p>
            <a:pPr algn="l"/>
            <a:r>
              <a:rPr sz="1300" b="0">
                <a:solidFill>
                  <a:srgbClr val="3F4444"/>
                </a:solidFill>
                <a:latin typeface="Calibri"/>
              </a:rPr>
              <a:t>Sequence length recoverable (r≈0.94); absolute canvas position not (r≈0.07–0.18). Consequence of position-invariant masked global-avg pool. Motivates v4.4 with sinusoidal positional channels + per-position segmentation head.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Calibri"/>
              </a:rPr>
              <a:t>Limitations &amp; Future Directions</a:t>
            </a:r>
          </a:p>
        </p:txBody>
      </p:sp>
      <p:sp>
        <p:nvSpPr>
          <p:cNvPr id="4" name="Rectangle 3"/>
          <p:cNvSpPr/>
          <p:nvPr/>
        </p:nvSpPr>
        <p:spPr>
          <a:xfrm>
            <a:off x="0" y="1188720"/>
            <a:ext cx="12188952" cy="45720"/>
          </a:xfrm>
          <a:prstGeom prst="rect">
            <a:avLst/>
          </a:prstGeom>
          <a:solidFill>
            <a:srgbClr val="D00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7" name="TextBox 6"/>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17</a:t>
            </a:r>
          </a:p>
        </p:txBody>
      </p:sp>
      <p:sp>
        <p:nvSpPr>
          <p:cNvPr id="8" name="TextBox 7"/>
          <p:cNvSpPr txBox="1"/>
          <p:nvPr/>
        </p:nvSpPr>
        <p:spPr>
          <a:xfrm>
            <a:off x="320040" y="1298448"/>
            <a:ext cx="11548872" cy="320040"/>
          </a:xfrm>
          <a:prstGeom prst="rect">
            <a:avLst/>
          </a:prstGeom>
          <a:noFill/>
        </p:spPr>
        <p:txBody>
          <a:bodyPr wrap="square">
            <a:spAutoFit/>
          </a:bodyPr>
          <a:lstStyle/>
          <a:p>
            <a:pPr algn="l"/>
            <a:r>
              <a:rPr sz="1400" b="1">
                <a:solidFill>
                  <a:srgbClr val="D0006F"/>
                </a:solidFill>
                <a:latin typeface="Calibri"/>
              </a:rPr>
              <a:t>Current limitations</a:t>
            </a:r>
          </a:p>
        </p:txBody>
      </p:sp>
      <p:sp>
        <p:nvSpPr>
          <p:cNvPr id="9" name="TextBox 8"/>
          <p:cNvSpPr txBox="1"/>
          <p:nvPr/>
        </p:nvSpPr>
        <p:spPr>
          <a:xfrm>
            <a:off x="320040" y="1645920"/>
            <a:ext cx="11548872" cy="1920240"/>
          </a:xfrm>
          <a:prstGeom prst="rect">
            <a:avLst/>
          </a:prstGeom>
          <a:noFill/>
        </p:spPr>
        <p:txBody>
          <a:bodyPr wrap="square">
            <a:spAutoFit/>
          </a:bodyPr>
          <a:lstStyle/>
          <a:p>
            <a:pPr algn="l">
              <a:lnSpc>
                <a:spcPct val="128000"/>
              </a:lnSpc>
              <a:spcBef>
                <a:spcPts val="80"/>
              </a:spcBef>
            </a:pPr>
            <a:r>
              <a:rPr sz="1500">
                <a:solidFill>
                  <a:srgbClr val="3F4444"/>
                </a:solidFill>
                <a:latin typeface="Calibri"/>
              </a:rPr>
              <a:t>▪ Stage-1 test F1 inflated for rare classes — use only as label-quality audit, not generalisation estimate</a:t>
            </a:r>
          </a:p>
          <a:p>
            <a:pPr algn="l">
              <a:lnSpc>
                <a:spcPct val="128000"/>
              </a:lnSpc>
              <a:spcBef>
                <a:spcPts val="80"/>
              </a:spcBef>
            </a:pPr>
            <a:r>
              <a:rPr sz="1500">
                <a:solidFill>
                  <a:srgbClr val="3F4444"/>
                </a:solidFill>
                <a:latin typeface="Calibri"/>
              </a:rPr>
              <a:t>▪ Mini-benchmark limited to n=3 species across 3 lineages — universal phrasing is unwarranted</a:t>
            </a:r>
          </a:p>
          <a:p>
            <a:pPr algn="l">
              <a:lnSpc>
                <a:spcPct val="128000"/>
              </a:lnSpc>
              <a:spcBef>
                <a:spcPts val="80"/>
              </a:spcBef>
            </a:pPr>
            <a:r>
              <a:rPr sz="1500">
                <a:solidFill>
                  <a:srgbClr val="3F4444"/>
                </a:solidFill>
                <a:latin typeface="Calibri"/>
              </a:rPr>
              <a:t>▪ DNA/hAT collapse mechanism unresolved — phylogenetic gap vs. flat-softmax insufficiency unclear</a:t>
            </a:r>
          </a:p>
          <a:p>
            <a:pPr algn="l">
              <a:lnSpc>
                <a:spcPct val="128000"/>
              </a:lnSpc>
              <a:spcBef>
                <a:spcPts val="80"/>
              </a:spcBef>
            </a:pPr>
            <a:r>
              <a:rPr sz="1500">
                <a:solidFill>
                  <a:srgbClr val="3F4444"/>
                </a:solidFill>
                <a:latin typeface="Calibri"/>
              </a:rPr>
              <a:t>▪ v5 clustering evaluated only on DNA transposons; broader scope needed for full picture</a:t>
            </a:r>
          </a:p>
        </p:txBody>
      </p:sp>
      <p:sp>
        <p:nvSpPr>
          <p:cNvPr id="10" name="TextBox 9"/>
          <p:cNvSpPr txBox="1"/>
          <p:nvPr/>
        </p:nvSpPr>
        <p:spPr>
          <a:xfrm>
            <a:off x="320040" y="3721608"/>
            <a:ext cx="11548872" cy="320040"/>
          </a:xfrm>
          <a:prstGeom prst="rect">
            <a:avLst/>
          </a:prstGeom>
          <a:noFill/>
        </p:spPr>
        <p:txBody>
          <a:bodyPr wrap="square">
            <a:spAutoFit/>
          </a:bodyPr>
          <a:lstStyle/>
          <a:p>
            <a:pPr algn="l"/>
            <a:r>
              <a:rPr sz="1400" b="1">
                <a:solidFill>
                  <a:srgbClr val="003865"/>
                </a:solidFill>
                <a:latin typeface="Calibri"/>
              </a:rPr>
              <a:t>Future directions</a:t>
            </a:r>
          </a:p>
        </p:txBody>
      </p:sp>
      <p:sp>
        <p:nvSpPr>
          <p:cNvPr id="11" name="TextBox 10"/>
          <p:cNvSpPr txBox="1"/>
          <p:nvPr/>
        </p:nvSpPr>
        <p:spPr>
          <a:xfrm>
            <a:off x="320040" y="4059936"/>
            <a:ext cx="11548872" cy="2560320"/>
          </a:xfrm>
          <a:prstGeom prst="rect">
            <a:avLst/>
          </a:prstGeom>
          <a:noFill/>
        </p:spPr>
        <p:txBody>
          <a:bodyPr wrap="square">
            <a:spAutoFit/>
          </a:bodyPr>
          <a:lstStyle/>
          <a:p>
            <a:pPr algn="l">
              <a:lnSpc>
                <a:spcPct val="128000"/>
              </a:lnSpc>
              <a:spcBef>
                <a:spcPts val="80"/>
              </a:spcBef>
            </a:pPr>
            <a:r>
              <a:rPr sz="1500">
                <a:solidFill>
                  <a:srgbClr val="3F4444"/>
                </a:solidFill>
                <a:latin typeface="Calibri"/>
              </a:rPr>
              <a:t>▪ v4.4: sinusoidal positional channels + per-position segmentation head (TE boundary localisation)</a:t>
            </a:r>
          </a:p>
          <a:p>
            <a:pPr algn="l">
              <a:lnSpc>
                <a:spcPct val="128000"/>
              </a:lnSpc>
              <a:spcBef>
                <a:spcPts val="80"/>
              </a:spcBef>
            </a:pPr>
            <a:r>
              <a:rPr sz="1500">
                <a:solidFill>
                  <a:srgbClr val="3F4444"/>
                </a:solidFill>
                <a:latin typeface="Calibri"/>
              </a:rPr>
              <a:t>▪ Broader phylogenetic training coverage — prioritise avian and monotreme genomes</a:t>
            </a:r>
          </a:p>
          <a:p>
            <a:pPr algn="l">
              <a:lnSpc>
                <a:spcPct val="128000"/>
              </a:lnSpc>
              <a:spcBef>
                <a:spcPts val="80"/>
              </a:spcBef>
            </a:pPr>
            <a:r>
              <a:rPr sz="1500">
                <a:solidFill>
                  <a:srgbClr val="3F4444"/>
                </a:solidFill>
                <a:latin typeface="Calibri"/>
              </a:rPr>
              <a:t>▪ Domain-adversarial training (Ganin &amp; Lempitsky 2015) or MAML (Finn et al. 2017) for cross-species transfer</a:t>
            </a:r>
          </a:p>
          <a:p>
            <a:pPr algn="l">
              <a:lnSpc>
                <a:spcPct val="128000"/>
              </a:lnSpc>
              <a:spcBef>
                <a:spcPts val="80"/>
              </a:spcBef>
            </a:pPr>
            <a:r>
              <a:rPr sz="1500">
                <a:solidFill>
                  <a:srgbClr val="3F4444"/>
                </a:solidFill>
                <a:latin typeface="Calibri"/>
              </a:rPr>
              <a:t>▪ DNA foundation model pre-training (DNABERT / Nucleotide Transformer) → fine-tune on Pantera</a:t>
            </a:r>
          </a:p>
          <a:p>
            <a:pPr algn="l">
              <a:lnSpc>
                <a:spcPct val="128000"/>
              </a:lnSpc>
              <a:spcBef>
                <a:spcPts val="80"/>
              </a:spcBef>
            </a:pPr>
            <a:r>
              <a:rPr sz="1500">
                <a:solidFill>
                  <a:srgbClr val="3F4444"/>
                </a:solidFill>
                <a:latin typeface="Calibri"/>
              </a:rPr>
              <a:t>▪ Confident-learning relabelling of Stage-1 disagreements to tighten ground truth</a:t>
            </a:r>
          </a:p>
          <a:p>
            <a:pPr algn="l">
              <a:lnSpc>
                <a:spcPct val="128000"/>
              </a:lnSpc>
              <a:spcBef>
                <a:spcPts val="80"/>
              </a:spcBef>
            </a:pPr>
            <a:r>
              <a:rPr sz="1500">
                <a:solidFill>
                  <a:srgbClr val="3F4444"/>
                </a:solidFill>
                <a:latin typeface="Calibri"/>
              </a:rPr>
              <a:t>▪ Link non-autonomous elements to autonomous drivers — beyond alignment-based methods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17520"/>
            <a:ext cx="12188952" cy="91440"/>
          </a:xfrm>
          <a:prstGeom prst="rect">
            <a:avLst/>
          </a:prstGeom>
          <a:solidFill>
            <a:srgbClr val="68D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360152" cy="1737360"/>
          </a:xfrm>
          <a:prstGeom prst="rect">
            <a:avLst/>
          </a:prstGeom>
          <a:noFill/>
        </p:spPr>
        <p:txBody>
          <a:bodyPr wrap="square">
            <a:spAutoFit/>
          </a:bodyPr>
          <a:lstStyle/>
          <a:p>
            <a:pPr algn="ctr"/>
            <a:r>
              <a:rPr sz="5600" b="1">
                <a:solidFill>
                  <a:srgbClr val="FFFFFF"/>
                </a:solidFill>
                <a:latin typeface="Calibri"/>
              </a:rPr>
              <a:t>Thank You</a:t>
            </a:r>
          </a:p>
        </p:txBody>
      </p:sp>
      <p:sp>
        <p:nvSpPr>
          <p:cNvPr id="5" name="TextBox 4"/>
          <p:cNvSpPr txBox="1"/>
          <p:nvPr/>
        </p:nvSpPr>
        <p:spPr>
          <a:xfrm>
            <a:off x="914400" y="2697480"/>
            <a:ext cx="10360152" cy="457200"/>
          </a:xfrm>
          <a:prstGeom prst="rect">
            <a:avLst/>
          </a:prstGeom>
          <a:noFill/>
        </p:spPr>
        <p:txBody>
          <a:bodyPr wrap="square">
            <a:spAutoFit/>
          </a:bodyPr>
          <a:lstStyle/>
          <a:p>
            <a:pPr algn="ctr"/>
            <a:r>
              <a:rPr sz="1800" b="0">
                <a:solidFill>
                  <a:srgbClr val="68D2DF"/>
                </a:solidFill>
                <a:latin typeface="Calibri"/>
              </a:rPr>
              <a:t>Machine Learning a Transposable Element Classifier</a:t>
            </a:r>
          </a:p>
        </p:txBody>
      </p:sp>
      <p:sp>
        <p:nvSpPr>
          <p:cNvPr id="6" name="TextBox 5"/>
          <p:cNvSpPr txBox="1"/>
          <p:nvPr/>
        </p:nvSpPr>
        <p:spPr>
          <a:xfrm>
            <a:off x="1371600" y="3383280"/>
            <a:ext cx="9445752" cy="2011680"/>
          </a:xfrm>
          <a:prstGeom prst="rect">
            <a:avLst/>
          </a:prstGeom>
          <a:noFill/>
        </p:spPr>
        <p:txBody>
          <a:bodyPr wrap="square">
            <a:spAutoFit/>
          </a:bodyPr>
          <a:lstStyle/>
          <a:p>
            <a:pPr algn="ctr"/>
            <a:r>
              <a:rPr sz="1400" b="0">
                <a:solidFill>
                  <a:srgbClr val="FFFFFF"/>
                </a:solidFill>
                <a:latin typeface="Calibri"/>
              </a:rPr>
              <a:t>I thank Prof. Richard Durbin for supervision and critical feedback. I am grateful to Pio Sierra and Hadi Khan for daily guidance and access to the Pantera TE catalogue. Computational resources: CSD3 (Cambridge Service for Data Driven Discovery). Data: Vertebrate Genomes Project (VGP). All models implemented in PyTorch 2.0+.</a:t>
            </a:r>
          </a:p>
        </p:txBody>
      </p:sp>
      <p:sp>
        <p:nvSpPr>
          <p:cNvPr id="7" name="TextBox 6"/>
          <p:cNvSpPr txBox="1"/>
          <p:nvPr/>
        </p:nvSpPr>
        <p:spPr>
          <a:xfrm>
            <a:off x="914400" y="5577840"/>
            <a:ext cx="10360152" cy="457200"/>
          </a:xfrm>
          <a:prstGeom prst="rect">
            <a:avLst/>
          </a:prstGeom>
          <a:noFill/>
        </p:spPr>
        <p:txBody>
          <a:bodyPr wrap="square">
            <a:spAutoFit/>
          </a:bodyPr>
          <a:lstStyle/>
          <a:p>
            <a:pPr algn="ctr"/>
            <a:r>
              <a:rPr sz="2200" b="1">
                <a:solidFill>
                  <a:srgbClr val="F0AB00"/>
                </a:solidFill>
                <a:latin typeface="Calibri"/>
              </a:rPr>
              <a:t>Questions welcome</a:t>
            </a:r>
          </a:p>
        </p:txBody>
      </p:sp>
      <p:sp>
        <p:nvSpPr>
          <p:cNvPr id="8" name="Rectangle 7"/>
          <p:cNvSpPr/>
          <p:nvPr/>
        </p:nvSpPr>
        <p:spPr>
          <a:xfrm>
            <a:off x="0" y="6492240"/>
            <a:ext cx="12188952" cy="365760"/>
          </a:xfrm>
          <a:prstGeom prst="rect">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6510528"/>
            <a:ext cx="10515600" cy="310896"/>
          </a:xfrm>
          <a:prstGeom prst="rect">
            <a:avLst/>
          </a:prstGeom>
          <a:noFill/>
        </p:spPr>
        <p:txBody>
          <a:bodyPr wrap="square">
            <a:spAutoFit/>
          </a:bodyPr>
          <a:lstStyle/>
          <a:p>
            <a:pPr algn="l"/>
            <a:r>
              <a:rPr sz="900" b="0">
                <a:solidFill>
                  <a:srgbClr val="FFFFFF"/>
                </a:solidFill>
                <a:latin typeface="Calibri"/>
              </a:rPr>
              <a:t>Machine Learning a TE Classifier  |  Yingrui Yang  |  Cambridge Genetics 2025</a:t>
            </a:r>
          </a:p>
        </p:txBody>
      </p:sp>
      <p:sp>
        <p:nvSpPr>
          <p:cNvPr id="10" name="TextBox 9"/>
          <p:cNvSpPr txBox="1"/>
          <p:nvPr/>
        </p:nvSpPr>
        <p:spPr>
          <a:xfrm>
            <a:off x="11594592" y="6510528"/>
            <a:ext cx="502920" cy="310896"/>
          </a:xfrm>
          <a:prstGeom prst="rect">
            <a:avLst/>
          </a:prstGeom>
          <a:noFill/>
        </p:spPr>
        <p:txBody>
          <a:bodyPr wrap="square">
            <a:spAutoFit/>
          </a:bodyPr>
          <a:lstStyle/>
          <a:p>
            <a:pPr algn="r"/>
            <a:r>
              <a:rPr sz="1000" b="1">
                <a:solidFill>
                  <a:srgbClr val="FFFFFF"/>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